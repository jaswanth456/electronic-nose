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1"/>
  </p:handoutMasterIdLst>
  <p:sldIdLst>
    <p:sldId id="275" r:id="rId3"/>
    <p:sldId id="388" r:id="rId5"/>
    <p:sldId id="302" r:id="rId6"/>
    <p:sldId id="384" r:id="rId7"/>
    <p:sldId id="385" r:id="rId8"/>
    <p:sldId id="420" r:id="rId9"/>
    <p:sldId id="421" r:id="rId10"/>
    <p:sldId id="450" r:id="rId11"/>
    <p:sldId id="451" r:id="rId12"/>
    <p:sldId id="390" r:id="rId13"/>
    <p:sldId id="279" r:id="rId14"/>
    <p:sldId id="486" r:id="rId15"/>
    <p:sldId id="487" r:id="rId16"/>
    <p:sldId id="482" r:id="rId17"/>
    <p:sldId id="485" r:id="rId18"/>
    <p:sldId id="479" r:id="rId19"/>
    <p:sldId id="478" r:id="rId20"/>
    <p:sldId id="481" r:id="rId21"/>
    <p:sldId id="394" r:id="rId22"/>
    <p:sldId id="436" r:id="rId23"/>
    <p:sldId id="443" r:id="rId24"/>
    <p:sldId id="438" r:id="rId25"/>
    <p:sldId id="437" r:id="rId26"/>
    <p:sldId id="444" r:id="rId27"/>
    <p:sldId id="387" r:id="rId28"/>
    <p:sldId id="433" r:id="rId29"/>
    <p:sldId id="301"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30" autoAdjust="0"/>
    <p:restoredTop sz="94590" autoAdjust="0"/>
  </p:normalViewPr>
  <p:slideViewPr>
    <p:cSldViewPr showGuides="1">
      <p:cViewPr>
        <p:scale>
          <a:sx n="100" d="100"/>
          <a:sy n="100" d="100"/>
        </p:scale>
        <p:origin x="960" y="-36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290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handoutMaster" Target="handoutMasters/handoutMaster1.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3472FC0-3A6E-4FDF-98C7-05D53ADA3185}" type="datetimeFigureOut">
              <a:rPr lang="en-US" smtClean="0"/>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7E15A7B-879F-45B5-9291-0F55AE53DB35}"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F44B48-72A2-4A15-9A9B-0DA2BF7C6B02}"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238FA3-189B-4AA8-9E46-1FED810FB611}"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A0DDB357-1664-46A3-92AC-246D5C27803A}" type="datetime3">
              <a:rPr lang="en-US" smtClean="0"/>
            </a:fld>
            <a:endParaRPr lang="en-US"/>
          </a:p>
        </p:txBody>
      </p:sp>
      <p:sp>
        <p:nvSpPr>
          <p:cNvPr id="5" name="Footer Placeholder 4"/>
          <p:cNvSpPr>
            <a:spLocks noGrp="1"/>
          </p:cNvSpPr>
          <p:nvPr>
            <p:ph type="ftr" sz="quarter" idx="11"/>
          </p:nvPr>
        </p:nvSpPr>
        <p:spPr/>
        <p:txBody>
          <a:bodyPr/>
          <a:lstStyle/>
          <a:p>
            <a:r>
              <a:rPr lang="en-US" dirty="0"/>
              <a:t>School of Computing - CSE with IoT</a:t>
            </a:r>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6548BF1-274A-4D06-90A0-3F64D4315D8B}" type="datetime3">
              <a:rPr lang="en-US" smtClean="0"/>
            </a:fld>
            <a:endParaRPr lang="en-US"/>
          </a:p>
        </p:txBody>
      </p:sp>
      <p:sp>
        <p:nvSpPr>
          <p:cNvPr id="5" name="Footer Placeholder 4"/>
          <p:cNvSpPr>
            <a:spLocks noGrp="1"/>
          </p:cNvSpPr>
          <p:nvPr>
            <p:ph type="ftr" sz="quarter" idx="11"/>
          </p:nvPr>
        </p:nvSpPr>
        <p:spPr/>
        <p:txBody>
          <a:bodyPr/>
          <a:lstStyle/>
          <a:p>
            <a:r>
              <a:rPr lang="en-US" dirty="0"/>
              <a:t>School of Computing - CSE with IoT</a:t>
            </a:r>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05FF7648-E3AC-4441-ADBB-1E0159079E09}" type="datetime3">
              <a:rPr lang="en-US" smtClean="0"/>
            </a:fld>
            <a:endParaRPr lang="en-US"/>
          </a:p>
        </p:txBody>
      </p:sp>
      <p:sp>
        <p:nvSpPr>
          <p:cNvPr id="5" name="Footer Placeholder 4"/>
          <p:cNvSpPr>
            <a:spLocks noGrp="1"/>
          </p:cNvSpPr>
          <p:nvPr>
            <p:ph type="ftr" sz="quarter" idx="11"/>
          </p:nvPr>
        </p:nvSpPr>
        <p:spPr/>
        <p:txBody>
          <a:bodyPr/>
          <a:lstStyle/>
          <a:p>
            <a:r>
              <a:rPr lang="en-US" dirty="0"/>
              <a:t>School of Computing - CSE with IoT</a:t>
            </a:r>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7948F42B-DB50-4B21-8D51-5BF2A99BEE06}" type="datetime3">
              <a:rPr lang="en-US" smtClean="0"/>
            </a:fld>
            <a:endParaRPr lang="en-US"/>
          </a:p>
        </p:txBody>
      </p:sp>
      <p:sp>
        <p:nvSpPr>
          <p:cNvPr id="6" name="Footer Placeholder 5"/>
          <p:cNvSpPr>
            <a:spLocks noGrp="1"/>
          </p:cNvSpPr>
          <p:nvPr>
            <p:ph type="ftr" sz="quarter" idx="11"/>
          </p:nvPr>
        </p:nvSpPr>
        <p:spPr/>
        <p:txBody>
          <a:bodyPr/>
          <a:lstStyle/>
          <a:p>
            <a:r>
              <a:rPr lang="en-US" dirty="0"/>
              <a:t>School of Computing - CSE with IoT</a:t>
            </a:r>
            <a:endParaRPr lang="en-US" dirty="0"/>
          </a:p>
        </p:txBody>
      </p:sp>
      <p:sp>
        <p:nvSpPr>
          <p:cNvPr id="7" name="Slide Number Placeholder 6"/>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0D68124-062E-408A-AF3D-FB0910E824F2}" type="datetime3">
              <a:rPr lang="en-US" smtClean="0"/>
            </a:fld>
            <a:endParaRPr lang="en-US"/>
          </a:p>
        </p:txBody>
      </p:sp>
      <p:sp>
        <p:nvSpPr>
          <p:cNvPr id="8" name="Footer Placeholder 7"/>
          <p:cNvSpPr>
            <a:spLocks noGrp="1"/>
          </p:cNvSpPr>
          <p:nvPr>
            <p:ph type="ftr" sz="quarter" idx="11"/>
          </p:nvPr>
        </p:nvSpPr>
        <p:spPr/>
        <p:txBody>
          <a:bodyPr/>
          <a:lstStyle/>
          <a:p>
            <a:r>
              <a:rPr lang="en-US" dirty="0"/>
              <a:t>School of Computing - CSE with IoT</a:t>
            </a:r>
            <a:endParaRPr lang="en-US" dirty="0"/>
          </a:p>
        </p:txBody>
      </p:sp>
      <p:sp>
        <p:nvSpPr>
          <p:cNvPr id="9" name="Slide Number Placeholder 8"/>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905F6DFB-5EFD-4DD1-9BCF-CE4BD9A330F1}" type="datetime3">
              <a:rPr lang="en-US" smtClean="0"/>
            </a:fld>
            <a:endParaRPr lang="en-US"/>
          </a:p>
        </p:txBody>
      </p:sp>
      <p:sp>
        <p:nvSpPr>
          <p:cNvPr id="4" name="Footer Placeholder 3"/>
          <p:cNvSpPr>
            <a:spLocks noGrp="1"/>
          </p:cNvSpPr>
          <p:nvPr>
            <p:ph type="ftr" sz="quarter" idx="11"/>
          </p:nvPr>
        </p:nvSpPr>
        <p:spPr/>
        <p:txBody>
          <a:bodyPr/>
          <a:lstStyle/>
          <a:p>
            <a:r>
              <a:rPr lang="en-US" dirty="0"/>
              <a:t>School of Computing - CSE with IoT</a:t>
            </a:r>
            <a:endParaRPr lang="en-US" dirty="0"/>
          </a:p>
        </p:txBody>
      </p:sp>
      <p:sp>
        <p:nvSpPr>
          <p:cNvPr id="5" name="Slide Number Placeholder 4"/>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9E9F56-F3A9-4A4C-8225-B7A915DBCC12}" type="datetime3">
              <a:rPr lang="en-US" smtClean="0"/>
            </a:fld>
            <a:endParaRPr lang="en-US"/>
          </a:p>
        </p:txBody>
      </p:sp>
      <p:sp>
        <p:nvSpPr>
          <p:cNvPr id="3" name="Footer Placeholder 2"/>
          <p:cNvSpPr>
            <a:spLocks noGrp="1"/>
          </p:cNvSpPr>
          <p:nvPr>
            <p:ph type="ftr" sz="quarter" idx="11"/>
          </p:nvPr>
        </p:nvSpPr>
        <p:spPr/>
        <p:txBody>
          <a:bodyPr/>
          <a:lstStyle/>
          <a:p>
            <a:r>
              <a:rPr lang="en-US" dirty="0"/>
              <a:t>School of Computing - CSE with IoT</a:t>
            </a:r>
            <a:endParaRPr lang="en-US" dirty="0"/>
          </a:p>
        </p:txBody>
      </p:sp>
      <p:sp>
        <p:nvSpPr>
          <p:cNvPr id="4" name="Slide Number Placeholder 3"/>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D923EB4E-C75D-4A49-85CE-C2F73E206940}" type="datetime3">
              <a:rPr lang="en-US" smtClean="0"/>
            </a:fld>
            <a:endParaRPr lang="en-US"/>
          </a:p>
        </p:txBody>
      </p:sp>
      <p:sp>
        <p:nvSpPr>
          <p:cNvPr id="6" name="Footer Placeholder 5"/>
          <p:cNvSpPr>
            <a:spLocks noGrp="1"/>
          </p:cNvSpPr>
          <p:nvPr>
            <p:ph type="ftr" sz="quarter" idx="11"/>
          </p:nvPr>
        </p:nvSpPr>
        <p:spPr/>
        <p:txBody>
          <a:bodyPr/>
          <a:lstStyle/>
          <a:p>
            <a:r>
              <a:rPr lang="en-US" dirty="0"/>
              <a:t>School of Computing - CSE with IoT</a:t>
            </a:r>
            <a:endParaRPr lang="en-US" dirty="0"/>
          </a:p>
        </p:txBody>
      </p:sp>
      <p:sp>
        <p:nvSpPr>
          <p:cNvPr id="7" name="Slide Number Placeholder 6"/>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C257854-DF70-4283-A1AD-545130A32644}" type="datetime3">
              <a:rPr lang="en-US" smtClean="0"/>
            </a:fld>
            <a:endParaRPr lang="en-US"/>
          </a:p>
        </p:txBody>
      </p:sp>
      <p:sp>
        <p:nvSpPr>
          <p:cNvPr id="6" name="Footer Placeholder 5"/>
          <p:cNvSpPr>
            <a:spLocks noGrp="1"/>
          </p:cNvSpPr>
          <p:nvPr>
            <p:ph type="ftr" sz="quarter" idx="11"/>
          </p:nvPr>
        </p:nvSpPr>
        <p:spPr/>
        <p:txBody>
          <a:bodyPr/>
          <a:lstStyle/>
          <a:p>
            <a:r>
              <a:rPr lang="en-US" dirty="0"/>
              <a:t>School of Computing - CSE with IoT</a:t>
            </a:r>
            <a:endParaRPr lang="en-US" dirty="0"/>
          </a:p>
        </p:txBody>
      </p:sp>
      <p:sp>
        <p:nvSpPr>
          <p:cNvPr id="7" name="Slide Number Placeholder 6"/>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9F2222A-345B-4958-A547-928C80D93884}" type="datetime3">
              <a:rPr lang="en-US" smtClean="0"/>
            </a:fld>
            <a:endParaRPr lang="en-US"/>
          </a:p>
        </p:txBody>
      </p:sp>
      <p:sp>
        <p:nvSpPr>
          <p:cNvPr id="5" name="Footer Placeholder 4"/>
          <p:cNvSpPr>
            <a:spLocks noGrp="1"/>
          </p:cNvSpPr>
          <p:nvPr>
            <p:ph type="ftr" sz="quarter" idx="11"/>
          </p:nvPr>
        </p:nvSpPr>
        <p:spPr/>
        <p:txBody>
          <a:bodyPr/>
          <a:lstStyle/>
          <a:p>
            <a:r>
              <a:rPr lang="en-US" dirty="0"/>
              <a:t>School of Computing - CSE with IoT</a:t>
            </a:r>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043A592A-A161-4A10-AAA8-C68F642DC49E}" type="datetime3">
              <a:rPr lang="en-US" smtClean="0"/>
            </a:fld>
            <a:endParaRPr lang="en-US"/>
          </a:p>
        </p:txBody>
      </p:sp>
      <p:sp>
        <p:nvSpPr>
          <p:cNvPr id="5" name="Footer Placeholder 4"/>
          <p:cNvSpPr>
            <a:spLocks noGrp="1"/>
          </p:cNvSpPr>
          <p:nvPr>
            <p:ph type="ftr" sz="quarter" idx="11"/>
          </p:nvPr>
        </p:nvSpPr>
        <p:spPr/>
        <p:txBody>
          <a:bodyPr/>
          <a:lstStyle/>
          <a:p>
            <a:r>
              <a:rPr lang="en-US" dirty="0"/>
              <a:t>School of Computing - CSE with IoT</a:t>
            </a:r>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a:noFill/>
          <a:ln>
            <a:noFill/>
          </a:ln>
          <a:effectLst>
            <a:outerShdw blurRad="50800" dist="50800" dir="5400000" algn="ctr" rotWithShape="0">
              <a:schemeClr val="bg1"/>
            </a:outerShdw>
          </a:effectLst>
        </p:spPr>
        <p:txBody>
          <a:bodyPr/>
          <a:lstStyle>
            <a:lvl1pPr>
              <a:defRPr>
                <a:solidFill>
                  <a:schemeClr val="accent6">
                    <a:lumMod val="50000"/>
                  </a:schemeClr>
                </a:solidFill>
              </a:defRPr>
            </a:lvl1pPr>
          </a:lstStyle>
          <a:p>
            <a:fld id="{5D39E38A-98AE-41F3-96DA-D70922D642FA}" type="datetime3">
              <a:rPr lang="en-US" smtClean="0"/>
            </a:fld>
            <a:endParaRPr lang="en-US" dirty="0"/>
          </a:p>
        </p:txBody>
      </p:sp>
      <p:sp>
        <p:nvSpPr>
          <p:cNvPr id="5" name="Footer Placeholder 4"/>
          <p:cNvSpPr>
            <a:spLocks noGrp="1"/>
          </p:cNvSpPr>
          <p:nvPr>
            <p:ph type="ftr" sz="quarter" idx="11"/>
          </p:nvPr>
        </p:nvSpPr>
        <p:spPr/>
        <p:txBody>
          <a:bodyPr/>
          <a:lstStyle>
            <a:lvl1pPr>
              <a:defRPr>
                <a:solidFill>
                  <a:schemeClr val="accent6">
                    <a:lumMod val="50000"/>
                  </a:schemeClr>
                </a:solidFill>
              </a:defRPr>
            </a:lvl1pPr>
          </a:lstStyle>
          <a:p>
            <a:r>
              <a:rPr lang="en-US" dirty="0"/>
              <a:t>School of Computing - CSE with IoT</a:t>
            </a:r>
            <a:endParaRPr lang="en-US" dirty="0"/>
          </a:p>
        </p:txBody>
      </p:sp>
      <p:sp>
        <p:nvSpPr>
          <p:cNvPr id="6" name="Slide Number Placeholder 5"/>
          <p:cNvSpPr>
            <a:spLocks noGrp="1"/>
          </p:cNvSpPr>
          <p:nvPr>
            <p:ph type="sldNum" sz="quarter" idx="12"/>
          </p:nvPr>
        </p:nvSpPr>
        <p:spPr/>
        <p:txBody>
          <a:bodyPr/>
          <a:lstStyle>
            <a:lvl1pPr>
              <a:defRPr>
                <a:solidFill>
                  <a:schemeClr val="accent6">
                    <a:lumMod val="50000"/>
                  </a:schemeClr>
                </a:solidFill>
              </a:defRPr>
            </a:lvl1pPr>
          </a:lstStyle>
          <a:p>
            <a:fld id="{C0EC1BDC-9B67-430D-970A-E36C75175141}"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940" y="228600"/>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C2CB8A-8DE1-4D83-A615-DF1E42F98E78}" type="datetime3">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School of Computing - CSE with IoT</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28076C-CE04-4A00-BFAA-A90EA8355859}" type="slidenum">
              <a:rPr lang="en-US" smtClean="0"/>
            </a:fld>
            <a:endParaRPr lang="en-US"/>
          </a:p>
        </p:txBody>
      </p:sp>
      <p:sp>
        <p:nvSpPr>
          <p:cNvPr id="8" name="Rectangle 7"/>
          <p:cNvSpPr/>
          <p:nvPr userDrawn="1"/>
        </p:nvSpPr>
        <p:spPr>
          <a:xfrm>
            <a:off x="298940" y="177143"/>
            <a:ext cx="8610600" cy="6553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p:cNvCxnSpPr/>
          <p:nvPr userDrawn="1"/>
        </p:nvCxnSpPr>
        <p:spPr>
          <a:xfrm>
            <a:off x="298940" y="1219200"/>
            <a:ext cx="8610600" cy="1588"/>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2.xml"/><Relationship Id="rId4" Type="http://schemas.openxmlformats.org/officeDocument/2006/relationships/hyperlink" Target="https://www.cabidigitallibrary.org/doi/pdf/10.5555/20113312946" TargetMode="External"/><Relationship Id="rId3" Type="http://schemas.openxmlformats.org/officeDocument/2006/relationships/hyperlink" Target="https://doi.org/10.1016/B978-0-323-91157-3.00015-5" TargetMode="External"/><Relationship Id="rId2" Type="http://schemas.openxmlformats.org/officeDocument/2006/relationships/hyperlink" Target="https://doi.org/10.1109/JSEN.2004.837495" TargetMode="External"/><Relationship Id="rId1" Type="http://schemas.openxmlformats.org/officeDocument/2006/relationships/hyperlink" Target="https://doi.org/10.3390/s150100899" TargetMode="Externa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hyperlink" Target="https://doi.org/10.1016/j.compag.2014.07.002" TargetMode="External"/><Relationship Id="rId2" Type="http://schemas.openxmlformats.org/officeDocument/2006/relationships/hyperlink" Target="https://doi.org/10.3390/s17112596" TargetMode="External"/><Relationship Id="rId1" Type="http://schemas.openxmlformats.org/officeDocument/2006/relationships/hyperlink" Target="https://doi.org/10.3390/s6111428" TargetMode="Externa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https://doi.org/10.1016/j.compag.2009.01.006" TargetMode="External"/><Relationship Id="rId2" Type="http://schemas.openxmlformats.org/officeDocument/2006/relationships/hyperlink" Target="https://doi.org/10.1002/adfm.202106475" TargetMode="External"/><Relationship Id="rId1" Type="http://schemas.openxmlformats.org/officeDocument/2006/relationships/hyperlink" Target="https://doi.org/10.1109/PCTHEALTH.2009.5291419" TargetMode="External"/></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hyperlink" Target="http://dx.doi.org/10.14419/ijet.v7i3.28.20964" TargetMode="External"/><Relationship Id="rId3" Type="http://schemas.openxmlformats.org/officeDocument/2006/relationships/hyperlink" Target="https://doi.org/10.3390/s141119979" TargetMode="External"/><Relationship Id="rId2" Type="http://schemas.openxmlformats.org/officeDocument/2006/relationships/hyperlink" Target="http://dx.doi.org/10.1021/es801738s" TargetMode="External"/><Relationship Id="rId1" Type="http://schemas.openxmlformats.org/officeDocument/2006/relationships/hyperlink" Target="https://doi.org/10.3390/s17112596" TargetMode="Externa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http://dx.doi.org/10.1016/j.compag.2022.106988" TargetMode="External"/><Relationship Id="rId2" Type="http://schemas.openxmlformats.org/officeDocument/2006/relationships/hyperlink" Target="https://doi.org/10.1016/j.compag.2021.106673" TargetMode="External"/><Relationship Id="rId1" Type="http://schemas.openxmlformats.org/officeDocument/2006/relationships/hyperlink" Target="https://doi.org/10.1016/j.envexpbot.2022.104912"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ctrTitle"/>
          </p:nvPr>
        </p:nvSpPr>
        <p:spPr>
          <a:xfrm>
            <a:off x="457200" y="1952973"/>
            <a:ext cx="7772400" cy="1767538"/>
          </a:xfrm>
        </p:spPr>
        <p:txBody>
          <a:bodyPr>
            <a:normAutofit/>
          </a:bodyPr>
          <a:lstStyle/>
          <a:p>
            <a:br>
              <a:rPr lang="en-IN" sz="2000" dirty="0">
                <a:solidFill>
                  <a:schemeClr val="accent1">
                    <a:lumMod val="50000"/>
                  </a:schemeClr>
                </a:solidFill>
                <a:latin typeface="Arial" panose="020B0604020202020204" pitchFamily="34" charset="0"/>
                <a:cs typeface="Arial" panose="020B0604020202020204" pitchFamily="34" charset="0"/>
              </a:rPr>
            </a:br>
            <a:br>
              <a:rPr lang="en-IN" sz="2400" dirty="0">
                <a:solidFill>
                  <a:schemeClr val="accent1">
                    <a:lumMod val="50000"/>
                  </a:schemeClr>
                </a:solidFill>
                <a:latin typeface="Arial" panose="020B0604020202020204" pitchFamily="34" charset="0"/>
                <a:cs typeface="Arial" panose="020B0604020202020204" pitchFamily="34" charset="0"/>
              </a:rPr>
            </a:br>
            <a:endParaRPr lang="en-US" sz="2400" dirty="0">
              <a:solidFill>
                <a:schemeClr val="accent1">
                  <a:lumMod val="50000"/>
                </a:schemeClr>
              </a:solidFill>
              <a:latin typeface="Arial" panose="020B0604020202020204" pitchFamily="34" charset="0"/>
              <a:cs typeface="Arial" panose="020B0604020202020204" pitchFamily="34" charset="0"/>
            </a:endParaRPr>
          </a:p>
        </p:txBody>
      </p:sp>
      <p:sp>
        <p:nvSpPr>
          <p:cNvPr id="17" name="Subtitle 2"/>
          <p:cNvSpPr>
            <a:spLocks noGrp="1"/>
          </p:cNvSpPr>
          <p:nvPr>
            <p:ph type="subTitle" idx="1"/>
          </p:nvPr>
        </p:nvSpPr>
        <p:spPr>
          <a:xfrm>
            <a:off x="609599" y="3071141"/>
            <a:ext cx="8000999" cy="885409"/>
          </a:xfrm>
        </p:spPr>
        <p:txBody>
          <a:bodyPr>
            <a:noAutofit/>
          </a:bodyPr>
          <a:lstStyle/>
          <a:p>
            <a:r>
              <a:rPr lang="en-US" sz="2500" b="1" dirty="0">
                <a:solidFill>
                  <a:srgbClr val="0070C0"/>
                </a:solidFill>
                <a:latin typeface="Times New Roman" panose="02020603050405020304" pitchFamily="18" charset="0"/>
                <a:cs typeface="Times New Roman" panose="02020603050405020304" pitchFamily="18" charset="0"/>
              </a:rPr>
              <a:t>UNLEASHING THE POTENTIAL OF E-NOSE TECHNOLOGY FOR THE FUTURE OF AGRICULTURE</a:t>
            </a:r>
            <a:endParaRPr lang="en-US" sz="2500" b="1" dirty="0">
              <a:solidFill>
                <a:srgbClr val="0070C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a:effectLst>
            <a:outerShdw blurRad="50800" dist="50800" dir="5400000" algn="ctr" rotWithShape="0">
              <a:schemeClr val="bg1"/>
            </a:outerShdw>
          </a:effectLst>
        </p:spPr>
        <p:txBody>
          <a:bodyPr/>
          <a:lstStyle/>
          <a:p>
            <a:fld id="{B5FCD74B-0C17-49A3-A089-0BF45C539E36}" type="datetime3">
              <a:rPr lang="en-US" smtClean="0"/>
            </a:fld>
            <a:endParaRPr lang="en-US" dirty="0"/>
          </a:p>
        </p:txBody>
      </p:sp>
      <p:sp>
        <p:nvSpPr>
          <p:cNvPr id="6" name="Footer Placeholder 5"/>
          <p:cNvSpPr>
            <a:spLocks noGrp="1"/>
          </p:cNvSpPr>
          <p:nvPr>
            <p:ph type="ftr" sz="quarter" idx="11"/>
          </p:nvPr>
        </p:nvSpPr>
        <p:spPr/>
        <p:txBody>
          <a:bodyPr/>
          <a:lstStyle/>
          <a:p>
            <a:r>
              <a:rPr lang="en-US" dirty="0"/>
              <a:t>School of Computing - CSE with IoT</a:t>
            </a:r>
            <a:endParaRPr lang="en-US" dirty="0"/>
          </a:p>
        </p:txBody>
      </p:sp>
      <p:sp>
        <p:nvSpPr>
          <p:cNvPr id="5" name="Slide Number Placeholder 4"/>
          <p:cNvSpPr>
            <a:spLocks noGrp="1"/>
          </p:cNvSpPr>
          <p:nvPr>
            <p:ph type="sldNum" sz="quarter" idx="12"/>
          </p:nvPr>
        </p:nvSpPr>
        <p:spPr/>
        <p:txBody>
          <a:bodyPr/>
          <a:lstStyle/>
          <a:p>
            <a:fld id="{C0EC1BDC-9B67-430D-970A-E36C75175141}" type="slidenum">
              <a:rPr lang="en-US" smtClean="0"/>
            </a:fld>
            <a:endParaRPr lang="en-US"/>
          </a:p>
        </p:txBody>
      </p:sp>
      <p:pic>
        <p:nvPicPr>
          <p:cNvPr id="3" name="image2.jpeg"/>
          <p:cNvPicPr/>
          <p:nvPr/>
        </p:nvPicPr>
        <p:blipFill>
          <a:blip r:embed="rId1" cstate="print"/>
          <a:stretch>
            <a:fillRect/>
          </a:stretch>
        </p:blipFill>
        <p:spPr>
          <a:xfrm>
            <a:off x="304799" y="206373"/>
            <a:ext cx="8610601" cy="1620212"/>
          </a:xfrm>
          <a:prstGeom prst="rect">
            <a:avLst/>
          </a:prstGeom>
          <a:ln>
            <a:solidFill>
              <a:srgbClr val="002060"/>
            </a:solidFill>
          </a:ln>
        </p:spPr>
      </p:pic>
      <p:sp>
        <p:nvSpPr>
          <p:cNvPr id="14" name="TextBox 13"/>
          <p:cNvSpPr txBox="1"/>
          <p:nvPr/>
        </p:nvSpPr>
        <p:spPr>
          <a:xfrm>
            <a:off x="1066800" y="1833211"/>
            <a:ext cx="6553200" cy="369332"/>
          </a:xfrm>
          <a:prstGeom prst="rect">
            <a:avLst/>
          </a:prstGeom>
          <a:noFill/>
        </p:spPr>
        <p:txBody>
          <a:bodyPr wrap="square">
            <a:spAutoFit/>
          </a:bodyPr>
          <a:lstStyle/>
          <a:p>
            <a:endParaRPr lang="en-IN" dirty="0"/>
          </a:p>
        </p:txBody>
      </p:sp>
      <p:sp>
        <p:nvSpPr>
          <p:cNvPr id="29" name="Subtitle 2"/>
          <p:cNvSpPr txBox="1"/>
          <p:nvPr/>
        </p:nvSpPr>
        <p:spPr>
          <a:xfrm>
            <a:off x="457200" y="4737409"/>
            <a:ext cx="8381999" cy="1487883"/>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r>
              <a:rPr lang="en-IN" altLang="en-US" sz="2400" b="1" dirty="0">
                <a:solidFill>
                  <a:schemeClr val="tx1"/>
                </a:solidFill>
              </a:rPr>
              <a:t>TEAM MEMBERS</a:t>
            </a:r>
            <a:r>
              <a:rPr lang="en-US" sz="2400" b="1" dirty="0">
                <a:solidFill>
                  <a:schemeClr val="tx1"/>
                </a:solidFill>
              </a:rPr>
              <a:t>                                                         </a:t>
            </a:r>
            <a:r>
              <a:rPr lang="en-IN" altLang="en-US" sz="2400" b="1" dirty="0">
                <a:solidFill>
                  <a:schemeClr val="tx1"/>
                </a:solidFill>
              </a:rPr>
              <a:t>SUPERVISOR</a:t>
            </a:r>
            <a:endParaRPr lang="en-US" sz="2400" b="1" dirty="0">
              <a:solidFill>
                <a:schemeClr val="tx1"/>
              </a:solidFill>
            </a:endParaRPr>
          </a:p>
          <a:p>
            <a:pPr algn="l"/>
            <a:r>
              <a:rPr lang="en-IN" altLang="en-US" sz="2000" b="1" dirty="0">
                <a:solidFill>
                  <a:schemeClr val="tx1"/>
                </a:solidFill>
              </a:rPr>
              <a:t>Mr. </a:t>
            </a:r>
            <a:r>
              <a:rPr lang="en-US" sz="2000" b="1" dirty="0">
                <a:solidFill>
                  <a:schemeClr val="tx1"/>
                </a:solidFill>
              </a:rPr>
              <a:t>Manyam. Jaswanth, </a:t>
            </a:r>
            <a:r>
              <a:rPr lang="en-US" sz="2000" b="1">
                <a:solidFill>
                  <a:schemeClr val="tx1"/>
                </a:solidFill>
              </a:rPr>
              <a:t>41732008                       Dr</a:t>
            </a:r>
            <a:r>
              <a:rPr lang="en-US" sz="2000" b="1" dirty="0">
                <a:solidFill>
                  <a:schemeClr val="tx1"/>
                </a:solidFill>
              </a:rPr>
              <a:t>. S. </a:t>
            </a:r>
            <a:r>
              <a:rPr lang="en-US" sz="2000" b="1" dirty="0" err="1">
                <a:solidFill>
                  <a:schemeClr val="tx1"/>
                </a:solidFill>
              </a:rPr>
              <a:t>Vigneshwari</a:t>
            </a:r>
            <a:r>
              <a:rPr lang="en-US" sz="2000" b="1" dirty="0">
                <a:solidFill>
                  <a:schemeClr val="tx1"/>
                </a:solidFill>
              </a:rPr>
              <a:t>, M.E., Ph.D., Ms.</a:t>
            </a:r>
            <a:r>
              <a:rPr lang="en-IN" altLang="en-US" sz="2000" b="1" dirty="0">
                <a:solidFill>
                  <a:schemeClr val="tx1"/>
                </a:solidFill>
              </a:rPr>
              <a:t> </a:t>
            </a:r>
            <a:r>
              <a:rPr lang="en-US" sz="2000" b="1" dirty="0">
                <a:solidFill>
                  <a:schemeClr val="tx1"/>
                </a:solidFill>
              </a:rPr>
              <a:t>Matcha. </a:t>
            </a:r>
            <a:r>
              <a:rPr lang="en-US" sz="2000" b="1" dirty="0" err="1">
                <a:solidFill>
                  <a:schemeClr val="tx1"/>
                </a:solidFill>
              </a:rPr>
              <a:t>Bhavana</a:t>
            </a:r>
            <a:r>
              <a:rPr lang="en-US" sz="2000" b="1" dirty="0">
                <a:solidFill>
                  <a:schemeClr val="tx1"/>
                </a:solidFill>
              </a:rPr>
              <a:t>, 41732009		       Head of the Department, CSE</a:t>
            </a:r>
            <a:endParaRPr lang="en-GB" sz="2000" dirty="0">
              <a:solidFill>
                <a:schemeClr val="tx1"/>
              </a:solidFill>
            </a:endParaRPr>
          </a:p>
        </p:txBody>
      </p:sp>
      <p:sp>
        <p:nvSpPr>
          <p:cNvPr id="8" name="TextBox 7"/>
          <p:cNvSpPr txBox="1"/>
          <p:nvPr/>
        </p:nvSpPr>
        <p:spPr>
          <a:xfrm>
            <a:off x="390526" y="1801671"/>
            <a:ext cx="8410574" cy="1107996"/>
          </a:xfrm>
          <a:prstGeom prst="rect">
            <a:avLst/>
          </a:prstGeom>
          <a:noFill/>
        </p:spPr>
        <p:txBody>
          <a:bodyPr wrap="square">
            <a:spAutoFit/>
          </a:bodyPr>
          <a:lstStyle/>
          <a:p>
            <a:pPr algn="ctr"/>
            <a:r>
              <a:rPr lang="en-IN" sz="2200" b="1" dirty="0">
                <a:latin typeface="Times New Roman" panose="02020603050405020304" pitchFamily="18" charset="0"/>
                <a:cs typeface="Times New Roman" panose="02020603050405020304" pitchFamily="18" charset="0"/>
              </a:rPr>
              <a:t>DEPARTMENT OF COMPUTER SCIENCE AND ENGINEERING</a:t>
            </a:r>
            <a:endParaRPr lang="en-IN" sz="2200" b="1" dirty="0">
              <a:latin typeface="Times New Roman" panose="02020603050405020304" pitchFamily="18" charset="0"/>
              <a:cs typeface="Times New Roman" panose="02020603050405020304" pitchFamily="18" charset="0"/>
            </a:endParaRPr>
          </a:p>
          <a:p>
            <a:pPr algn="ctr"/>
            <a:endParaRPr lang="en-IN" sz="2200" b="1" dirty="0">
              <a:latin typeface="Times New Roman" panose="02020603050405020304" pitchFamily="18" charset="0"/>
              <a:cs typeface="Times New Roman" panose="02020603050405020304" pitchFamily="18" charset="0"/>
            </a:endParaRPr>
          </a:p>
          <a:p>
            <a:pPr algn="ctr"/>
            <a:r>
              <a:rPr lang="en-IN" sz="2200" b="1" dirty="0">
                <a:latin typeface="Times New Roman" panose="02020603050405020304" pitchFamily="18" charset="0"/>
                <a:cs typeface="Times New Roman" panose="02020603050405020304" pitchFamily="18" charset="0"/>
              </a:rPr>
              <a:t>PROJECT PHASE I – MODEL REVIEW</a:t>
            </a:r>
            <a:endParaRPr lang="en-IN" sz="2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000" b="1" dirty="0">
                <a:latin typeface="Times New Roman" panose="02020603050405020304" pitchFamily="18" charset="0"/>
                <a:cs typeface="Times New Roman" panose="02020603050405020304" pitchFamily="18" charset="0"/>
              </a:rPr>
              <a:t>AGENDA</a:t>
            </a:r>
            <a:endParaRPr lang="en-US" sz="3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81000" y="1219200"/>
            <a:ext cx="8229600" cy="5205730"/>
          </a:xfrm>
        </p:spPr>
        <p:txBody>
          <a:bodyPr>
            <a:noAutofit/>
          </a:bodyPr>
          <a:lstStyle/>
          <a:p>
            <a:r>
              <a:rPr lang="en-US" sz="2400" dirty="0">
                <a:latin typeface="Times New Roman" panose="02020603050405020304" pitchFamily="18" charset="0"/>
                <a:cs typeface="Times New Roman" panose="02020603050405020304" pitchFamily="18" charset="0"/>
              </a:rPr>
              <a:t>Overview</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Objective</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Inferences from Literature Survey</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Problem Description</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Proposed System</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Architecture</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Work Flow</a:t>
            </a:r>
            <a:endParaRPr lang="en-US" sz="2400" dirty="0">
              <a:latin typeface="Times New Roman" panose="02020603050405020304" pitchFamily="18" charset="0"/>
              <a:cs typeface="Times New Roman" panose="02020603050405020304" pitchFamily="18" charset="0"/>
            </a:endParaRPr>
          </a:p>
          <a:p>
            <a:pPr lvl="1"/>
            <a:r>
              <a:rPr lang="en-IN" altLang="en-US" sz="2400" dirty="0">
                <a:latin typeface="Times New Roman" panose="02020603050405020304" pitchFamily="18" charset="0"/>
                <a:cs typeface="Times New Roman" panose="02020603050405020304" pitchFamily="18" charset="0"/>
              </a:rPr>
              <a:t>Tools and Technologies</a:t>
            </a:r>
            <a:endParaRPr lang="en-US" sz="2400" dirty="0">
              <a:latin typeface="Times New Roman" panose="02020603050405020304" pitchFamily="18" charset="0"/>
              <a:cs typeface="Times New Roman" panose="02020603050405020304" pitchFamily="18" charset="0"/>
            </a:endParaRPr>
          </a:p>
          <a:p>
            <a:pPr lvl="1"/>
            <a:r>
              <a:rPr lang="en-IN" sz="2400" dirty="0">
                <a:latin typeface="Times New Roman" panose="02020603050405020304" pitchFamily="18" charset="0"/>
                <a:cs typeface="Times New Roman" panose="02020603050405020304" pitchFamily="18" charset="0"/>
                <a:sym typeface="+mn-ea"/>
              </a:rPr>
              <a:t>Components</a:t>
            </a:r>
            <a:endParaRPr lang="en-IN" sz="2400" dirty="0">
              <a:latin typeface="Times New Roman" panose="02020603050405020304" pitchFamily="18" charset="0"/>
              <a:cs typeface="Times New Roman" panose="02020603050405020304" pitchFamily="18" charset="0"/>
              <a:sym typeface="+mn-ea"/>
            </a:endParaRPr>
          </a:p>
          <a:p>
            <a:pPr lvl="1"/>
            <a:r>
              <a:rPr lang="en-IN" sz="2400" dirty="0">
                <a:latin typeface="Times New Roman" panose="02020603050405020304" pitchFamily="18" charset="0"/>
                <a:cs typeface="Times New Roman" panose="02020603050405020304" pitchFamily="18" charset="0"/>
                <a:sym typeface="+mn-ea"/>
              </a:rPr>
              <a:t>Advantages</a:t>
            </a:r>
            <a:endParaRPr lang="en-IN" sz="2400" dirty="0">
              <a:latin typeface="Times New Roman" panose="02020603050405020304" pitchFamily="18" charset="0"/>
              <a:cs typeface="Times New Roman" panose="02020603050405020304" pitchFamily="18" charset="0"/>
              <a:sym typeface="+mn-ea"/>
            </a:endParaRPr>
          </a:p>
          <a:p>
            <a:r>
              <a:rPr lang="en-IN" altLang="en-US" sz="2400" dirty="0">
                <a:latin typeface="Times New Roman" panose="02020603050405020304" pitchFamily="18" charset="0"/>
                <a:cs typeface="Times New Roman" panose="02020603050405020304" pitchFamily="18" charset="0"/>
              </a:rPr>
              <a:t>Summary</a:t>
            </a:r>
            <a:endParaRPr lang="en-IN" alt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sym typeface="+mn-ea"/>
              </a:rPr>
              <a:t>References</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60DDCCF-37F0-4E7F-AF24-4DA6B437FFFF}" type="datetime3">
              <a:rPr lang="en-US" smtClean="0"/>
            </a:fld>
            <a:endParaRPr lang="en-US" dirty="0"/>
          </a:p>
        </p:txBody>
      </p:sp>
      <p:sp>
        <p:nvSpPr>
          <p:cNvPr id="5" name="Footer Placeholder 4"/>
          <p:cNvSpPr>
            <a:spLocks noGrp="1"/>
          </p:cNvSpPr>
          <p:nvPr>
            <p:ph type="ftr" sz="quarter" idx="11"/>
          </p:nvPr>
        </p:nvSpPr>
        <p:spPr/>
        <p:txBody>
          <a:bodyPr/>
          <a:lstStyle/>
          <a:p>
            <a:r>
              <a:rPr lang="en-US" dirty="0"/>
              <a:t>School of Computing - CSE with IoT</a:t>
            </a:r>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altLang="en-IN" sz="3000" b="1" dirty="0">
                <a:latin typeface="Times New Roman" panose="02020603050405020304" pitchFamily="18" charset="0"/>
                <a:cs typeface="Times New Roman" panose="02020603050405020304" pitchFamily="18" charset="0"/>
              </a:rPr>
              <a:t>OVERVIEW</a:t>
            </a:r>
            <a:endParaRPr lang="en-US" altLang="en-IN" sz="3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447800"/>
            <a:ext cx="8229600" cy="4820920"/>
          </a:xfrm>
        </p:spPr>
        <p:txBody>
          <a:bodyPr>
            <a:noAutofit/>
          </a:bodyPr>
          <a:lstStyle/>
          <a:p>
            <a:pPr marL="0" indent="0" algn="just">
              <a:buNone/>
            </a:pPr>
            <a:r>
              <a:rPr lang="en-US" sz="1900">
                <a:latin typeface="Times New Roman" panose="02020603050405020304" pitchFamily="18" charset="0"/>
                <a:cs typeface="Times New Roman" panose="02020603050405020304" pitchFamily="18" charset="0"/>
              </a:rPr>
              <a:t>Integrating IoT with intelligent Electronic Noses (E-noses) enhances Smart Agriculture by detecting odors and volatile compounds. E-noses are crucial for climate change monitoring, harmful gas detection, and fruit ripeness assessment, improving crop health, yields, and food security. By incorporating sensor networks, E-noses boost agricultural efficiency, sustainability, and informed decision-making. This technology reduces environmental impact while helping farmers adapt to dynamic environmental conditions.</a:t>
            </a:r>
            <a:endParaRPr lang="en-US" sz="1900">
              <a:latin typeface="Times New Roman" panose="02020603050405020304" pitchFamily="18" charset="0"/>
              <a:cs typeface="Times New Roman" panose="02020603050405020304" pitchFamily="18" charset="0"/>
            </a:endParaRPr>
          </a:p>
          <a:p>
            <a:pPr marL="0" indent="0" algn="just">
              <a:buNone/>
            </a:pPr>
            <a:endParaRPr lang="en-US" sz="1900">
              <a:latin typeface="Times New Roman" panose="02020603050405020304" pitchFamily="18" charset="0"/>
              <a:cs typeface="Times New Roman" panose="02020603050405020304" pitchFamily="18" charset="0"/>
            </a:endParaRPr>
          </a:p>
          <a:p>
            <a:pPr marL="0" indent="0" algn="just">
              <a:buNone/>
            </a:pPr>
            <a:endParaRPr lang="en-US" sz="1900">
              <a:latin typeface="Times New Roman" panose="02020603050405020304" pitchFamily="18" charset="0"/>
              <a:cs typeface="Times New Roman" panose="02020603050405020304" pitchFamily="18" charset="0"/>
            </a:endParaRPr>
          </a:p>
          <a:p>
            <a:pPr marL="0" indent="0" algn="just">
              <a:buNone/>
            </a:pPr>
            <a:endParaRPr lang="en-US" sz="1900">
              <a:latin typeface="Times New Roman" panose="02020603050405020304" pitchFamily="18" charset="0"/>
              <a:cs typeface="Times New Roman" panose="02020603050405020304" pitchFamily="18" charset="0"/>
            </a:endParaRPr>
          </a:p>
          <a:p>
            <a:pPr marL="0" indent="0" algn="just">
              <a:buNone/>
            </a:pPr>
            <a:endParaRPr lang="en-US" sz="1900">
              <a:latin typeface="Times New Roman" panose="02020603050405020304" pitchFamily="18" charset="0"/>
              <a:cs typeface="Times New Roman" panose="02020603050405020304" pitchFamily="18" charset="0"/>
            </a:endParaRPr>
          </a:p>
          <a:p>
            <a:pPr marL="0" indent="0" algn="just">
              <a:buNone/>
            </a:pPr>
            <a:endParaRPr lang="en-US" sz="1900">
              <a:latin typeface="Times New Roman" panose="02020603050405020304" pitchFamily="18" charset="0"/>
              <a:cs typeface="Times New Roman" panose="02020603050405020304" pitchFamily="18" charset="0"/>
            </a:endParaRPr>
          </a:p>
          <a:p>
            <a:pPr marL="0" indent="0" algn="just">
              <a:buNone/>
            </a:pPr>
            <a:r>
              <a:rPr lang="en-US" sz="1900" b="1">
                <a:latin typeface="Times New Roman" panose="02020603050405020304" pitchFamily="18" charset="0"/>
                <a:cs typeface="Times New Roman" panose="02020603050405020304" pitchFamily="18" charset="0"/>
              </a:rPr>
              <a:t>Keywords:</a:t>
            </a:r>
            <a:r>
              <a:rPr lang="en-US" sz="1900">
                <a:latin typeface="Times New Roman" panose="02020603050405020304" pitchFamily="18" charset="0"/>
                <a:cs typeface="Times New Roman" panose="02020603050405020304" pitchFamily="18" charset="0"/>
              </a:rPr>
              <a:t> Internet of Things, Electronic Nose, Smart Agriculture, Fruit Ripeness Detection, Climate Change Monitoring, Harmful Gas Detection.</a:t>
            </a:r>
            <a:endParaRPr lang="en-US" sz="19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0DB9D3A4-C98F-4E4E-9E00-0BE322500F73}" type="datetime3">
              <a:rPr lang="en-US" smtClean="0"/>
            </a:fld>
            <a:endParaRPr lang="en-US"/>
          </a:p>
        </p:txBody>
      </p:sp>
      <p:sp>
        <p:nvSpPr>
          <p:cNvPr id="5" name="Footer Placeholder 4"/>
          <p:cNvSpPr>
            <a:spLocks noGrp="1"/>
          </p:cNvSpPr>
          <p:nvPr>
            <p:ph type="ftr" sz="quarter" idx="11"/>
          </p:nvPr>
        </p:nvSpPr>
        <p:spPr/>
        <p:txBody>
          <a:bodyPr/>
          <a:lstStyle/>
          <a:p>
            <a:r>
              <a:rPr lang="en-US" dirty="0"/>
              <a:t>School of Computing - CSE with IoT</a:t>
            </a:r>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000" b="1" dirty="0">
                <a:latin typeface="Times New Roman" panose="02020603050405020304" pitchFamily="18" charset="0"/>
                <a:cs typeface="Times New Roman" panose="02020603050405020304" pitchFamily="18" charset="0"/>
              </a:rPr>
              <a:t>OBJECTIVE</a:t>
            </a:r>
            <a:endParaRPr lang="en-US" sz="3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lnSpc>
                <a:spcPct val="100000"/>
              </a:lnSpc>
              <a:buFont typeface="Arial" panose="020B0604020202020204" pitchFamily="34" charset="0"/>
              <a:buChar char="•"/>
            </a:pPr>
            <a:r>
              <a:rPr lang="en-IN" altLang="en-US" sz="2400" dirty="0">
                <a:latin typeface="Times New Roman" panose="02020603050405020304" pitchFamily="18" charset="0"/>
                <a:cs typeface="Times New Roman" panose="02020603050405020304" pitchFamily="18" charset="0"/>
              </a:rPr>
              <a:t>To e</a:t>
            </a:r>
            <a:r>
              <a:rPr lang="en-US" sz="2400" dirty="0" err="1">
                <a:latin typeface="Times New Roman" panose="02020603050405020304" pitchFamily="18" charset="0"/>
                <a:cs typeface="Times New Roman" panose="02020603050405020304" pitchFamily="18" charset="0"/>
              </a:rPr>
              <a:t>nhance</a:t>
            </a:r>
            <a:r>
              <a:rPr lang="en-US" sz="2400" dirty="0">
                <a:latin typeface="Times New Roman" panose="02020603050405020304" pitchFamily="18" charset="0"/>
                <a:cs typeface="Times New Roman" panose="02020603050405020304" pitchFamily="18" charset="0"/>
              </a:rPr>
              <a:t> fruit quality assessment by accurately pinpointing ripeness, leading to reduced waste and optimized harvest times. </a:t>
            </a:r>
            <a:endParaRPr lang="en-US" sz="2400" dirty="0">
              <a:latin typeface="Times New Roman" panose="02020603050405020304" pitchFamily="18" charset="0"/>
              <a:cs typeface="Times New Roman" panose="02020603050405020304" pitchFamily="18" charset="0"/>
            </a:endParaRPr>
          </a:p>
          <a:p>
            <a:pPr algn="just">
              <a:lnSpc>
                <a:spcPct val="100000"/>
              </a:lnSpc>
              <a:buFont typeface="Arial" panose="020B0604020202020204" pitchFamily="34" charset="0"/>
              <a:buChar char="•"/>
            </a:pPr>
            <a:r>
              <a:rPr lang="en-IN" altLang="en-US" sz="2400" dirty="0" err="1">
                <a:latin typeface="Times New Roman" panose="02020603050405020304" pitchFamily="18" charset="0"/>
                <a:cs typeface="Times New Roman" panose="02020603050405020304" pitchFamily="18" charset="0"/>
              </a:rPr>
              <a:t>To m</a:t>
            </a:r>
            <a:r>
              <a:rPr lang="en-US" sz="2400" dirty="0" err="1">
                <a:latin typeface="Times New Roman" panose="02020603050405020304" pitchFamily="18" charset="0"/>
                <a:cs typeface="Times New Roman" panose="02020603050405020304" pitchFamily="18" charset="0"/>
              </a:rPr>
              <a:t>onitor</a:t>
            </a:r>
            <a:r>
              <a:rPr lang="en-US" sz="2400" dirty="0">
                <a:latin typeface="Times New Roman" panose="02020603050405020304" pitchFamily="18" charset="0"/>
                <a:cs typeface="Times New Roman" panose="02020603050405020304" pitchFamily="18" charset="0"/>
              </a:rPr>
              <a:t> the impact of climate change by tracking specific gas signatures in agricultural environments, enabling data-driven adaptation strategies.</a:t>
            </a:r>
            <a:endParaRPr lang="en-US" sz="2400" dirty="0">
              <a:latin typeface="Times New Roman" panose="02020603050405020304" pitchFamily="18" charset="0"/>
              <a:cs typeface="Times New Roman" panose="02020603050405020304" pitchFamily="18" charset="0"/>
            </a:endParaRPr>
          </a:p>
          <a:p>
            <a:pPr algn="just">
              <a:lnSpc>
                <a:spcPct val="100000"/>
              </a:lnSpc>
              <a:buFont typeface="Arial" panose="020B0604020202020204" pitchFamily="34" charset="0"/>
              <a:buChar char="•"/>
            </a:pPr>
            <a:r>
              <a:rPr lang="en-IN" altLang="en-US" sz="2400" dirty="0" err="1">
                <a:latin typeface="Times New Roman" panose="02020603050405020304" pitchFamily="18" charset="0"/>
                <a:cs typeface="Times New Roman" panose="02020603050405020304" pitchFamily="18" charset="0"/>
              </a:rPr>
              <a:t>To i</a:t>
            </a:r>
            <a:r>
              <a:rPr lang="en-US" sz="2400" dirty="0" err="1">
                <a:latin typeface="Times New Roman" panose="02020603050405020304" pitchFamily="18" charset="0"/>
                <a:cs typeface="Times New Roman" panose="02020603050405020304" pitchFamily="18" charset="0"/>
              </a:rPr>
              <a:t>dentify</a:t>
            </a:r>
            <a:r>
              <a:rPr lang="en-US" sz="2400" dirty="0">
                <a:latin typeface="Times New Roman" panose="02020603050405020304" pitchFamily="18" charset="0"/>
                <a:cs typeface="Times New Roman" panose="02020603050405020304" pitchFamily="18" charset="0"/>
              </a:rPr>
              <a:t> and mitigate the effects of harmful gases to protect crops from damage and ensure optimal farm productivity</a:t>
            </a:r>
            <a:r>
              <a:rPr lang="en-IN" alt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0" indent="0" algn="just">
              <a:buNone/>
            </a:pPr>
            <a:endParaRPr lang="en-US" sz="2700" dirty="0">
              <a:latin typeface="Times New Roman" panose="02020603050405020304" pitchFamily="18" charset="0"/>
              <a:cs typeface="Times New Roman" panose="02020603050405020304" pitchFamily="18" charset="0"/>
            </a:endParaRPr>
          </a:p>
          <a:p>
            <a:pPr marL="0" indent="0" algn="just">
              <a:buNone/>
            </a:pPr>
            <a:endParaRPr lang="en-US" sz="27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B559C693-B3CD-4EFC-A869-740248E4904D}" type="datetime3">
              <a:rPr lang="en-US" smtClean="0"/>
            </a:fld>
            <a:endParaRPr lang="en-US" dirty="0"/>
          </a:p>
        </p:txBody>
      </p:sp>
      <p:sp>
        <p:nvSpPr>
          <p:cNvPr id="5" name="Footer Placeholder 4"/>
          <p:cNvSpPr>
            <a:spLocks noGrp="1"/>
          </p:cNvSpPr>
          <p:nvPr>
            <p:ph type="ftr" sz="quarter" idx="11"/>
          </p:nvPr>
        </p:nvSpPr>
        <p:spPr/>
        <p:txBody>
          <a:bodyPr/>
          <a:lstStyle/>
          <a:p>
            <a:r>
              <a:rPr lang="en-US" dirty="0"/>
              <a:t>School of Computing - CSE-</a:t>
            </a:r>
            <a:r>
              <a:rPr lang="en-US" dirty="0" err="1"/>
              <a:t>IoT</a:t>
            </a:r>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000" b="1" dirty="0">
                <a:latin typeface="Times New Roman" panose="02020603050405020304" pitchFamily="18" charset="0"/>
                <a:cs typeface="Times New Roman" panose="02020603050405020304" pitchFamily="18" charset="0"/>
              </a:rPr>
              <a:t>INFERENCES FROM LITERATURE SURVEY</a:t>
            </a:r>
            <a:endParaRPr lang="en-IN" sz="3000"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0B95C9DD-446B-44F4-8B85-EC0BB3F20AE9}" type="datetime3">
              <a:rPr lang="en-US" smtClean="0"/>
            </a:fld>
            <a:endParaRPr lang="en-US"/>
          </a:p>
        </p:txBody>
      </p:sp>
      <p:sp>
        <p:nvSpPr>
          <p:cNvPr id="5" name="Footer Placeholder 4"/>
          <p:cNvSpPr>
            <a:spLocks noGrp="1"/>
          </p:cNvSpPr>
          <p:nvPr>
            <p:ph type="ftr" sz="quarter" idx="11"/>
          </p:nvPr>
        </p:nvSpPr>
        <p:spPr/>
        <p:txBody>
          <a:bodyPr/>
          <a:lstStyle/>
          <a:p>
            <a:r>
              <a:rPr lang="en-US" dirty="0"/>
              <a:t>School of Computing - CSE-</a:t>
            </a:r>
            <a:r>
              <a:rPr lang="en-US" dirty="0" err="1"/>
              <a:t>IoT</a:t>
            </a:r>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dirty="0"/>
          </a:p>
        </p:txBody>
      </p:sp>
      <p:graphicFrame>
        <p:nvGraphicFramePr>
          <p:cNvPr id="8" name="Table 4"/>
          <p:cNvGraphicFramePr>
            <a:graphicFrameLocks noGrp="1"/>
          </p:cNvGraphicFramePr>
          <p:nvPr/>
        </p:nvGraphicFramePr>
        <p:xfrm>
          <a:off x="457200" y="1371600"/>
          <a:ext cx="8229601" cy="4702810"/>
        </p:xfrm>
        <a:graphic>
          <a:graphicData uri="http://schemas.openxmlformats.org/drawingml/2006/table">
            <a:tbl>
              <a:tblPr firstRow="1" bandRow="1">
                <a:tableStyleId>{5940675A-B579-460E-94D1-54222C63F5DA}</a:tableStyleId>
              </a:tblPr>
              <a:tblGrid>
                <a:gridCol w="1784374"/>
                <a:gridCol w="1939537"/>
                <a:gridCol w="2075896"/>
                <a:gridCol w="2429794"/>
              </a:tblGrid>
              <a:tr h="304800">
                <a:tc>
                  <a:txBody>
                    <a:bodyPr/>
                    <a:lstStyle/>
                    <a:p>
                      <a:pPr algn="just"/>
                      <a:r>
                        <a:rPr lang="en-IN" sz="1400" b="1" dirty="0">
                          <a:solidFill>
                            <a:schemeClr val="tx1"/>
                          </a:solidFill>
                          <a:latin typeface="Times New Roman" panose="02020603050405020304" pitchFamily="18" charset="0"/>
                          <a:cs typeface="Times New Roman" panose="02020603050405020304" pitchFamily="18" charset="0"/>
                        </a:rPr>
                        <a:t>Author &amp; Journal name</a:t>
                      </a:r>
                      <a:endParaRPr lang="en-IN" sz="1400" b="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just"/>
                      <a:r>
                        <a:rPr lang="en-IN" sz="1400" b="1" dirty="0">
                          <a:solidFill>
                            <a:schemeClr val="tx1"/>
                          </a:solidFill>
                          <a:latin typeface="Times New Roman" panose="02020603050405020304" pitchFamily="18" charset="0"/>
                          <a:cs typeface="Times New Roman" panose="02020603050405020304" pitchFamily="18" charset="0"/>
                        </a:rPr>
                        <a:t>Title</a:t>
                      </a:r>
                      <a:endParaRPr lang="en-IN" sz="1400" b="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just"/>
                      <a:r>
                        <a:rPr lang="en-IN" sz="1400" b="1" dirty="0">
                          <a:solidFill>
                            <a:schemeClr val="tx1"/>
                          </a:solidFill>
                          <a:latin typeface="Times New Roman" panose="02020603050405020304" pitchFamily="18" charset="0"/>
                          <a:cs typeface="Times New Roman" panose="02020603050405020304" pitchFamily="18" charset="0"/>
                        </a:rPr>
                        <a:t>Existing techniques</a:t>
                      </a:r>
                      <a:endParaRPr lang="en-IN" sz="1400" b="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just"/>
                      <a:r>
                        <a:rPr lang="en-IN" sz="1400" b="1" dirty="0">
                          <a:solidFill>
                            <a:schemeClr val="tx1"/>
                          </a:solidFill>
                          <a:latin typeface="Times New Roman" panose="02020603050405020304" pitchFamily="18" charset="0"/>
                          <a:cs typeface="Times New Roman" panose="02020603050405020304" pitchFamily="18" charset="0"/>
                        </a:rPr>
                        <a:t>Drawbacks</a:t>
                      </a:r>
                      <a:endParaRPr lang="en-IN" sz="1400" b="1" dirty="0">
                        <a:solidFill>
                          <a:schemeClr val="tx1"/>
                        </a:solidFill>
                        <a:latin typeface="Times New Roman" panose="02020603050405020304" pitchFamily="18" charset="0"/>
                        <a:cs typeface="Times New Roman" panose="02020603050405020304" pitchFamily="18" charset="0"/>
                      </a:endParaRPr>
                    </a:p>
                  </a:txBody>
                  <a:tcPr anchor="ctr"/>
                </a:tc>
              </a:tr>
              <a:tr h="800100">
                <a:tc>
                  <a:txBody>
                    <a:bodyPr/>
                    <a:lstStyle/>
                    <a:p>
                      <a:pPr algn="just"/>
                      <a:r>
                        <a:rPr lang="it-IT" sz="1400" dirty="0">
                          <a:solidFill>
                            <a:schemeClr val="tx1"/>
                          </a:solidFill>
                          <a:latin typeface="Times New Roman" panose="02020603050405020304" pitchFamily="18" charset="0"/>
                          <a:cs typeface="Times New Roman" panose="02020603050405020304" pitchFamily="18" charset="0"/>
                        </a:rPr>
                        <a:t>M Baietto., AD Wilson.</a:t>
                      </a:r>
                      <a:r>
                        <a:rPr lang="en-US" sz="1400" dirty="0">
                          <a:solidFill>
                            <a:schemeClr val="tx1"/>
                          </a:solidFill>
                          <a:latin typeface="Times New Roman" panose="02020603050405020304" pitchFamily="18" charset="0"/>
                          <a:cs typeface="Times New Roman" panose="02020603050405020304" pitchFamily="18" charset="0"/>
                        </a:rPr>
                        <a:t> MDPI Sensors for Food Safety and Quality</a:t>
                      </a:r>
                      <a:r>
                        <a:rPr lang="it-IT" sz="1400" dirty="0">
                          <a:solidFill>
                            <a:schemeClr val="tx1"/>
                          </a:solidFill>
                          <a:latin typeface="Times New Roman" panose="02020603050405020304" pitchFamily="18" charset="0"/>
                          <a:cs typeface="Times New Roman" panose="02020603050405020304" pitchFamily="18" charset="0"/>
                        </a:rPr>
                        <a:t> </a:t>
                      </a:r>
                      <a:endParaRPr lang="it-IT" sz="1400" dirty="0">
                        <a:solidFill>
                          <a:schemeClr val="tx1"/>
                        </a:solidFill>
                        <a:latin typeface="Times New Roman" panose="02020603050405020304" pitchFamily="18" charset="0"/>
                        <a:cs typeface="Times New Roman" panose="02020603050405020304" pitchFamily="18" charset="0"/>
                      </a:endParaRPr>
                    </a:p>
                    <a:p>
                      <a:pPr algn="just"/>
                      <a:r>
                        <a:rPr lang="it-IT" sz="1400" dirty="0">
                          <a:solidFill>
                            <a:schemeClr val="tx1"/>
                          </a:solidFill>
                          <a:latin typeface="Times New Roman" panose="02020603050405020304" pitchFamily="18" charset="0"/>
                          <a:cs typeface="Times New Roman" panose="02020603050405020304" pitchFamily="18" charset="0"/>
                        </a:rPr>
                        <a:t>(2015).</a:t>
                      </a:r>
                      <a:endParaRPr lang="en-IN" sz="14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just"/>
                      <a:r>
                        <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rPr>
                        <a:t>Electron</a:t>
                      </a:r>
                      <a:r>
                        <a:rPr lang="en-US" sz="1400" b="0" u="none" strike="noStrike" kern="1200" baseline="0" dirty="0" err="1">
                          <a:solidFill>
                            <a:schemeClr val="tx1"/>
                          </a:solidFill>
                          <a:latin typeface="Times New Roman" panose="02020603050405020304" pitchFamily="18" charset="0"/>
                          <a:ea typeface="+mn-ea"/>
                          <a:cs typeface="Times New Roman" panose="02020603050405020304" pitchFamily="18" charset="0"/>
                        </a:rPr>
                        <a:t>ic</a:t>
                      </a:r>
                      <a:r>
                        <a:rPr lang="en-US" sz="1400" b="0" u="none" strike="noStrike" kern="1200" baseline="0" dirty="0">
                          <a:solidFill>
                            <a:schemeClr val="tx1"/>
                          </a:solidFill>
                          <a:latin typeface="Times New Roman" panose="02020603050405020304" pitchFamily="18" charset="0"/>
                          <a:ea typeface="+mn-ea"/>
                          <a:cs typeface="Times New Roman" panose="02020603050405020304" pitchFamily="18" charset="0"/>
                        </a:rPr>
                        <a:t>-Nose Applications for Fruit Identification, Ripeness, and Quality Grading</a:t>
                      </a:r>
                      <a:endPar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sz="1400" b="0" u="none" strike="noStrike" kern="1200" baseline="0" dirty="0">
                          <a:solidFill>
                            <a:schemeClr val="tx1"/>
                          </a:solidFill>
                          <a:latin typeface="Times New Roman" panose="02020603050405020304" pitchFamily="18" charset="0"/>
                          <a:ea typeface="+mn-ea"/>
                          <a:cs typeface="Times New Roman" panose="02020603050405020304" pitchFamily="18" charset="0"/>
                        </a:rPr>
                        <a:t>Electronic-nose (e-nose) technology with specialized sensor arrays to analyze volatile organic compounds (VOCs) emitted by fruits.</a:t>
                      </a:r>
                      <a:endParaRPr sz="1400" b="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lstStyle/>
                    <a:p>
                      <a:pPr marL="0" indent="0" algn="just">
                        <a:buFont typeface="Arial" panose="020B0604020202020204" pitchFamily="34" charset="0"/>
                        <a:buNone/>
                      </a:pPr>
                      <a:r>
                        <a:rPr lang="en-IN" sz="1400" b="0" u="none" strike="noStrike" kern="1200" baseline="0">
                          <a:solidFill>
                            <a:schemeClr val="tx1"/>
                          </a:solidFill>
                          <a:ea typeface="+mn-ea"/>
                          <a:cs typeface="Times New Roman" panose="02020603050405020304" pitchFamily="18" charset="0"/>
                        </a:rPr>
                        <a:t>Potential for sensor drift and the need for regular calibration to maintain accuracy.</a:t>
                      </a:r>
                      <a:endParaRPr lang="en-IN" sz="1400" b="0" u="none" strike="noStrike" kern="1200" baseline="0">
                        <a:solidFill>
                          <a:schemeClr val="tx1"/>
                        </a:solidFill>
                        <a:ea typeface="+mn-ea"/>
                        <a:cs typeface="Times New Roman" panose="02020603050405020304" pitchFamily="18" charset="0"/>
                      </a:endParaRPr>
                    </a:p>
                  </a:txBody>
                  <a:tcPr anchor="ctr"/>
                </a:tc>
              </a:tr>
              <a:tr h="1066800">
                <a:tc>
                  <a:txBody>
                    <a:bodyPr/>
                    <a:lstStyle/>
                    <a:p>
                      <a:pPr algn="just"/>
                      <a:r>
                        <a:rPr lang="en-IN" sz="1400" dirty="0">
                          <a:solidFill>
                            <a:schemeClr val="tx1"/>
                          </a:solidFill>
                          <a:latin typeface="Times New Roman" panose="02020603050405020304" pitchFamily="18" charset="0"/>
                          <a:cs typeface="Times New Roman" panose="02020603050405020304" pitchFamily="18" charset="0"/>
                        </a:rPr>
                        <a:t>J. </a:t>
                      </a:r>
                      <a:r>
                        <a:rPr lang="en-IN" sz="1400" dirty="0" err="1">
                          <a:solidFill>
                            <a:schemeClr val="tx1"/>
                          </a:solidFill>
                          <a:latin typeface="Times New Roman" panose="02020603050405020304" pitchFamily="18" charset="0"/>
                          <a:cs typeface="Times New Roman" panose="02020603050405020304" pitchFamily="18" charset="0"/>
                        </a:rPr>
                        <a:t>Brezmes</a:t>
                      </a:r>
                      <a:r>
                        <a:rPr lang="en-IN" sz="1400" dirty="0">
                          <a:solidFill>
                            <a:schemeClr val="tx1"/>
                          </a:solidFill>
                          <a:latin typeface="Times New Roman" panose="02020603050405020304" pitchFamily="18" charset="0"/>
                          <a:cs typeface="Times New Roman" panose="02020603050405020304" pitchFamily="18" charset="0"/>
                        </a:rPr>
                        <a:t>., </a:t>
                      </a:r>
                      <a:r>
                        <a:rPr lang="en-IN" sz="1400" dirty="0" err="1">
                          <a:solidFill>
                            <a:schemeClr val="tx1"/>
                          </a:solidFill>
                          <a:latin typeface="Times New Roman" panose="02020603050405020304" pitchFamily="18" charset="0"/>
                          <a:cs typeface="Times New Roman" panose="02020603050405020304" pitchFamily="18" charset="0"/>
                        </a:rPr>
                        <a:t>Ma.L.L</a:t>
                      </a:r>
                      <a:r>
                        <a:rPr lang="en-IN" sz="1400" dirty="0">
                          <a:solidFill>
                            <a:schemeClr val="tx1"/>
                          </a:solidFill>
                          <a:latin typeface="Times New Roman" panose="02020603050405020304" pitchFamily="18" charset="0"/>
                          <a:cs typeface="Times New Roman" panose="02020603050405020304" pitchFamily="18" charset="0"/>
                        </a:rPr>
                        <a:t>. </a:t>
                      </a:r>
                      <a:r>
                        <a:rPr lang="en-IN" sz="1400" dirty="0" err="1">
                          <a:solidFill>
                            <a:schemeClr val="tx1"/>
                          </a:solidFill>
                          <a:latin typeface="Times New Roman" panose="02020603050405020304" pitchFamily="18" charset="0"/>
                          <a:cs typeface="Times New Roman" panose="02020603050405020304" pitchFamily="18" charset="0"/>
                        </a:rPr>
                        <a:t>Fructuoso</a:t>
                      </a:r>
                      <a:r>
                        <a:rPr lang="en-IN" sz="1400" dirty="0">
                          <a:solidFill>
                            <a:schemeClr val="tx1"/>
                          </a:solidFill>
                          <a:latin typeface="Times New Roman" panose="02020603050405020304" pitchFamily="18" charset="0"/>
                          <a:cs typeface="Times New Roman" panose="02020603050405020304" pitchFamily="18" charset="0"/>
                        </a:rPr>
                        <a:t>., </a:t>
                      </a:r>
                      <a:r>
                        <a:rPr lang="en-IN" sz="1400" dirty="0" err="1">
                          <a:solidFill>
                            <a:schemeClr val="tx1"/>
                          </a:solidFill>
                          <a:latin typeface="Times New Roman" panose="02020603050405020304" pitchFamily="18" charset="0"/>
                          <a:cs typeface="Times New Roman" panose="02020603050405020304" pitchFamily="18" charset="0"/>
                        </a:rPr>
                        <a:t>E.Llobet</a:t>
                      </a:r>
                      <a:r>
                        <a:rPr lang="en-IN" sz="1400" dirty="0">
                          <a:solidFill>
                            <a:schemeClr val="tx1"/>
                          </a:solidFill>
                          <a:latin typeface="Times New Roman" panose="02020603050405020304" pitchFamily="18" charset="0"/>
                          <a:cs typeface="Times New Roman" panose="02020603050405020304" pitchFamily="18" charset="0"/>
                        </a:rPr>
                        <a:t>., X. </a:t>
                      </a:r>
                      <a:r>
                        <a:rPr lang="en-IN" sz="1400" dirty="0" err="1">
                          <a:solidFill>
                            <a:schemeClr val="tx1"/>
                          </a:solidFill>
                          <a:latin typeface="Times New Roman" panose="02020603050405020304" pitchFamily="18" charset="0"/>
                          <a:cs typeface="Times New Roman" panose="02020603050405020304" pitchFamily="18" charset="0"/>
                        </a:rPr>
                        <a:t>Vilanova</a:t>
                      </a:r>
                      <a:r>
                        <a:rPr lang="en-IN" sz="1400" dirty="0">
                          <a:solidFill>
                            <a:schemeClr val="tx1"/>
                          </a:solidFill>
                          <a:latin typeface="Times New Roman" panose="02020603050405020304" pitchFamily="18" charset="0"/>
                          <a:cs typeface="Times New Roman" panose="02020603050405020304" pitchFamily="18" charset="0"/>
                        </a:rPr>
                        <a:t>., I. </a:t>
                      </a:r>
                      <a:r>
                        <a:rPr lang="en-IN" sz="1400" dirty="0" err="1">
                          <a:solidFill>
                            <a:schemeClr val="tx1"/>
                          </a:solidFill>
                          <a:latin typeface="Times New Roman" panose="02020603050405020304" pitchFamily="18" charset="0"/>
                          <a:cs typeface="Times New Roman" panose="02020603050405020304" pitchFamily="18" charset="0"/>
                        </a:rPr>
                        <a:t>Recasens</a:t>
                      </a:r>
                      <a:r>
                        <a:rPr lang="en-IN" sz="1400" dirty="0">
                          <a:solidFill>
                            <a:schemeClr val="tx1"/>
                          </a:solidFill>
                          <a:latin typeface="Times New Roman" panose="02020603050405020304" pitchFamily="18" charset="0"/>
                          <a:cs typeface="Times New Roman" panose="02020603050405020304" pitchFamily="18" charset="0"/>
                        </a:rPr>
                        <a:t>., </a:t>
                      </a:r>
                      <a:r>
                        <a:rPr lang="en-IN" sz="1400" dirty="0" err="1">
                          <a:solidFill>
                            <a:schemeClr val="tx1"/>
                          </a:solidFill>
                          <a:latin typeface="Times New Roman" panose="02020603050405020304" pitchFamily="18" charset="0"/>
                          <a:cs typeface="Times New Roman" panose="02020603050405020304" pitchFamily="18" charset="0"/>
                        </a:rPr>
                        <a:t>J.Orts</a:t>
                      </a:r>
                      <a:r>
                        <a:rPr lang="en-IN" sz="1400" dirty="0">
                          <a:solidFill>
                            <a:schemeClr val="tx1"/>
                          </a:solidFill>
                          <a:latin typeface="Times New Roman" panose="02020603050405020304" pitchFamily="18" charset="0"/>
                          <a:cs typeface="Times New Roman" panose="02020603050405020304" pitchFamily="18" charset="0"/>
                        </a:rPr>
                        <a:t>., G. </a:t>
                      </a:r>
                      <a:r>
                        <a:rPr lang="en-IN" sz="1400" dirty="0" err="1">
                          <a:solidFill>
                            <a:schemeClr val="tx1"/>
                          </a:solidFill>
                          <a:latin typeface="Times New Roman" panose="02020603050405020304" pitchFamily="18" charset="0"/>
                          <a:cs typeface="Times New Roman" panose="02020603050405020304" pitchFamily="18" charset="0"/>
                        </a:rPr>
                        <a:t>Saiz</a:t>
                      </a:r>
                      <a:r>
                        <a:rPr lang="en-IN" sz="1400" dirty="0">
                          <a:solidFill>
                            <a:schemeClr val="tx1"/>
                          </a:solidFill>
                          <a:latin typeface="Times New Roman" panose="02020603050405020304" pitchFamily="18" charset="0"/>
                          <a:cs typeface="Times New Roman" panose="02020603050405020304" pitchFamily="18" charset="0"/>
                        </a:rPr>
                        <a:t>., X. </a:t>
                      </a:r>
                      <a:r>
                        <a:rPr lang="en-IN" sz="1400" dirty="0" err="1">
                          <a:solidFill>
                            <a:schemeClr val="tx1"/>
                          </a:solidFill>
                          <a:latin typeface="Times New Roman" panose="02020603050405020304" pitchFamily="18" charset="0"/>
                          <a:cs typeface="Times New Roman" panose="02020603050405020304" pitchFamily="18" charset="0"/>
                        </a:rPr>
                        <a:t>Cocrreig</a:t>
                      </a:r>
                      <a:r>
                        <a:rPr lang="en-IN" sz="1400" dirty="0">
                          <a:solidFill>
                            <a:schemeClr val="tx1"/>
                          </a:solidFill>
                          <a:latin typeface="Times New Roman" panose="02020603050405020304" pitchFamily="18" charset="0"/>
                          <a:cs typeface="Times New Roman" panose="02020603050405020304" pitchFamily="18" charset="0"/>
                        </a:rPr>
                        <a:t>. IEEE Sensors Journal</a:t>
                      </a:r>
                      <a:endParaRPr lang="en-IN" sz="1400" dirty="0">
                        <a:solidFill>
                          <a:schemeClr val="tx1"/>
                        </a:solidFill>
                        <a:latin typeface="Times New Roman" panose="02020603050405020304" pitchFamily="18" charset="0"/>
                        <a:cs typeface="Times New Roman" panose="02020603050405020304" pitchFamily="18" charset="0"/>
                      </a:endParaRPr>
                    </a:p>
                    <a:p>
                      <a:pPr algn="just"/>
                      <a:r>
                        <a:rPr lang="en-IN" sz="1400" dirty="0">
                          <a:solidFill>
                            <a:schemeClr val="tx1"/>
                          </a:solidFill>
                          <a:latin typeface="Times New Roman" panose="02020603050405020304" pitchFamily="18" charset="0"/>
                          <a:cs typeface="Times New Roman" panose="02020603050405020304" pitchFamily="18" charset="0"/>
                        </a:rPr>
                        <a:t>(2005). </a:t>
                      </a:r>
                      <a:endParaRPr lang="en-IN" sz="14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just"/>
                      <a:r>
                        <a:rPr lang="en-IN" sz="1400" dirty="0">
                          <a:solidFill>
                            <a:schemeClr val="tx1"/>
                          </a:solidFill>
                          <a:latin typeface="Times New Roman" panose="02020603050405020304" pitchFamily="18" charset="0"/>
                          <a:cs typeface="Times New Roman" panose="02020603050405020304" pitchFamily="18" charset="0"/>
                        </a:rPr>
                        <a:t>Evaluation of an electronic nose to assess fruit ripeness</a:t>
                      </a:r>
                      <a:endPar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rPr>
                        <a:t>Electronic noses to assess ripeness of peaches, nectarines, apples, and pears by comparing sensor measurements with traditional fruit quality techniques.</a:t>
                      </a:r>
                      <a:endPar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lstStyle/>
                    <a:p>
                      <a:pPr marL="0" indent="0" algn="just">
                        <a:buFont typeface="Arial" panose="020B0604020202020204" pitchFamily="34" charset="0"/>
                        <a:buNone/>
                      </a:pPr>
                      <a:r>
                        <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rPr>
                        <a:t> Requires frequent calibration and can be influenced by environmental conditions.</a:t>
                      </a:r>
                      <a:endPar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nchor="ctr"/>
                </a:tc>
              </a:tr>
              <a:tr h="990600">
                <a:tc>
                  <a:txBody>
                    <a:bodyPr/>
                    <a:lstStyle/>
                    <a:p>
                      <a:pPr algn="just"/>
                      <a:r>
                        <a:rPr lang="en-IN" sz="1400" dirty="0">
                          <a:latin typeface="Times New Roman" panose="02020603050405020304" pitchFamily="18" charset="0"/>
                          <a:cs typeface="Times New Roman" panose="02020603050405020304" pitchFamily="18" charset="0"/>
                        </a:rPr>
                        <a:t>RR Mohamed., R Yaacob., MA Mohamed., TAT Dir., F A Rahim.</a:t>
                      </a:r>
                      <a:endParaRPr lang="en-IN" sz="1400" dirty="0">
                        <a:latin typeface="Times New Roman" panose="02020603050405020304" pitchFamily="18" charset="0"/>
                        <a:cs typeface="Times New Roman" panose="02020603050405020304" pitchFamily="18" charset="0"/>
                      </a:endParaRPr>
                    </a:p>
                    <a:p>
                      <a:pPr algn="just"/>
                      <a:r>
                        <a:rPr lang="en-US" sz="1400" i="0" dirty="0">
                          <a:latin typeface="Times New Roman" panose="02020603050405020304" pitchFamily="18" charset="0"/>
                          <a:cs typeface="Times New Roman" panose="02020603050405020304" pitchFamily="18" charset="0"/>
                        </a:rPr>
                        <a:t>International Journal of Engineering &amp; Technology</a:t>
                      </a:r>
                      <a:r>
                        <a:rPr lang="en-IN" sz="1400" dirty="0">
                          <a:latin typeface="Times New Roman" panose="02020603050405020304" pitchFamily="18" charset="0"/>
                          <a:cs typeface="Times New Roman" panose="02020603050405020304" pitchFamily="18" charset="0"/>
                        </a:rPr>
                        <a:t> (2018). </a:t>
                      </a:r>
                      <a:endParaRPr lang="en-IN" sz="14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just"/>
                      <a:r>
                        <a:rPr lang="en-US" sz="1400" dirty="0">
                          <a:latin typeface="Times New Roman" panose="02020603050405020304" pitchFamily="18" charset="0"/>
                          <a:cs typeface="Times New Roman" panose="02020603050405020304" pitchFamily="18" charset="0"/>
                        </a:rPr>
                        <a:t>Food Freshness Using Electronic Nose and Its Classification Method: A Review</a:t>
                      </a:r>
                      <a:endParaRPr lang="en-US" sz="1400" b="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rPr>
                        <a:t>Electronic noses with sensor arrays to detect and classify VOCs for food freshness assessment.</a:t>
                      </a:r>
                      <a:endPar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lstStyle/>
                    <a:p>
                      <a:pPr marL="0" indent="0" algn="just">
                        <a:buFont typeface="Arial" panose="020B0604020202020204" pitchFamily="34" charset="0"/>
                        <a:buNone/>
                      </a:pPr>
                      <a:r>
                        <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rPr>
                        <a:t>Sensor sensitivity to humidity and temperature changes can affect accuracy.</a:t>
                      </a:r>
                      <a:endPar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nchor="ct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000" b="1" dirty="0">
                <a:latin typeface="Times New Roman" panose="02020603050405020304" pitchFamily="18" charset="0"/>
                <a:cs typeface="Times New Roman" panose="02020603050405020304" pitchFamily="18" charset="0"/>
              </a:rPr>
              <a:t>INFERENCES FROM LITERATURE SURVEY</a:t>
            </a:r>
            <a:endParaRPr lang="en-IN" sz="3000"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0B95C9DD-446B-44F4-8B85-EC0BB3F20AE9}" type="datetime3">
              <a:rPr lang="en-US" smtClean="0"/>
            </a:fld>
            <a:endParaRPr lang="en-US"/>
          </a:p>
        </p:txBody>
      </p:sp>
      <p:sp>
        <p:nvSpPr>
          <p:cNvPr id="5" name="Footer Placeholder 4"/>
          <p:cNvSpPr>
            <a:spLocks noGrp="1"/>
          </p:cNvSpPr>
          <p:nvPr>
            <p:ph type="ftr" sz="quarter" idx="11"/>
          </p:nvPr>
        </p:nvSpPr>
        <p:spPr/>
        <p:txBody>
          <a:bodyPr/>
          <a:lstStyle/>
          <a:p>
            <a:r>
              <a:rPr lang="en-US" dirty="0"/>
              <a:t>School of Computing - CSE-</a:t>
            </a:r>
            <a:r>
              <a:rPr lang="en-US" dirty="0" err="1"/>
              <a:t>IoT</a:t>
            </a:r>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dirty="0"/>
          </a:p>
        </p:txBody>
      </p:sp>
      <p:graphicFrame>
        <p:nvGraphicFramePr>
          <p:cNvPr id="8" name="Table 4"/>
          <p:cNvGraphicFramePr>
            <a:graphicFrameLocks noGrp="1"/>
          </p:cNvGraphicFramePr>
          <p:nvPr/>
        </p:nvGraphicFramePr>
        <p:xfrm>
          <a:off x="457200" y="1440815"/>
          <a:ext cx="8229600" cy="11186160"/>
        </p:xfrm>
        <a:graphic>
          <a:graphicData uri="http://schemas.openxmlformats.org/drawingml/2006/table">
            <a:tbl>
              <a:tblPr firstRow="1" bandRow="1">
                <a:tableStyleId>{5940675A-B579-460E-94D1-54222C63F5DA}</a:tableStyleId>
              </a:tblPr>
              <a:tblGrid>
                <a:gridCol w="1784350"/>
                <a:gridCol w="1939537"/>
                <a:gridCol w="2075896"/>
                <a:gridCol w="2429794"/>
              </a:tblGrid>
              <a:tr h="304800">
                <a:tc>
                  <a:txBody>
                    <a:bodyPr/>
                    <a:lstStyle/>
                    <a:p>
                      <a:pPr algn="just"/>
                      <a:r>
                        <a:rPr lang="en-IN" sz="1400" b="1" dirty="0">
                          <a:solidFill>
                            <a:schemeClr val="tx1"/>
                          </a:solidFill>
                          <a:latin typeface="Times New Roman" panose="02020603050405020304" pitchFamily="18" charset="0"/>
                          <a:cs typeface="Times New Roman" panose="02020603050405020304" pitchFamily="18" charset="0"/>
                        </a:rPr>
                        <a:t>Author &amp; Journal name</a:t>
                      </a:r>
                      <a:endParaRPr lang="en-IN" sz="1400" b="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just"/>
                      <a:r>
                        <a:rPr lang="en-IN" sz="1400" b="1" dirty="0">
                          <a:solidFill>
                            <a:schemeClr val="tx1"/>
                          </a:solidFill>
                          <a:latin typeface="Times New Roman" panose="02020603050405020304" pitchFamily="18" charset="0"/>
                          <a:cs typeface="Times New Roman" panose="02020603050405020304" pitchFamily="18" charset="0"/>
                        </a:rPr>
                        <a:t>Title</a:t>
                      </a:r>
                      <a:endParaRPr lang="en-IN" sz="1400" b="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just"/>
                      <a:r>
                        <a:rPr lang="en-IN" sz="1400" b="1" dirty="0">
                          <a:solidFill>
                            <a:schemeClr val="tx1"/>
                          </a:solidFill>
                          <a:latin typeface="Times New Roman" panose="02020603050405020304" pitchFamily="18" charset="0"/>
                          <a:cs typeface="Times New Roman" panose="02020603050405020304" pitchFamily="18" charset="0"/>
                        </a:rPr>
                        <a:t>Existing techniques</a:t>
                      </a:r>
                      <a:endParaRPr lang="en-IN" sz="1400" b="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just"/>
                      <a:r>
                        <a:rPr lang="en-IN" sz="1400" b="1" dirty="0">
                          <a:solidFill>
                            <a:schemeClr val="tx1"/>
                          </a:solidFill>
                          <a:latin typeface="Times New Roman" panose="02020603050405020304" pitchFamily="18" charset="0"/>
                          <a:cs typeface="Times New Roman" panose="02020603050405020304" pitchFamily="18" charset="0"/>
                        </a:rPr>
                        <a:t>Drawbacks</a:t>
                      </a:r>
                      <a:endParaRPr lang="en-IN" sz="1400" b="1" dirty="0">
                        <a:solidFill>
                          <a:schemeClr val="tx1"/>
                        </a:solidFill>
                        <a:latin typeface="Times New Roman" panose="02020603050405020304" pitchFamily="18" charset="0"/>
                        <a:cs typeface="Times New Roman" panose="02020603050405020304" pitchFamily="18" charset="0"/>
                      </a:endParaRPr>
                    </a:p>
                  </a:txBody>
                  <a:tcPr anchor="ctr"/>
                </a:tc>
              </a:tr>
              <a:tr h="304800">
                <a:tc>
                  <a:txBody>
                    <a:bodyPr/>
                    <a:p>
                      <a:pPr algn="just"/>
                      <a:r>
                        <a:rPr lang="en-US" sz="1400" dirty="0">
                          <a:latin typeface="Times New Roman" panose="02020603050405020304" pitchFamily="18" charset="0"/>
                          <a:cs typeface="Times New Roman" panose="02020603050405020304" pitchFamily="18" charset="0"/>
                        </a:rPr>
                        <a:t>IA. </a:t>
                      </a:r>
                      <a:r>
                        <a:rPr lang="en-US" sz="1400" dirty="0" err="1">
                          <a:latin typeface="Times New Roman" panose="02020603050405020304" pitchFamily="18" charset="0"/>
                          <a:cs typeface="Times New Roman" panose="02020603050405020304" pitchFamily="18" charset="0"/>
                        </a:rPr>
                        <a:t>Casalinuovo</a:t>
                      </a:r>
                      <a:r>
                        <a:rPr lang="en-US" sz="1400" dirty="0">
                          <a:latin typeface="Times New Roman" panose="02020603050405020304" pitchFamily="18" charset="0"/>
                          <a:cs typeface="Times New Roman" panose="02020603050405020304" pitchFamily="18" charset="0"/>
                        </a:rPr>
                        <a:t>.,</a:t>
                      </a:r>
                      <a:r>
                        <a:rPr lang="it-IT" sz="1400" baseline="30000" dirty="0">
                          <a:latin typeface="Times New Roman" panose="02020603050405020304" pitchFamily="18" charset="0"/>
                          <a:cs typeface="Times New Roman" panose="02020603050405020304" pitchFamily="18" charset="0"/>
                        </a:rPr>
                        <a:t> </a:t>
                      </a:r>
                      <a:r>
                        <a:rPr lang="it-IT" sz="1400" dirty="0">
                          <a:latin typeface="Times New Roman" panose="02020603050405020304" pitchFamily="18" charset="0"/>
                          <a:cs typeface="Times New Roman" panose="02020603050405020304" pitchFamily="18" charset="0"/>
                        </a:rPr>
                        <a:t>DD Pierro., MColetta., PD Francesco.</a:t>
                      </a:r>
                      <a:endParaRPr lang="it-IT" sz="1400" dirty="0">
                        <a:latin typeface="Times New Roman" panose="02020603050405020304" pitchFamily="18" charset="0"/>
                        <a:cs typeface="Times New Roman" panose="02020603050405020304" pitchFamily="18" charset="0"/>
                      </a:endParaRPr>
                    </a:p>
                    <a:p>
                      <a:pPr algn="just"/>
                      <a:r>
                        <a:rPr lang="en-US" sz="1400" i="0" dirty="0">
                          <a:latin typeface="Times New Roman" panose="02020603050405020304" pitchFamily="18" charset="0"/>
                          <a:cs typeface="Times New Roman" panose="02020603050405020304" pitchFamily="18" charset="0"/>
                        </a:rPr>
                        <a:t>MDPI Gas Sensors</a:t>
                      </a:r>
                      <a:endParaRPr lang="en-US" sz="1400" i="0" dirty="0">
                        <a:latin typeface="Times New Roman" panose="02020603050405020304" pitchFamily="18" charset="0"/>
                        <a:cs typeface="Times New Roman" panose="02020603050405020304" pitchFamily="18" charset="0"/>
                      </a:endParaRPr>
                    </a:p>
                    <a:p>
                      <a:pPr algn="just"/>
                      <a:r>
                        <a:rPr lang="it-IT" sz="1400" dirty="0">
                          <a:latin typeface="Times New Roman" panose="02020603050405020304" pitchFamily="18" charset="0"/>
                          <a:cs typeface="Times New Roman" panose="02020603050405020304" pitchFamily="18" charset="0"/>
                        </a:rPr>
                        <a:t> (2006). </a:t>
                      </a:r>
                      <a:endParaRPr lang="en-IN" sz="1400" i="0" dirty="0">
                        <a:solidFill>
                          <a:schemeClr val="tx1"/>
                        </a:solidFill>
                        <a:latin typeface="Times New Roman" panose="02020603050405020304" pitchFamily="18" charset="0"/>
                        <a:cs typeface="Times New Roman" panose="02020603050405020304" pitchFamily="18" charset="0"/>
                      </a:endParaRPr>
                    </a:p>
                  </a:txBody>
                  <a:tcPr anchor="ctr"/>
                </a:tc>
                <a:tc>
                  <a:txBody>
                    <a:bodyPr/>
                    <a:p>
                      <a:pPr algn="just"/>
                      <a:r>
                        <a:rPr lang="en-US" sz="1400" dirty="0">
                          <a:latin typeface="Times New Roman" panose="02020603050405020304" pitchFamily="18" charset="0"/>
                          <a:cs typeface="Times New Roman" panose="02020603050405020304" pitchFamily="18" charset="0"/>
                        </a:rPr>
                        <a:t>Application of Electronic Noses for Disease Diagnosis and Food Spoilage Detection. </a:t>
                      </a:r>
                      <a:endParaRPr lang="en-US" sz="1400" b="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p>
                      <a:pPr marL="0" marR="0" lvl="0" indent="0" algn="just" defTabSz="914400" rtl="0" eaLnBrk="1" fontAlgn="auto" latinLnBrk="0" hangingPunct="1">
                        <a:lnSpc>
                          <a:spcPct val="100000"/>
                        </a:lnSpc>
                        <a:spcBef>
                          <a:spcPts val="0"/>
                        </a:spcBef>
                        <a:spcAft>
                          <a:spcPts val="0"/>
                        </a:spcAft>
                        <a:buClrTx/>
                        <a:buSzTx/>
                        <a:buFontTx/>
                        <a:buNone/>
                        <a:defRPr/>
                      </a:pPr>
                      <a:r>
                        <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rPr>
                        <a:t> Electronic noses for detecting microbial volatiles related to disease diagnosis and food spoilage.</a:t>
                      </a:r>
                      <a:endPar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p>
                      <a:pPr marL="0" indent="0" algn="just">
                        <a:buFont typeface="Arial" panose="020B0604020202020204" pitchFamily="34" charset="0"/>
                        <a:buNone/>
                      </a:pPr>
                      <a:r>
                        <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rPr>
                        <a:t>Lower sensitivity and specificity compared to traditional microbiological and molecular methods.</a:t>
                      </a:r>
                      <a:endPar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nchor="ctr"/>
                </a:tc>
              </a:tr>
              <a:tr h="304800">
                <a:tc>
                  <a:txBody>
                    <a:bodyPr/>
                    <a:p>
                      <a:pPr algn="just"/>
                      <a:r>
                        <a:rPr lang="en-IN" sz="1400" dirty="0">
                          <a:latin typeface="Times New Roman" panose="02020603050405020304" pitchFamily="18" charset="0"/>
                          <a:cs typeface="Times New Roman" panose="02020603050405020304" pitchFamily="18" charset="0"/>
                        </a:rPr>
                        <a:t>G Green., A Chan.,  R </a:t>
                      </a:r>
                      <a:r>
                        <a:rPr lang="en-IN" sz="1400" dirty="0" err="1">
                          <a:latin typeface="Times New Roman" panose="02020603050405020304" pitchFamily="18" charset="0"/>
                          <a:cs typeface="Times New Roman" panose="02020603050405020304" pitchFamily="18" charset="0"/>
                        </a:rPr>
                        <a:t>Goubran</a:t>
                      </a:r>
                      <a:r>
                        <a:rPr lang="en-IN" sz="1400" dirty="0">
                          <a:latin typeface="Times New Roman" panose="02020603050405020304" pitchFamily="18" charset="0"/>
                          <a:cs typeface="Times New Roman" panose="02020603050405020304" pitchFamily="18" charset="0"/>
                        </a:rPr>
                        <a:t>. </a:t>
                      </a:r>
                      <a:r>
                        <a:rPr lang="en-US" sz="1400" i="0" dirty="0">
                          <a:latin typeface="Times New Roman" panose="02020603050405020304" pitchFamily="18" charset="0"/>
                          <a:cs typeface="Times New Roman" panose="02020603050405020304" pitchFamily="18" charset="0"/>
                        </a:rPr>
                        <a:t>IEEE 3rd Int. Conf. Pervasive Computing Technologies for Healthcare.</a:t>
                      </a:r>
                      <a:endParaRPr lang="en-US" sz="1400" i="0" dirty="0">
                        <a:latin typeface="Times New Roman" panose="02020603050405020304" pitchFamily="18" charset="0"/>
                        <a:cs typeface="Times New Roman" panose="02020603050405020304" pitchFamily="18" charset="0"/>
                      </a:endParaRPr>
                    </a:p>
                    <a:p>
                      <a:pPr algn="just"/>
                      <a:r>
                        <a:rPr lang="en-US" sz="1400" i="0" dirty="0">
                          <a:solidFill>
                            <a:schemeClr val="tx1"/>
                          </a:solidFill>
                          <a:latin typeface="Times New Roman" panose="02020603050405020304" pitchFamily="18" charset="0"/>
                          <a:cs typeface="Times New Roman" panose="02020603050405020304" pitchFamily="18" charset="0"/>
                        </a:rPr>
                        <a:t>(2009)</a:t>
                      </a:r>
                      <a:endParaRPr lang="en-IN" sz="1400" i="0" dirty="0">
                        <a:solidFill>
                          <a:schemeClr val="tx1"/>
                        </a:solidFill>
                        <a:latin typeface="Times New Roman" panose="02020603050405020304" pitchFamily="18" charset="0"/>
                        <a:cs typeface="Times New Roman" panose="02020603050405020304" pitchFamily="18" charset="0"/>
                      </a:endParaRPr>
                    </a:p>
                  </a:txBody>
                  <a:tcPr anchor="ctr"/>
                </a:tc>
                <a:tc>
                  <a:txBody>
                    <a:bodyPr/>
                    <a:p>
                      <a:pPr algn="just"/>
                      <a:r>
                        <a:rPr lang="en-US" sz="1400" dirty="0">
                          <a:latin typeface="Times New Roman" panose="02020603050405020304" pitchFamily="18" charset="0"/>
                          <a:cs typeface="Times New Roman" panose="02020603050405020304" pitchFamily="18" charset="0"/>
                        </a:rPr>
                        <a:t>Monitoring of food spoilage with electronic nose: potential applications for smart homes</a:t>
                      </a:r>
                      <a:endParaRPr lang="en-US" sz="1400" b="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p>
                      <a:pPr marL="0" marR="0" lvl="0" indent="0" algn="just" defTabSz="914400" rtl="0" eaLnBrk="1" fontAlgn="auto" latinLnBrk="0" hangingPunct="1">
                        <a:lnSpc>
                          <a:spcPct val="100000"/>
                        </a:lnSpc>
                        <a:spcBef>
                          <a:spcPts val="0"/>
                        </a:spcBef>
                        <a:spcAft>
                          <a:spcPts val="0"/>
                        </a:spcAft>
                        <a:buClrTx/>
                        <a:buSzTx/>
                        <a:buFontTx/>
                        <a:buNone/>
                        <a:defRPr/>
                      </a:pPr>
                      <a:r>
                        <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rPr>
                        <a:t>Electronic noses equipped with metal-oxide sensor arrays to monitor odor changes in foods.</a:t>
                      </a:r>
                      <a:endPar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p>
                      <a:pPr marL="0" indent="0" algn="just">
                        <a:buFont typeface="Arial" panose="020B0604020202020204" pitchFamily="34" charset="0"/>
                        <a:buNone/>
                      </a:pPr>
                      <a:r>
                        <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rPr>
                        <a:t>Challenges in sensor stability, user interaction requirements, and cost considerations.</a:t>
                      </a:r>
                      <a:endPar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nchor="ctr"/>
                </a:tc>
              </a:tr>
              <a:tr h="914400">
                <a:tc>
                  <a:txBody>
                    <a:bodyPr/>
                    <a:lstStyle/>
                    <a:p>
                      <a:pPr algn="just"/>
                      <a:r>
                        <a:rPr lang="en-US" sz="1400" dirty="0">
                          <a:latin typeface="Times New Roman" panose="02020603050405020304" pitchFamily="18" charset="0"/>
                          <a:cs typeface="Times New Roman" panose="02020603050405020304" pitchFamily="18" charset="0"/>
                        </a:rPr>
                        <a:t>A </a:t>
                      </a:r>
                      <a:r>
                        <a:rPr lang="en-IN" sz="1400" dirty="0">
                          <a:latin typeface="Times New Roman" panose="02020603050405020304" pitchFamily="18" charset="0"/>
                          <a:cs typeface="Times New Roman" panose="02020603050405020304" pitchFamily="18" charset="0"/>
                        </a:rPr>
                        <a:t>Cellini., S </a:t>
                      </a:r>
                      <a:r>
                        <a:rPr lang="en-IN" sz="1400" dirty="0" err="1">
                          <a:latin typeface="Times New Roman" panose="02020603050405020304" pitchFamily="18" charset="0"/>
                          <a:cs typeface="Times New Roman" panose="02020603050405020304" pitchFamily="18" charset="0"/>
                        </a:rPr>
                        <a:t>Blasioli</a:t>
                      </a:r>
                      <a:r>
                        <a:rPr lang="en-IN" sz="1400" dirty="0">
                          <a:latin typeface="Times New Roman" panose="02020603050405020304" pitchFamily="18" charset="0"/>
                          <a:cs typeface="Times New Roman" panose="02020603050405020304" pitchFamily="18" charset="0"/>
                        </a:rPr>
                        <a:t>., E Biondi.,</a:t>
                      </a:r>
                      <a:r>
                        <a:rPr lang="en-US" sz="1400" dirty="0">
                          <a:latin typeface="Times New Roman" panose="02020603050405020304" pitchFamily="18" charset="0"/>
                          <a:cs typeface="Times New Roman" panose="02020603050405020304" pitchFamily="18" charset="0"/>
                        </a:rPr>
                        <a:t> </a:t>
                      </a:r>
                      <a:r>
                        <a:rPr lang="it-IT" sz="1400" dirty="0">
                          <a:latin typeface="Times New Roman" panose="02020603050405020304" pitchFamily="18" charset="0"/>
                          <a:cs typeface="Times New Roman" panose="02020603050405020304" pitchFamily="18" charset="0"/>
                        </a:rPr>
                        <a:t>A Bertaccini., I Braschi., F Spinelli. </a:t>
                      </a:r>
                      <a:endParaRPr lang="it-IT" sz="1400" dirty="0">
                        <a:latin typeface="Times New Roman" panose="02020603050405020304" pitchFamily="18" charset="0"/>
                        <a:cs typeface="Times New Roman" panose="02020603050405020304" pitchFamily="18" charset="0"/>
                      </a:endParaRPr>
                    </a:p>
                    <a:p>
                      <a:pPr algn="just"/>
                      <a:r>
                        <a:rPr lang="en-US" sz="1400" i="0" dirty="0">
                          <a:latin typeface="Times New Roman" panose="02020603050405020304" pitchFamily="18" charset="0"/>
                          <a:cs typeface="Times New Roman" panose="02020603050405020304" pitchFamily="18" charset="0"/>
                        </a:rPr>
                        <a:t>MDPI Chemical Sensors</a:t>
                      </a:r>
                      <a:endParaRPr lang="en-US" sz="1400" i="0" dirty="0">
                        <a:latin typeface="Times New Roman" panose="02020603050405020304" pitchFamily="18" charset="0"/>
                        <a:cs typeface="Times New Roman" panose="02020603050405020304" pitchFamily="18" charset="0"/>
                      </a:endParaRPr>
                    </a:p>
                    <a:p>
                      <a:pPr algn="just"/>
                      <a:r>
                        <a:rPr lang="en-US" sz="1400" i="0" dirty="0">
                          <a:solidFill>
                            <a:schemeClr val="tx1"/>
                          </a:solidFill>
                          <a:latin typeface="Times New Roman" panose="02020603050405020304" pitchFamily="18" charset="0"/>
                          <a:cs typeface="Times New Roman" panose="02020603050405020304" pitchFamily="18" charset="0"/>
                        </a:rPr>
                        <a:t>(2017)</a:t>
                      </a:r>
                      <a:endParaRPr lang="en-IN" sz="1400" i="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just"/>
                      <a:r>
                        <a:rPr lang="en-US" sz="1400" dirty="0">
                          <a:latin typeface="Times New Roman" panose="02020603050405020304" pitchFamily="18" charset="0"/>
                          <a:cs typeface="Times New Roman" panose="02020603050405020304" pitchFamily="18" charset="0"/>
                        </a:rPr>
                        <a:t>Potential Applications and Limitations of Electronic Nose Devices for Plant Disease Diagnosis. </a:t>
                      </a:r>
                      <a:endParaRPr lang="en-US" sz="1400" b="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sz="1400" b="0" u="none" strike="noStrike" kern="1200" baseline="0" dirty="0">
                          <a:solidFill>
                            <a:schemeClr val="tx1"/>
                          </a:solidFill>
                          <a:latin typeface="Times New Roman" panose="02020603050405020304" pitchFamily="18" charset="0"/>
                          <a:ea typeface="+mn-ea"/>
                          <a:cs typeface="Times New Roman" panose="02020603050405020304" pitchFamily="18" charset="0"/>
                        </a:rPr>
                        <a:t>Electronic nose technology for detecting plant diseases and pests by analyzing VOCs.</a:t>
                      </a:r>
                      <a:endParaRPr sz="1400" b="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lstStyle/>
                    <a:p>
                      <a:pPr marL="0" indent="0" algn="just">
                        <a:buFont typeface="Arial" panose="020B0604020202020204" pitchFamily="34" charset="0"/>
                        <a:buNone/>
                      </a:pPr>
                      <a:r>
                        <a:rPr lang="en-IN" sz="1400" b="0" u="none" strike="noStrike" kern="1200" baseline="0">
                          <a:solidFill>
                            <a:schemeClr val="tx1"/>
                          </a:solidFill>
                          <a:ea typeface="+mn-ea"/>
                          <a:cs typeface="Times New Roman" panose="02020603050405020304" pitchFamily="18" charset="0"/>
                        </a:rPr>
                        <a:t>Lower sensitivity and specificity compared to more advanced microbiological and molecular methods.</a:t>
                      </a:r>
                      <a:endParaRPr lang="en-IN" sz="1400" b="0" u="none" strike="noStrike" kern="1200" baseline="0">
                        <a:solidFill>
                          <a:schemeClr val="tx1"/>
                        </a:solidFill>
                        <a:ea typeface="+mn-ea"/>
                        <a:cs typeface="Times New Roman" panose="02020603050405020304" pitchFamily="18" charset="0"/>
                      </a:endParaRPr>
                    </a:p>
                  </a:txBody>
                  <a:tcPr anchor="ct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000" b="1" dirty="0">
                <a:latin typeface="Times New Roman" panose="02020603050405020304" pitchFamily="18" charset="0"/>
                <a:cs typeface="Times New Roman" panose="02020603050405020304" pitchFamily="18" charset="0"/>
              </a:rPr>
              <a:t>INFERENCES FROM LITERATURE SURVEY</a:t>
            </a:r>
            <a:endParaRPr lang="en-IN" sz="3000"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0B95C9DD-446B-44F4-8B85-EC0BB3F20AE9}" type="datetime3">
              <a:rPr lang="en-US" smtClean="0"/>
            </a:fld>
            <a:endParaRPr lang="en-US"/>
          </a:p>
        </p:txBody>
      </p:sp>
      <p:sp>
        <p:nvSpPr>
          <p:cNvPr id="5" name="Footer Placeholder 4"/>
          <p:cNvSpPr>
            <a:spLocks noGrp="1"/>
          </p:cNvSpPr>
          <p:nvPr>
            <p:ph type="ftr" sz="quarter" idx="11"/>
          </p:nvPr>
        </p:nvSpPr>
        <p:spPr/>
        <p:txBody>
          <a:bodyPr/>
          <a:lstStyle/>
          <a:p>
            <a:r>
              <a:rPr lang="en-US" dirty="0"/>
              <a:t>School of Computing - CSE-</a:t>
            </a:r>
            <a:r>
              <a:rPr lang="en-US" dirty="0" err="1"/>
              <a:t>IoT</a:t>
            </a:r>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dirty="0"/>
          </a:p>
        </p:txBody>
      </p:sp>
      <p:graphicFrame>
        <p:nvGraphicFramePr>
          <p:cNvPr id="8" name="Table 4"/>
          <p:cNvGraphicFramePr>
            <a:graphicFrameLocks noGrp="1"/>
          </p:cNvGraphicFramePr>
          <p:nvPr/>
        </p:nvGraphicFramePr>
        <p:xfrm>
          <a:off x="457200" y="1447800"/>
          <a:ext cx="8229601" cy="8427720"/>
        </p:xfrm>
        <a:graphic>
          <a:graphicData uri="http://schemas.openxmlformats.org/drawingml/2006/table">
            <a:tbl>
              <a:tblPr firstRow="1" bandRow="1">
                <a:tableStyleId>{5940675A-B579-460E-94D1-54222C63F5DA}</a:tableStyleId>
              </a:tblPr>
              <a:tblGrid>
                <a:gridCol w="1784374"/>
                <a:gridCol w="1939537"/>
                <a:gridCol w="2075896"/>
                <a:gridCol w="2429794"/>
              </a:tblGrid>
              <a:tr h="304800">
                <a:tc>
                  <a:txBody>
                    <a:bodyPr/>
                    <a:lstStyle/>
                    <a:p>
                      <a:pPr algn="just"/>
                      <a:r>
                        <a:rPr lang="en-IN" sz="1400" b="1" dirty="0">
                          <a:solidFill>
                            <a:schemeClr val="tx1"/>
                          </a:solidFill>
                          <a:latin typeface="Times New Roman" panose="02020603050405020304" pitchFamily="18" charset="0"/>
                          <a:cs typeface="Times New Roman" panose="02020603050405020304" pitchFamily="18" charset="0"/>
                        </a:rPr>
                        <a:t>Author &amp; Journal name</a:t>
                      </a:r>
                      <a:endParaRPr lang="en-IN" sz="1400" b="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just"/>
                      <a:r>
                        <a:rPr lang="en-IN" sz="1400" b="1" dirty="0">
                          <a:solidFill>
                            <a:schemeClr val="tx1"/>
                          </a:solidFill>
                          <a:latin typeface="Times New Roman" panose="02020603050405020304" pitchFamily="18" charset="0"/>
                          <a:cs typeface="Times New Roman" panose="02020603050405020304" pitchFamily="18" charset="0"/>
                        </a:rPr>
                        <a:t>Title</a:t>
                      </a:r>
                      <a:endParaRPr lang="en-IN" sz="1400" b="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just"/>
                      <a:r>
                        <a:rPr lang="en-IN" sz="1400" b="1" dirty="0">
                          <a:solidFill>
                            <a:schemeClr val="tx1"/>
                          </a:solidFill>
                          <a:latin typeface="Times New Roman" panose="02020603050405020304" pitchFamily="18" charset="0"/>
                          <a:cs typeface="Times New Roman" panose="02020603050405020304" pitchFamily="18" charset="0"/>
                        </a:rPr>
                        <a:t>Existing techniques</a:t>
                      </a:r>
                      <a:endParaRPr lang="en-IN" sz="1400" b="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just"/>
                      <a:r>
                        <a:rPr lang="en-IN" sz="1400" b="1" dirty="0">
                          <a:solidFill>
                            <a:schemeClr val="tx1"/>
                          </a:solidFill>
                          <a:latin typeface="Times New Roman" panose="02020603050405020304" pitchFamily="18" charset="0"/>
                          <a:cs typeface="Times New Roman" panose="02020603050405020304" pitchFamily="18" charset="0"/>
                        </a:rPr>
                        <a:t>Drawbacks</a:t>
                      </a:r>
                      <a:endParaRPr lang="en-IN" sz="1400" b="1" dirty="0">
                        <a:solidFill>
                          <a:schemeClr val="tx1"/>
                        </a:solidFill>
                        <a:latin typeface="Times New Roman" panose="02020603050405020304" pitchFamily="18" charset="0"/>
                        <a:cs typeface="Times New Roman" panose="02020603050405020304" pitchFamily="18" charset="0"/>
                      </a:endParaRPr>
                    </a:p>
                  </a:txBody>
                  <a:tcPr anchor="ctr"/>
                </a:tc>
              </a:tr>
              <a:tr h="304800">
                <a:tc>
                  <a:txBody>
                    <a:bodyPr/>
                    <a:p>
                      <a:pPr algn="just"/>
                      <a:r>
                        <a:rPr lang="en-US" sz="1400" dirty="0" err="1">
                          <a:latin typeface="Times New Roman" panose="02020603050405020304" pitchFamily="18" charset="0"/>
                          <a:cs typeface="Times New Roman" panose="02020603050405020304" pitchFamily="18" charset="0"/>
                        </a:rPr>
                        <a:t>Markom</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Shakaff</a:t>
                      </a:r>
                      <a:r>
                        <a:rPr lang="en-US" sz="1400" dirty="0">
                          <a:latin typeface="Times New Roman" panose="02020603050405020304" pitchFamily="18" charset="0"/>
                          <a:cs typeface="Times New Roman" panose="02020603050405020304" pitchFamily="18" charset="0"/>
                        </a:rPr>
                        <a:t>., Adom., Ahmad., </a:t>
                      </a:r>
                      <a:r>
                        <a:rPr lang="en-US" sz="1400" dirty="0" err="1">
                          <a:latin typeface="Times New Roman" panose="02020603050405020304" pitchFamily="18" charset="0"/>
                          <a:cs typeface="Times New Roman" panose="02020603050405020304" pitchFamily="18" charset="0"/>
                        </a:rPr>
                        <a:t>Hidayat</a:t>
                      </a:r>
                      <a:r>
                        <a:rPr lang="en-US" sz="1400" dirty="0">
                          <a:latin typeface="Times New Roman" panose="02020603050405020304" pitchFamily="18" charset="0"/>
                          <a:cs typeface="Times New Roman" panose="02020603050405020304" pitchFamily="18" charset="0"/>
                        </a:rPr>
                        <a:t>., Abdullah., Ahmad </a:t>
                      </a:r>
                      <a:r>
                        <a:rPr lang="en-US" sz="1400" dirty="0" err="1">
                          <a:latin typeface="Times New Roman" panose="02020603050405020304" pitchFamily="18" charset="0"/>
                          <a:cs typeface="Times New Roman" panose="02020603050405020304" pitchFamily="18" charset="0"/>
                        </a:rPr>
                        <a:t>Fikiri</a:t>
                      </a:r>
                      <a:r>
                        <a:rPr lang="en-US" sz="1400" dirty="0">
                          <a:latin typeface="Times New Roman" panose="02020603050405020304" pitchFamily="18" charset="0"/>
                          <a:cs typeface="Times New Roman" panose="02020603050405020304" pitchFamily="18" charset="0"/>
                        </a:rPr>
                        <a:t>. </a:t>
                      </a:r>
                      <a:endParaRPr lang="en-US" sz="1400" dirty="0">
                        <a:latin typeface="Times New Roman" panose="02020603050405020304" pitchFamily="18" charset="0"/>
                        <a:cs typeface="Times New Roman" panose="02020603050405020304" pitchFamily="18" charset="0"/>
                      </a:endParaRPr>
                    </a:p>
                    <a:p>
                      <a:pPr algn="just"/>
                      <a:r>
                        <a:rPr lang="en-US" sz="1400" i="0" dirty="0">
                          <a:latin typeface="Times New Roman" panose="02020603050405020304" pitchFamily="18" charset="0"/>
                          <a:cs typeface="Times New Roman" panose="02020603050405020304" pitchFamily="18" charset="0"/>
                        </a:rPr>
                        <a:t>SD Computing and Electronics in Agriculture</a:t>
                      </a:r>
                      <a:endParaRPr lang="en-IN" sz="1400" i="0" dirty="0">
                        <a:solidFill>
                          <a:schemeClr val="tx1"/>
                        </a:solidFill>
                        <a:latin typeface="Times New Roman" panose="02020603050405020304" pitchFamily="18" charset="0"/>
                        <a:cs typeface="Times New Roman" panose="02020603050405020304" pitchFamily="18" charset="0"/>
                      </a:endParaRPr>
                    </a:p>
                    <a:p>
                      <a:pPr algn="just"/>
                      <a:r>
                        <a:rPr lang="en-IN" sz="1400" i="0" dirty="0">
                          <a:solidFill>
                            <a:schemeClr val="tx1"/>
                          </a:solidFill>
                          <a:latin typeface="Times New Roman" panose="02020603050405020304" pitchFamily="18" charset="0"/>
                          <a:cs typeface="Times New Roman" panose="02020603050405020304" pitchFamily="18" charset="0"/>
                        </a:rPr>
                        <a:t>(2009).</a:t>
                      </a:r>
                      <a:r>
                        <a:rPr lang="en-IN" sz="1400" dirty="0">
                          <a:solidFill>
                            <a:schemeClr val="tx1"/>
                          </a:solidFill>
                          <a:latin typeface="Times New Roman" panose="02020603050405020304" pitchFamily="18" charset="0"/>
                          <a:cs typeface="Times New Roman" panose="02020603050405020304" pitchFamily="18" charset="0"/>
                        </a:rPr>
                        <a:t> </a:t>
                      </a:r>
                      <a:endParaRPr lang="en-IN" sz="1400" dirty="0">
                        <a:solidFill>
                          <a:schemeClr val="tx1"/>
                        </a:solidFill>
                        <a:latin typeface="Times New Roman" panose="02020603050405020304" pitchFamily="18" charset="0"/>
                        <a:cs typeface="Times New Roman" panose="02020603050405020304" pitchFamily="18" charset="0"/>
                      </a:endParaRPr>
                    </a:p>
                  </a:txBody>
                  <a:tcPr anchor="ctr"/>
                </a:tc>
                <a:tc>
                  <a:txBody>
                    <a:bodyPr/>
                    <a:p>
                      <a:pPr algn="just"/>
                      <a:r>
                        <a:rPr lang="en-US" sz="1400" dirty="0">
                          <a:latin typeface="Times New Roman" panose="02020603050405020304" pitchFamily="18" charset="0"/>
                          <a:cs typeface="Times New Roman" panose="02020603050405020304" pitchFamily="18" charset="0"/>
                        </a:rPr>
                        <a:t>Intelligent electronic nose system for basal stem rot disease detection.</a:t>
                      </a:r>
                      <a:r>
                        <a:rPr lang="en-US" sz="1400" i="0" dirty="0">
                          <a:latin typeface="Times New Roman" panose="02020603050405020304" pitchFamily="18" charset="0"/>
                          <a:cs typeface="Times New Roman" panose="02020603050405020304" pitchFamily="18" charset="0"/>
                        </a:rPr>
                        <a:t> </a:t>
                      </a:r>
                      <a:endParaRPr lang="en-US" sz="1400" b="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p>
                      <a:pPr marL="0" marR="0" lvl="0" indent="0" algn="just" defTabSz="914400" rtl="0" eaLnBrk="1" fontAlgn="auto" latinLnBrk="0" hangingPunct="1">
                        <a:lnSpc>
                          <a:spcPct val="100000"/>
                        </a:lnSpc>
                        <a:spcBef>
                          <a:spcPts val="0"/>
                        </a:spcBef>
                        <a:spcAft>
                          <a:spcPts val="0"/>
                        </a:spcAft>
                        <a:buClrTx/>
                        <a:buSzTx/>
                        <a:buFontTx/>
                        <a:buNone/>
                        <a:defRPr/>
                      </a:pPr>
                      <a:r>
                        <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rPr>
                        <a:t>Visual inspection and human olfactory assessment.</a:t>
                      </a:r>
                      <a:endPar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p>
                      <a:pPr marL="0" indent="0" algn="just">
                        <a:buFont typeface="Arial" panose="020B0604020202020204" pitchFamily="34" charset="0"/>
                        <a:buNone/>
                      </a:pPr>
                      <a:r>
                        <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rPr>
                        <a:t>Inconsistent, prone to human error, and not scalable.</a:t>
                      </a:r>
                      <a:endPar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nchor="ctr"/>
                </a:tc>
              </a:tr>
              <a:tr h="304800">
                <a:tc>
                  <a:txBody>
                    <a:bodyPr/>
                    <a:p>
                      <a:pPr algn="just"/>
                      <a:r>
                        <a:rPr lang="en-US" sz="1400" dirty="0">
                          <a:latin typeface="Times New Roman" panose="02020603050405020304" pitchFamily="18" charset="0"/>
                          <a:cs typeface="Times New Roman" panose="02020603050405020304" pitchFamily="18" charset="0"/>
                        </a:rPr>
                        <a:t>Z Zheng., C Zhang. </a:t>
                      </a:r>
                      <a:endParaRPr lang="en-US" sz="1400" dirty="0">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defRPr/>
                      </a:pPr>
                      <a:r>
                        <a:rPr lang="en-US" sz="1400" i="0" dirty="0">
                          <a:latin typeface="Times New Roman" panose="02020603050405020304" pitchFamily="18" charset="0"/>
                          <a:cs typeface="Times New Roman" panose="02020603050405020304" pitchFamily="18" charset="0"/>
                        </a:rPr>
                        <a:t>SD Computing and Electronics in Agriculture</a:t>
                      </a:r>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(2022). </a:t>
                      </a:r>
                      <a:endParaRPr lang="en-US" sz="1400" dirty="0">
                        <a:solidFill>
                          <a:schemeClr val="tx1"/>
                        </a:solidFill>
                        <a:latin typeface="Times New Roman" panose="02020603050405020304" pitchFamily="18" charset="0"/>
                        <a:cs typeface="Times New Roman" panose="02020603050405020304" pitchFamily="18" charset="0"/>
                      </a:endParaRPr>
                    </a:p>
                  </a:txBody>
                  <a:tcPr anchor="ctr"/>
                </a:tc>
                <a:tc>
                  <a:txBody>
                    <a:bodyPr/>
                    <a:p>
                      <a:pPr algn="just"/>
                      <a:r>
                        <a:rPr lang="en-US" sz="1400" dirty="0">
                          <a:latin typeface="Times New Roman" panose="02020603050405020304" pitchFamily="18" charset="0"/>
                          <a:cs typeface="Times New Roman" panose="02020603050405020304" pitchFamily="18" charset="0"/>
                        </a:rPr>
                        <a:t>Electronic noses based on metal oxide semiconductor sensors for detecting crop diseases and insect pests</a:t>
                      </a:r>
                      <a:endParaRPr lang="en-US" sz="1400" b="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p>
                      <a:pPr marL="0" marR="0" lvl="0" indent="0" algn="just" defTabSz="914400" rtl="0" eaLnBrk="1" fontAlgn="auto" latinLnBrk="0" hangingPunct="1">
                        <a:lnSpc>
                          <a:spcPct val="100000"/>
                        </a:lnSpc>
                        <a:spcBef>
                          <a:spcPts val="0"/>
                        </a:spcBef>
                        <a:spcAft>
                          <a:spcPts val="0"/>
                        </a:spcAft>
                        <a:buClrTx/>
                        <a:buSzTx/>
                        <a:buFontTx/>
                        <a:buNone/>
                        <a:defRPr/>
                      </a:pPr>
                      <a:r>
                        <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rPr>
                        <a:t>Visual inspection and manual sampling.</a:t>
                      </a:r>
                      <a:endPar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p>
                      <a:pPr marL="0" indent="0" algn="just">
                        <a:buFont typeface="Arial" panose="020B0604020202020204" pitchFamily="34" charset="0"/>
                        <a:buNone/>
                      </a:pPr>
                      <a:r>
                        <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rPr>
                        <a:t>Time-consuming, labor-intensive, and potentially inaccurate.</a:t>
                      </a:r>
                      <a:endPar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nchor="ctr"/>
                </a:tc>
              </a:tr>
              <a:tr h="304800">
                <a:tc>
                  <a:txBody>
                    <a:bodyPr/>
                    <a:p>
                      <a:pPr algn="just"/>
                      <a:r>
                        <a:rPr lang="en-US" sz="1400" dirty="0">
                          <a:latin typeface="Times New Roman" panose="02020603050405020304" pitchFamily="18" charset="0"/>
                          <a:cs typeface="Times New Roman" panose="02020603050405020304" pitchFamily="18" charset="0"/>
                        </a:rPr>
                        <a:t>B Zhou., J Wang.  International Journal of Agriculture and Bology</a:t>
                      </a:r>
                      <a:r>
                        <a:rPr lang="it-IT" sz="1400" dirty="0">
                          <a:latin typeface="Times New Roman" panose="02020603050405020304" pitchFamily="18" charset="0"/>
                          <a:cs typeface="Times New Roman" panose="02020603050405020304" pitchFamily="18" charset="0"/>
                        </a:rPr>
                        <a:t> </a:t>
                      </a:r>
                      <a:endParaRPr lang="it-IT" sz="1400" dirty="0">
                        <a:latin typeface="Times New Roman" panose="02020603050405020304" pitchFamily="18" charset="0"/>
                        <a:cs typeface="Times New Roman" panose="02020603050405020304" pitchFamily="18" charset="0"/>
                      </a:endParaRPr>
                    </a:p>
                    <a:p>
                      <a:pPr algn="just"/>
                      <a:r>
                        <a:rPr lang="en-US" altLang="en-IN" sz="1400" i="0" dirty="0">
                          <a:solidFill>
                            <a:schemeClr val="tx1"/>
                          </a:solidFill>
                          <a:latin typeface="Times New Roman" panose="02020603050405020304" pitchFamily="18" charset="0"/>
                          <a:cs typeface="Times New Roman" panose="02020603050405020304" pitchFamily="18" charset="0"/>
                        </a:rPr>
                        <a:t>(2011).</a:t>
                      </a:r>
                      <a:endParaRPr lang="en-US" altLang="en-IN" sz="1400" i="0" dirty="0">
                        <a:solidFill>
                          <a:schemeClr val="tx1"/>
                        </a:solidFill>
                        <a:latin typeface="Times New Roman" panose="02020603050405020304" pitchFamily="18" charset="0"/>
                        <a:cs typeface="Times New Roman" panose="02020603050405020304" pitchFamily="18" charset="0"/>
                      </a:endParaRPr>
                    </a:p>
                  </a:txBody>
                  <a:tcPr anchor="ctr"/>
                </a:tc>
                <a:tc>
                  <a:txBody>
                    <a:bodyPr/>
                    <a:p>
                      <a:pPr algn="just"/>
                      <a:r>
                        <a:rPr lang="en-US" sz="1400" dirty="0">
                          <a:latin typeface="Times New Roman" panose="02020603050405020304" pitchFamily="18" charset="0"/>
                          <a:cs typeface="Times New Roman" panose="02020603050405020304" pitchFamily="18" charset="0"/>
                          <a:sym typeface="+mn-ea"/>
                        </a:rPr>
                        <a:t>Detection of Insect Infestations in Paddy Field using an Electronic Nose.</a:t>
                      </a:r>
                      <a:endParaRPr lang="en-US" sz="1400" b="0" u="none" strike="noStrike" kern="1200" baseline="0" dirty="0">
                        <a:solidFill>
                          <a:schemeClr val="tx1"/>
                        </a:solidFill>
                        <a:latin typeface="Times New Roman" panose="02020603050405020304" pitchFamily="18" charset="0"/>
                        <a:ea typeface="+mn-ea"/>
                        <a:cs typeface="Times New Roman" panose="02020603050405020304" pitchFamily="18" charset="0"/>
                        <a:sym typeface="+mn-ea"/>
                      </a:endParaRPr>
                    </a:p>
                  </a:txBody>
                  <a:tcPr anchor="ctr"/>
                </a:tc>
                <a:tc>
                  <a:txBody>
                    <a:bodyPr/>
                    <a:p>
                      <a:pPr marL="0" marR="0" lvl="0" indent="0" algn="just" defTabSz="914400" rtl="0" eaLnBrk="1" fontAlgn="auto" latinLnBrk="0" hangingPunct="1">
                        <a:lnSpc>
                          <a:spcPct val="100000"/>
                        </a:lnSpc>
                        <a:spcBef>
                          <a:spcPts val="0"/>
                        </a:spcBef>
                        <a:spcAft>
                          <a:spcPts val="0"/>
                        </a:spcAft>
                        <a:buClrTx/>
                        <a:buSzTx/>
                        <a:buFontTx/>
                        <a:buNone/>
                        <a:defRPr/>
                      </a:pPr>
                      <a:r>
                        <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rPr>
                        <a:t>Visual inspection and manual sampling.</a:t>
                      </a:r>
                      <a:endPar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p>
                      <a:pPr marL="0" indent="0" algn="just">
                        <a:buFont typeface="Arial" panose="020B0604020202020204" pitchFamily="34" charset="0"/>
                        <a:buNone/>
                      </a:pPr>
                      <a:r>
                        <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rPr>
                        <a:t>Time-consuming, labor-intensive, and potentially inaccurate.</a:t>
                      </a:r>
                      <a:endPar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nchor="ct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000" b="1" dirty="0">
                <a:latin typeface="Times New Roman" panose="02020603050405020304" pitchFamily="18" charset="0"/>
                <a:cs typeface="Times New Roman" panose="02020603050405020304" pitchFamily="18" charset="0"/>
              </a:rPr>
              <a:t>INFERENCES FROM LITERATURE SURVEY</a:t>
            </a:r>
            <a:endParaRPr lang="en-IN" sz="3000"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0B95C9DD-446B-44F4-8B85-EC0BB3F20AE9}" type="datetime3">
              <a:rPr lang="en-US" smtClean="0"/>
            </a:fld>
            <a:endParaRPr lang="en-US"/>
          </a:p>
        </p:txBody>
      </p:sp>
      <p:sp>
        <p:nvSpPr>
          <p:cNvPr id="5" name="Footer Placeholder 4"/>
          <p:cNvSpPr>
            <a:spLocks noGrp="1"/>
          </p:cNvSpPr>
          <p:nvPr>
            <p:ph type="ftr" sz="quarter" idx="11"/>
          </p:nvPr>
        </p:nvSpPr>
        <p:spPr/>
        <p:txBody>
          <a:bodyPr/>
          <a:lstStyle/>
          <a:p>
            <a:r>
              <a:rPr lang="en-US" dirty="0"/>
              <a:t>School of Computing - CSE-</a:t>
            </a:r>
            <a:r>
              <a:rPr lang="en-US" dirty="0" err="1"/>
              <a:t>IoT</a:t>
            </a:r>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dirty="0"/>
          </a:p>
        </p:txBody>
      </p:sp>
      <p:graphicFrame>
        <p:nvGraphicFramePr>
          <p:cNvPr id="8" name="Table 4"/>
          <p:cNvGraphicFramePr>
            <a:graphicFrameLocks noGrp="1"/>
          </p:cNvGraphicFramePr>
          <p:nvPr/>
        </p:nvGraphicFramePr>
        <p:xfrm>
          <a:off x="457200" y="1295400"/>
          <a:ext cx="8229601" cy="7757160"/>
        </p:xfrm>
        <a:graphic>
          <a:graphicData uri="http://schemas.openxmlformats.org/drawingml/2006/table">
            <a:tbl>
              <a:tblPr firstRow="1" bandRow="1">
                <a:tableStyleId>{5940675A-B579-460E-94D1-54222C63F5DA}</a:tableStyleId>
              </a:tblPr>
              <a:tblGrid>
                <a:gridCol w="1784374"/>
                <a:gridCol w="1939537"/>
                <a:gridCol w="2075896"/>
                <a:gridCol w="2429794"/>
              </a:tblGrid>
              <a:tr h="304800">
                <a:tc>
                  <a:txBody>
                    <a:bodyPr/>
                    <a:lstStyle/>
                    <a:p>
                      <a:pPr algn="just"/>
                      <a:r>
                        <a:rPr lang="en-IN" sz="1400" b="1" dirty="0">
                          <a:solidFill>
                            <a:schemeClr val="tx1"/>
                          </a:solidFill>
                          <a:latin typeface="Times New Roman" panose="02020603050405020304" pitchFamily="18" charset="0"/>
                          <a:cs typeface="Times New Roman" panose="02020603050405020304" pitchFamily="18" charset="0"/>
                        </a:rPr>
                        <a:t>Author &amp; Journal name</a:t>
                      </a:r>
                      <a:endParaRPr lang="en-IN" sz="1400" b="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just"/>
                      <a:r>
                        <a:rPr lang="en-IN" sz="1400" b="1" dirty="0">
                          <a:solidFill>
                            <a:schemeClr val="tx1"/>
                          </a:solidFill>
                          <a:latin typeface="Times New Roman" panose="02020603050405020304" pitchFamily="18" charset="0"/>
                          <a:cs typeface="Times New Roman" panose="02020603050405020304" pitchFamily="18" charset="0"/>
                        </a:rPr>
                        <a:t>Title</a:t>
                      </a:r>
                      <a:endParaRPr lang="en-IN" sz="1400" b="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just"/>
                      <a:r>
                        <a:rPr lang="en-IN" sz="1400" b="1" dirty="0">
                          <a:solidFill>
                            <a:schemeClr val="tx1"/>
                          </a:solidFill>
                          <a:latin typeface="Times New Roman" panose="02020603050405020304" pitchFamily="18" charset="0"/>
                          <a:cs typeface="Times New Roman" panose="02020603050405020304" pitchFamily="18" charset="0"/>
                        </a:rPr>
                        <a:t>Existing techniques</a:t>
                      </a:r>
                      <a:endParaRPr lang="en-IN" sz="1400" b="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just"/>
                      <a:r>
                        <a:rPr lang="en-IN" sz="1400" b="1" dirty="0">
                          <a:solidFill>
                            <a:schemeClr val="tx1"/>
                          </a:solidFill>
                          <a:latin typeface="Times New Roman" panose="02020603050405020304" pitchFamily="18" charset="0"/>
                          <a:cs typeface="Times New Roman" panose="02020603050405020304" pitchFamily="18" charset="0"/>
                        </a:rPr>
                        <a:t>Drawbacks</a:t>
                      </a:r>
                      <a:endParaRPr lang="en-IN" sz="1400" b="1" dirty="0">
                        <a:solidFill>
                          <a:schemeClr val="tx1"/>
                        </a:solidFill>
                        <a:latin typeface="Times New Roman" panose="02020603050405020304" pitchFamily="18" charset="0"/>
                        <a:cs typeface="Times New Roman" panose="02020603050405020304" pitchFamily="18" charset="0"/>
                      </a:endParaRPr>
                    </a:p>
                  </a:txBody>
                  <a:tcPr anchor="ctr"/>
                </a:tc>
              </a:tr>
              <a:tr h="304800">
                <a:tc>
                  <a:txBody>
                    <a:bodyPr/>
                    <a:p>
                      <a:pPr algn="just"/>
                      <a:r>
                        <a:rPr lang="en-IN" sz="1400" dirty="0" err="1">
                          <a:latin typeface="Times New Roman" panose="02020603050405020304" pitchFamily="18" charset="0"/>
                          <a:cs typeface="Times New Roman" panose="02020603050405020304" pitchFamily="18" charset="0"/>
                        </a:rPr>
                        <a:t>Jullada</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L</a:t>
                      </a:r>
                      <a:r>
                        <a:rPr lang="en-IN" sz="1400" dirty="0">
                          <a:latin typeface="Times New Roman" panose="02020603050405020304" pitchFamily="18" charset="0"/>
                          <a:cs typeface="Times New Roman" panose="02020603050405020304" pitchFamily="18" charset="0"/>
                        </a:rPr>
                        <a:t>., Jason P. Moore., Jane E. Taylor., Malcolm </a:t>
                      </a:r>
                      <a:r>
                        <a:rPr lang="en-IN" sz="1400" dirty="0" err="1">
                          <a:latin typeface="Times New Roman" panose="02020603050405020304" pitchFamily="18" charset="0"/>
                          <a:cs typeface="Times New Roman" panose="02020603050405020304" pitchFamily="18" charset="0"/>
                        </a:rPr>
                        <a:t>Possell</a:t>
                      </a:r>
                      <a:r>
                        <a:rPr lang="en-IN" sz="1400" dirty="0">
                          <a:latin typeface="Times New Roman" panose="02020603050405020304" pitchFamily="18" charset="0"/>
                          <a:cs typeface="Times New Roman" panose="02020603050405020304" pitchFamily="18" charset="0"/>
                        </a:rPr>
                        <a:t>., Tim D. Gibson., C. Nicholas Hewitt., Nigel D. Paul. </a:t>
                      </a:r>
                      <a:endParaRPr lang="en-IN" sz="1400" dirty="0">
                        <a:latin typeface="Times New Roman" panose="02020603050405020304" pitchFamily="18" charset="0"/>
                        <a:cs typeface="Times New Roman" panose="02020603050405020304" pitchFamily="18" charset="0"/>
                      </a:endParaRPr>
                    </a:p>
                    <a:p>
                      <a:pPr algn="just"/>
                      <a:r>
                        <a:rPr lang="en-US" sz="1400" i="0" dirty="0">
                          <a:latin typeface="Times New Roman" panose="02020603050405020304" pitchFamily="18" charset="0"/>
                          <a:cs typeface="Times New Roman" panose="02020603050405020304" pitchFamily="18" charset="0"/>
                        </a:rPr>
                        <a:t>Environmental and science Tech.</a:t>
                      </a:r>
                      <a:endParaRPr lang="en-US" sz="1400" i="0" dirty="0">
                        <a:latin typeface="Times New Roman" panose="02020603050405020304" pitchFamily="18" charset="0"/>
                        <a:cs typeface="Times New Roman" panose="02020603050405020304" pitchFamily="18" charset="0"/>
                      </a:endParaRPr>
                    </a:p>
                    <a:p>
                      <a:pPr algn="just"/>
                      <a:r>
                        <a:rPr lang="en-US" sz="1400" i="0" dirty="0">
                          <a:solidFill>
                            <a:schemeClr val="tx1"/>
                          </a:solidFill>
                          <a:latin typeface="Times New Roman" panose="02020603050405020304" pitchFamily="18" charset="0"/>
                          <a:cs typeface="Times New Roman" panose="02020603050405020304" pitchFamily="18" charset="0"/>
                        </a:rPr>
                        <a:t>(2008).</a:t>
                      </a:r>
                      <a:endParaRPr lang="en-IN" sz="1400" i="0" dirty="0">
                        <a:solidFill>
                          <a:schemeClr val="tx1"/>
                        </a:solidFill>
                        <a:latin typeface="Times New Roman" panose="02020603050405020304" pitchFamily="18" charset="0"/>
                        <a:cs typeface="Times New Roman" panose="02020603050405020304" pitchFamily="18" charset="0"/>
                      </a:endParaRPr>
                    </a:p>
                  </a:txBody>
                  <a:tcPr anchor="ctr"/>
                </a:tc>
                <a:tc>
                  <a:txBody>
                    <a:bodyPr/>
                    <a:p>
                      <a:pPr algn="just"/>
                      <a:r>
                        <a:rPr lang="en-US" sz="1400" dirty="0">
                          <a:latin typeface="Times New Roman" panose="02020603050405020304" pitchFamily="18" charset="0"/>
                          <a:cs typeface="Times New Roman" panose="02020603050405020304" pitchFamily="18" charset="0"/>
                        </a:rPr>
                        <a:t>Discrimination of Plant Volatile Signatures by an Electronic Nose: A Potential Technology for Plant Pest and Disease Monitoring. </a:t>
                      </a:r>
                      <a:endParaRPr lang="en-US" sz="1400" b="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p>
                      <a:pPr marL="0" marR="0" lvl="0" indent="0" algn="just" defTabSz="914400" rtl="0" eaLnBrk="1" fontAlgn="auto" latinLnBrk="0" hangingPunct="1">
                        <a:lnSpc>
                          <a:spcPct val="100000"/>
                        </a:lnSpc>
                        <a:spcBef>
                          <a:spcPts val="0"/>
                        </a:spcBef>
                        <a:spcAft>
                          <a:spcPts val="0"/>
                        </a:spcAft>
                        <a:buClrTx/>
                        <a:buSzTx/>
                        <a:buFontTx/>
                        <a:buNone/>
                        <a:defRPr/>
                      </a:pPr>
                      <a:r>
                        <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rPr>
                        <a:t>Electronic nose to differentiate VOC profiles emitted by plants under various conditions.</a:t>
                      </a:r>
                      <a:endPar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p>
                      <a:pPr marL="0" indent="0" algn="just">
                        <a:buFont typeface="Arial" panose="020B0604020202020204" pitchFamily="34" charset="0"/>
                        <a:buNone/>
                      </a:pPr>
                      <a:r>
                        <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rPr>
                        <a:t>Difficulty in distinguishing similar VOC profiles and sensitivity to environmental changes</a:t>
                      </a:r>
                      <a:endPar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nchor="ctr"/>
                </a:tc>
              </a:tr>
              <a:tr h="304800">
                <a:tc>
                  <a:txBody>
                    <a:bodyPr/>
                    <a:p>
                      <a:pPr algn="just"/>
                      <a:r>
                        <a:rPr lang="en-US" sz="1400" dirty="0">
                          <a:latin typeface="Times New Roman" panose="02020603050405020304" pitchFamily="18" charset="0"/>
                          <a:cs typeface="Times New Roman" panose="02020603050405020304" pitchFamily="18" charset="0"/>
                          <a:sym typeface="+mn-ea"/>
                        </a:rPr>
                        <a:t>Bhagat., Sinha., Nandini M., K Mukherjee. WP Elect. Optical Materials</a:t>
                      </a:r>
                      <a:endParaRPr lang="en-US" sz="1400" dirty="0">
                        <a:latin typeface="Times New Roman" panose="02020603050405020304" pitchFamily="18" charset="0"/>
                        <a:cs typeface="Times New Roman" panose="02020603050405020304" pitchFamily="18" charset="0"/>
                        <a:sym typeface="+mn-ea"/>
                      </a:endParaRPr>
                    </a:p>
                    <a:p>
                      <a:pPr algn="just"/>
                      <a:r>
                        <a:rPr lang="en-US" sz="1400" dirty="0">
                          <a:latin typeface="Times New Roman" panose="02020603050405020304" pitchFamily="18" charset="0"/>
                          <a:cs typeface="Times New Roman" panose="02020603050405020304" pitchFamily="18" charset="0"/>
                          <a:sym typeface="+mn-ea"/>
                        </a:rPr>
                        <a:t>(2023).</a:t>
                      </a:r>
                      <a:endParaRPr lang="en-US" sz="1400" dirty="0">
                        <a:solidFill>
                          <a:schemeClr val="tx1"/>
                        </a:solidFill>
                        <a:latin typeface="Times New Roman" panose="02020603050405020304" pitchFamily="18" charset="0"/>
                        <a:cs typeface="Times New Roman" panose="02020603050405020304" pitchFamily="18" charset="0"/>
                        <a:sym typeface="+mn-ea"/>
                      </a:endParaRPr>
                    </a:p>
                  </a:txBody>
                  <a:tcPr anchor="ctr"/>
                </a:tc>
                <a:tc>
                  <a:txBody>
                    <a:bodyPr/>
                    <a:p>
                      <a:pPr algn="just"/>
                      <a:r>
                        <a:rPr lang="en-US" sz="1400" dirty="0">
                          <a:latin typeface="Times New Roman" panose="02020603050405020304" pitchFamily="18" charset="0"/>
                          <a:cs typeface="Times New Roman" panose="02020603050405020304" pitchFamily="18" charset="0"/>
                          <a:sym typeface="+mn-ea"/>
                        </a:rPr>
                        <a:t>11 - Sensors and electronic noses for the production of agricultural crops</a:t>
                      </a:r>
                      <a:endParaRPr lang="en-US" sz="1400" b="0" u="none" strike="noStrike" kern="1200" baseline="0" dirty="0">
                        <a:solidFill>
                          <a:schemeClr val="tx1"/>
                        </a:solidFill>
                        <a:latin typeface="Times New Roman" panose="02020603050405020304" pitchFamily="18" charset="0"/>
                        <a:ea typeface="+mn-ea"/>
                        <a:cs typeface="Times New Roman" panose="02020603050405020304" pitchFamily="18" charset="0"/>
                        <a:sym typeface="+mn-ea"/>
                      </a:endParaRPr>
                    </a:p>
                  </a:txBody>
                  <a:tcPr anchor="ctr"/>
                </a:tc>
                <a:tc>
                  <a:txBody>
                    <a:bodyPr/>
                    <a:p>
                      <a:pPr marL="0" marR="0" lvl="0" indent="0" algn="just" defTabSz="914400" rtl="0" eaLnBrk="1" fontAlgn="auto" latinLnBrk="0" hangingPunct="1">
                        <a:lnSpc>
                          <a:spcPct val="100000"/>
                        </a:lnSpc>
                        <a:spcBef>
                          <a:spcPts val="0"/>
                        </a:spcBef>
                        <a:spcAft>
                          <a:spcPts val="0"/>
                        </a:spcAft>
                        <a:buClrTx/>
                        <a:buSzTx/>
                        <a:buFontTx/>
                        <a:buNone/>
                        <a:defRPr/>
                      </a:pPr>
                      <a:r>
                        <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rPr>
                        <a:t>Electronic noses and various solid-state sensors to monitor field conditions, crop growth, and product quality.</a:t>
                      </a:r>
                      <a:endPar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p>
                      <a:pPr marL="0" indent="0" algn="just">
                        <a:buFont typeface="Arial" panose="020B0604020202020204" pitchFamily="34" charset="0"/>
                        <a:buNone/>
                      </a:pPr>
                      <a:r>
                        <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rPr>
                        <a:t>High cost of implementation and need for comprehensive calibration.</a:t>
                      </a:r>
                      <a:endPar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nchor="ctr"/>
                </a:tc>
              </a:tr>
              <a:tr h="762000">
                <a:tc>
                  <a:txBody>
                    <a:bodyPr/>
                    <a:p>
                      <a:pPr marL="0" marR="0" lvl="0" indent="0" algn="just" defTabSz="914400" rtl="0" eaLnBrk="1" fontAlgn="auto" latinLnBrk="0" hangingPunct="1">
                        <a:lnSpc>
                          <a:spcPct val="100000"/>
                        </a:lnSpc>
                        <a:spcBef>
                          <a:spcPts val="0"/>
                        </a:spcBef>
                        <a:spcAft>
                          <a:spcPts val="0"/>
                        </a:spcAft>
                        <a:buClrTx/>
                        <a:buSzTx/>
                        <a:buFontTx/>
                        <a:buNone/>
                        <a:defRPr/>
                      </a:pPr>
                      <a:r>
                        <a:rPr lang="en-US" sz="1400" dirty="0">
                          <a:latin typeface="Times New Roman" panose="02020603050405020304" pitchFamily="18" charset="0"/>
                          <a:cs typeface="Times New Roman" panose="02020603050405020304" pitchFamily="18" charset="0"/>
                          <a:sym typeface="+mn-ea"/>
                        </a:rPr>
                        <a:t>L </a:t>
                      </a:r>
                      <a:r>
                        <a:rPr lang="en-US" sz="1400" dirty="0" err="1">
                          <a:latin typeface="Times New Roman" panose="02020603050405020304" pitchFamily="18" charset="0"/>
                          <a:cs typeface="Times New Roman" panose="02020603050405020304" pitchFamily="18" charset="0"/>
                          <a:sym typeface="+mn-ea"/>
                        </a:rPr>
                        <a:t>Capelli</a:t>
                      </a:r>
                      <a:r>
                        <a:rPr lang="en-US" sz="1400" dirty="0">
                          <a:latin typeface="Times New Roman" panose="02020603050405020304" pitchFamily="18" charset="0"/>
                          <a:cs typeface="Times New Roman" panose="02020603050405020304" pitchFamily="18" charset="0"/>
                          <a:sym typeface="+mn-ea"/>
                        </a:rPr>
                        <a:t>., S Sironi., RD Rosso. MDPI State-of-the-</a:t>
                      </a:r>
                      <a:r>
                        <a:rPr lang="en-US" sz="1400" dirty="0" err="1">
                          <a:latin typeface="Times New Roman" panose="02020603050405020304" pitchFamily="18" charset="0"/>
                          <a:cs typeface="Times New Roman" panose="02020603050405020304" pitchFamily="18" charset="0"/>
                          <a:sym typeface="+mn-ea"/>
                        </a:rPr>
                        <a:t>ArtSensors</a:t>
                      </a:r>
                      <a:r>
                        <a:rPr lang="en-US" sz="1400" dirty="0">
                          <a:latin typeface="Times New Roman" panose="02020603050405020304" pitchFamily="18" charset="0"/>
                          <a:cs typeface="Times New Roman" panose="02020603050405020304" pitchFamily="18" charset="0"/>
                          <a:sym typeface="+mn-ea"/>
                        </a:rPr>
                        <a:t> Technology in Italy </a:t>
                      </a:r>
                      <a:endParaRPr lang="en-US" sz="1400" dirty="0">
                        <a:latin typeface="Times New Roman" panose="02020603050405020304" pitchFamily="18" charset="0"/>
                        <a:cs typeface="Times New Roman" panose="02020603050405020304" pitchFamily="18" charset="0"/>
                        <a:sym typeface="+mn-ea"/>
                      </a:endParaRPr>
                    </a:p>
                    <a:p>
                      <a:pPr marL="0" marR="0" lvl="0" indent="0" algn="just" defTabSz="914400" rtl="0" eaLnBrk="1" fontAlgn="auto" latinLnBrk="0" hangingPunct="1">
                        <a:lnSpc>
                          <a:spcPct val="100000"/>
                        </a:lnSpc>
                        <a:spcBef>
                          <a:spcPts val="0"/>
                        </a:spcBef>
                        <a:spcAft>
                          <a:spcPts val="0"/>
                        </a:spcAft>
                        <a:buClrTx/>
                        <a:buSzTx/>
                        <a:buFontTx/>
                        <a:buNone/>
                        <a:defRPr/>
                      </a:pPr>
                      <a:r>
                        <a:rPr lang="en-US" sz="1400" dirty="0">
                          <a:latin typeface="Times New Roman" panose="02020603050405020304" pitchFamily="18" charset="0"/>
                          <a:cs typeface="Times New Roman" panose="02020603050405020304" pitchFamily="18" charset="0"/>
                          <a:sym typeface="+mn-ea"/>
                        </a:rPr>
                        <a:t>(2014). </a:t>
                      </a:r>
                      <a:endParaRPr lang="en-US" sz="1400" dirty="0">
                        <a:solidFill>
                          <a:schemeClr val="tx1"/>
                        </a:solidFill>
                        <a:latin typeface="Times New Roman" panose="02020603050405020304" pitchFamily="18" charset="0"/>
                        <a:cs typeface="Times New Roman" panose="02020603050405020304" pitchFamily="18" charset="0"/>
                        <a:sym typeface="+mn-ea"/>
                      </a:endParaRPr>
                    </a:p>
                  </a:txBody>
                  <a:tcPr anchor="ctr"/>
                </a:tc>
                <a:tc>
                  <a:txBody>
                    <a:bodyPr/>
                    <a:p>
                      <a:pPr algn="just"/>
                      <a:r>
                        <a:rPr lang="en-US" sz="1400" dirty="0">
                          <a:latin typeface="Times New Roman" panose="02020603050405020304" pitchFamily="18" charset="0"/>
                          <a:cs typeface="Times New Roman" panose="02020603050405020304" pitchFamily="18" charset="0"/>
                          <a:sym typeface="+mn-ea"/>
                        </a:rPr>
                        <a:t>Electronic Noses for Environmental Monitoring Applications</a:t>
                      </a:r>
                      <a:endParaRPr lang="en-US" sz="1400" b="0" u="none" strike="noStrike" kern="1200" baseline="0" dirty="0">
                        <a:solidFill>
                          <a:schemeClr val="tx1"/>
                        </a:solidFill>
                        <a:latin typeface="Times New Roman" panose="02020603050405020304" pitchFamily="18" charset="0"/>
                        <a:ea typeface="+mn-ea"/>
                        <a:cs typeface="Times New Roman" panose="02020603050405020304" pitchFamily="18" charset="0"/>
                        <a:sym typeface="+mn-ea"/>
                      </a:endParaRPr>
                    </a:p>
                  </a:txBody>
                  <a:tcPr anchor="ctr"/>
                </a:tc>
                <a:tc>
                  <a:txBody>
                    <a:bodyPr/>
                    <a:p>
                      <a:pPr marL="0" marR="0" lvl="0" indent="0" algn="just" defTabSz="914400" rtl="0" eaLnBrk="1" fontAlgn="auto" latinLnBrk="0" hangingPunct="1">
                        <a:lnSpc>
                          <a:spcPct val="100000"/>
                        </a:lnSpc>
                        <a:spcBef>
                          <a:spcPts val="0"/>
                        </a:spcBef>
                        <a:spcAft>
                          <a:spcPts val="0"/>
                        </a:spcAft>
                        <a:buClrTx/>
                        <a:buSzTx/>
                        <a:buFontTx/>
                        <a:buNone/>
                        <a:defRPr/>
                      </a:pPr>
                      <a:r>
                        <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rPr>
                        <a:t>Electronic noses for detecting and distinguishing gases and odors in environmental monitoring.</a:t>
                      </a:r>
                      <a:endPar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p>
                      <a:pPr marL="0" indent="0" algn="just">
                        <a:buFont typeface="Arial" panose="020B0604020202020204" pitchFamily="34" charset="0"/>
                        <a:buNone/>
                      </a:pPr>
                      <a:r>
                        <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rPr>
                        <a:t> Complexity in sensor data interpretation and lack of standardization.</a:t>
                      </a:r>
                      <a:endPar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nchor="ct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000" b="1" dirty="0">
                <a:latin typeface="Times New Roman" panose="02020603050405020304" pitchFamily="18" charset="0"/>
                <a:cs typeface="Times New Roman" panose="02020603050405020304" pitchFamily="18" charset="0"/>
              </a:rPr>
              <a:t>INFERENCES FROM LITERATURE SURVEY</a:t>
            </a:r>
            <a:endParaRPr lang="en-IN" sz="3000"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0B95C9DD-446B-44F4-8B85-EC0BB3F20AE9}" type="datetime3">
              <a:rPr lang="en-US" smtClean="0"/>
            </a:fld>
            <a:endParaRPr lang="en-US"/>
          </a:p>
        </p:txBody>
      </p:sp>
      <p:sp>
        <p:nvSpPr>
          <p:cNvPr id="5" name="Footer Placeholder 4"/>
          <p:cNvSpPr>
            <a:spLocks noGrp="1"/>
          </p:cNvSpPr>
          <p:nvPr>
            <p:ph type="ftr" sz="quarter" idx="11"/>
          </p:nvPr>
        </p:nvSpPr>
        <p:spPr/>
        <p:txBody>
          <a:bodyPr/>
          <a:lstStyle/>
          <a:p>
            <a:r>
              <a:rPr lang="en-US" dirty="0"/>
              <a:t>School of Computing - CSE-</a:t>
            </a:r>
            <a:r>
              <a:rPr lang="en-US" dirty="0" err="1"/>
              <a:t>IoT</a:t>
            </a:r>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dirty="0"/>
          </a:p>
        </p:txBody>
      </p:sp>
      <p:graphicFrame>
        <p:nvGraphicFramePr>
          <p:cNvPr id="8" name="Table 4"/>
          <p:cNvGraphicFramePr>
            <a:graphicFrameLocks noGrp="1"/>
          </p:cNvGraphicFramePr>
          <p:nvPr/>
        </p:nvGraphicFramePr>
        <p:xfrm>
          <a:off x="457200" y="1371600"/>
          <a:ext cx="8229601" cy="7757160"/>
        </p:xfrm>
        <a:graphic>
          <a:graphicData uri="http://schemas.openxmlformats.org/drawingml/2006/table">
            <a:tbl>
              <a:tblPr firstRow="1" bandRow="1">
                <a:tableStyleId>{5940675A-B579-460E-94D1-54222C63F5DA}</a:tableStyleId>
              </a:tblPr>
              <a:tblGrid>
                <a:gridCol w="1784374"/>
                <a:gridCol w="1939537"/>
                <a:gridCol w="2075896"/>
                <a:gridCol w="2429794"/>
              </a:tblGrid>
              <a:tr h="304800">
                <a:tc>
                  <a:txBody>
                    <a:bodyPr/>
                    <a:lstStyle/>
                    <a:p>
                      <a:pPr algn="just"/>
                      <a:r>
                        <a:rPr lang="en-IN" sz="1400" b="1" dirty="0">
                          <a:solidFill>
                            <a:schemeClr val="tx1"/>
                          </a:solidFill>
                          <a:latin typeface="Times New Roman" panose="02020603050405020304" pitchFamily="18" charset="0"/>
                          <a:cs typeface="Times New Roman" panose="02020603050405020304" pitchFamily="18" charset="0"/>
                        </a:rPr>
                        <a:t>Author &amp; Journal name</a:t>
                      </a:r>
                      <a:endParaRPr lang="en-IN" sz="1400" b="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just"/>
                      <a:r>
                        <a:rPr lang="en-IN" sz="1400" b="1" dirty="0">
                          <a:solidFill>
                            <a:schemeClr val="tx1"/>
                          </a:solidFill>
                          <a:latin typeface="Times New Roman" panose="02020603050405020304" pitchFamily="18" charset="0"/>
                          <a:cs typeface="Times New Roman" panose="02020603050405020304" pitchFamily="18" charset="0"/>
                        </a:rPr>
                        <a:t>Title</a:t>
                      </a:r>
                      <a:endParaRPr lang="en-IN" sz="1400" b="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just"/>
                      <a:r>
                        <a:rPr lang="en-IN" sz="1400" b="1" dirty="0">
                          <a:solidFill>
                            <a:schemeClr val="tx1"/>
                          </a:solidFill>
                          <a:latin typeface="Times New Roman" panose="02020603050405020304" pitchFamily="18" charset="0"/>
                          <a:cs typeface="Times New Roman" panose="02020603050405020304" pitchFamily="18" charset="0"/>
                        </a:rPr>
                        <a:t>Existing techniques</a:t>
                      </a:r>
                      <a:endParaRPr lang="en-IN" sz="1400" b="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just"/>
                      <a:r>
                        <a:rPr lang="en-IN" sz="1400" b="1" dirty="0">
                          <a:solidFill>
                            <a:schemeClr val="tx1"/>
                          </a:solidFill>
                          <a:latin typeface="Times New Roman" panose="02020603050405020304" pitchFamily="18" charset="0"/>
                          <a:cs typeface="Times New Roman" panose="02020603050405020304" pitchFamily="18" charset="0"/>
                        </a:rPr>
                        <a:t>Drawbacks</a:t>
                      </a:r>
                      <a:endParaRPr lang="en-IN" sz="1400" b="1" dirty="0">
                        <a:solidFill>
                          <a:schemeClr val="tx1"/>
                        </a:solidFill>
                        <a:latin typeface="Times New Roman" panose="02020603050405020304" pitchFamily="18" charset="0"/>
                        <a:cs typeface="Times New Roman" panose="02020603050405020304" pitchFamily="18" charset="0"/>
                      </a:endParaRPr>
                    </a:p>
                  </a:txBody>
                  <a:tcPr anchor="ctr"/>
                </a:tc>
              </a:tr>
              <a:tr h="762000">
                <a:tc>
                  <a:txBody>
                    <a:bodyPr/>
                    <a:p>
                      <a:pPr marL="0" indent="0" algn="just">
                        <a:lnSpc>
                          <a:spcPct val="150000"/>
                        </a:lnSpc>
                        <a:buNone/>
                      </a:pPr>
                      <a:r>
                        <a:rPr lang="en-US" sz="1400" dirty="0">
                          <a:latin typeface="Times New Roman" panose="02020603050405020304" pitchFamily="18" charset="0"/>
                          <a:cs typeface="Times New Roman" panose="02020603050405020304" pitchFamily="18" charset="0"/>
                          <a:sym typeface="+mn-ea"/>
                        </a:rPr>
                        <a:t>G Lee., Q Wei., Y Zhu. Wiley  Advanced Functional Monitoring </a:t>
                      </a:r>
                      <a:endParaRPr lang="en-US" sz="1400" dirty="0">
                        <a:latin typeface="Times New Roman" panose="02020603050405020304" pitchFamily="18" charset="0"/>
                        <a:cs typeface="Times New Roman" panose="02020603050405020304" pitchFamily="18" charset="0"/>
                        <a:sym typeface="+mn-ea"/>
                      </a:endParaRPr>
                    </a:p>
                    <a:p>
                      <a:pPr marL="0" indent="0" algn="just">
                        <a:lnSpc>
                          <a:spcPct val="150000"/>
                        </a:lnSpc>
                        <a:buNone/>
                      </a:pPr>
                      <a:r>
                        <a:rPr lang="en-US" sz="1400" dirty="0">
                          <a:latin typeface="Times New Roman" panose="02020603050405020304" pitchFamily="18" charset="0"/>
                          <a:cs typeface="Times New Roman" panose="02020603050405020304" pitchFamily="18" charset="0"/>
                          <a:sym typeface="+mn-ea"/>
                        </a:rPr>
                        <a:t>(2021).</a:t>
                      </a:r>
                      <a:endParaRPr lang="en-US" sz="1400" dirty="0">
                        <a:latin typeface="Times New Roman" panose="02020603050405020304" pitchFamily="18" charset="0"/>
                        <a:cs typeface="Times New Roman" panose="02020603050405020304" pitchFamily="18" charset="0"/>
                        <a:sym typeface="+mn-ea"/>
                      </a:endParaRPr>
                    </a:p>
                  </a:txBody>
                  <a:tcPr anchor="ctr"/>
                </a:tc>
                <a:tc>
                  <a:txBody>
                    <a:bodyPr/>
                    <a:p>
                      <a:pPr algn="just"/>
                      <a:r>
                        <a:rPr lang="en-US" sz="1400" dirty="0">
                          <a:latin typeface="Times New Roman" panose="02020603050405020304" pitchFamily="18" charset="0"/>
                          <a:cs typeface="Times New Roman" panose="02020603050405020304" pitchFamily="18" charset="0"/>
                          <a:sym typeface="+mn-ea"/>
                        </a:rPr>
                        <a:t>Emerging Wearable Sensors for Plant Health Monitoring</a:t>
                      </a:r>
                      <a:endParaRPr lang="en-US" sz="1400" b="0" u="none" strike="noStrike" kern="1200" baseline="0" dirty="0">
                        <a:solidFill>
                          <a:schemeClr val="tx1"/>
                        </a:solidFill>
                        <a:latin typeface="Times New Roman" panose="02020603050405020304" pitchFamily="18" charset="0"/>
                        <a:ea typeface="+mn-ea"/>
                        <a:cs typeface="Times New Roman" panose="02020603050405020304" pitchFamily="18" charset="0"/>
                        <a:sym typeface="+mn-ea"/>
                      </a:endParaRPr>
                    </a:p>
                  </a:txBody>
                  <a:tcPr anchor="ctr"/>
                </a:tc>
                <a:tc>
                  <a:txBody>
                    <a:bodyPr/>
                    <a:p>
                      <a:pPr marL="0" marR="0" lvl="0" indent="0" algn="just" defTabSz="914400" rtl="0" eaLnBrk="1" fontAlgn="auto" latinLnBrk="0" hangingPunct="1">
                        <a:lnSpc>
                          <a:spcPct val="100000"/>
                        </a:lnSpc>
                        <a:spcBef>
                          <a:spcPts val="0"/>
                        </a:spcBef>
                        <a:spcAft>
                          <a:spcPts val="0"/>
                        </a:spcAft>
                        <a:buClrTx/>
                        <a:buSzTx/>
                        <a:buFontTx/>
                        <a:buNone/>
                        <a:defRPr/>
                      </a:pPr>
                      <a:r>
                        <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rPr>
                        <a:t>Wearable sensors placed directly on plant surfaces to detect biomarkers and environmental conditions.</a:t>
                      </a:r>
                      <a:endPar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p>
                      <a:pPr marL="0" indent="0" algn="just">
                        <a:buFont typeface="Arial" panose="020B0604020202020204" pitchFamily="34" charset="0"/>
                        <a:buNone/>
                      </a:pPr>
                      <a:r>
                        <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rPr>
                        <a:t>Limited battery life and potential for sensor damage in harsh environments</a:t>
                      </a:r>
                      <a:endPar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nchor="ctr"/>
                </a:tc>
              </a:tr>
              <a:tr h="914400">
                <a:tc>
                  <a:txBody>
                    <a:bodyPr/>
                    <a:lstStyle/>
                    <a:p>
                      <a:pPr marL="0" indent="0" algn="just">
                        <a:lnSpc>
                          <a:spcPct val="150000"/>
                        </a:lnSpc>
                        <a:buNone/>
                      </a:pPr>
                      <a:r>
                        <a:rPr lang="en-US" sz="1400" dirty="0" err="1">
                          <a:latin typeface="Times New Roman" panose="02020603050405020304" pitchFamily="18" charset="0"/>
                          <a:cs typeface="Times New Roman" panose="02020603050405020304" pitchFamily="18" charset="0"/>
                          <a:sym typeface="+mn-ea"/>
                        </a:rPr>
                        <a:t>Ramaswami</a:t>
                      </a:r>
                      <a:r>
                        <a:rPr lang="en-US" sz="1400" dirty="0">
                          <a:latin typeface="Times New Roman" panose="02020603050405020304" pitchFamily="18" charset="0"/>
                          <a:cs typeface="Times New Roman" panose="02020603050405020304" pitchFamily="18" charset="0"/>
                          <a:sym typeface="+mn-ea"/>
                        </a:rPr>
                        <a:t>., </a:t>
                      </a:r>
                      <a:r>
                        <a:rPr lang="en-US" sz="1400" dirty="0" err="1">
                          <a:latin typeface="Times New Roman" panose="02020603050405020304" pitchFamily="18" charset="0"/>
                          <a:cs typeface="Times New Roman" panose="02020603050405020304" pitchFamily="18" charset="0"/>
                          <a:sym typeface="+mn-ea"/>
                        </a:rPr>
                        <a:t>Mooventhan</a:t>
                      </a:r>
                      <a:r>
                        <a:rPr lang="en-US" sz="1400" dirty="0">
                          <a:latin typeface="Times New Roman" panose="02020603050405020304" pitchFamily="18" charset="0"/>
                          <a:cs typeface="Times New Roman" panose="02020603050405020304" pitchFamily="18" charset="0"/>
                          <a:sym typeface="+mn-ea"/>
                        </a:rPr>
                        <a:t>., Das., A Dixit., Sharma., </a:t>
                      </a:r>
                      <a:r>
                        <a:rPr lang="en-US" sz="1400" dirty="0" err="1">
                          <a:latin typeface="Times New Roman" panose="02020603050405020304" pitchFamily="18" charset="0"/>
                          <a:cs typeface="Times New Roman" panose="02020603050405020304" pitchFamily="18" charset="0"/>
                          <a:sym typeface="+mn-ea"/>
                        </a:rPr>
                        <a:t>Sengottayan</a:t>
                      </a:r>
                      <a:r>
                        <a:rPr lang="en-US" sz="1400" dirty="0">
                          <a:latin typeface="Times New Roman" panose="02020603050405020304" pitchFamily="18" charset="0"/>
                          <a:cs typeface="Times New Roman" panose="02020603050405020304" pitchFamily="18" charset="0"/>
                          <a:sym typeface="+mn-ea"/>
                        </a:rPr>
                        <a:t>., Pankaj., Ghosh.  SD Env. Exp. Botany</a:t>
                      </a:r>
                      <a:endParaRPr lang="en-US" sz="1400" dirty="0">
                        <a:latin typeface="Times New Roman" panose="02020603050405020304" pitchFamily="18" charset="0"/>
                        <a:cs typeface="Times New Roman" panose="02020603050405020304" pitchFamily="18" charset="0"/>
                        <a:sym typeface="+mn-ea"/>
                      </a:endParaRPr>
                    </a:p>
                    <a:p>
                      <a:pPr marL="0" indent="0" algn="just">
                        <a:lnSpc>
                          <a:spcPct val="150000"/>
                        </a:lnSpc>
                        <a:buNone/>
                      </a:pPr>
                      <a:r>
                        <a:rPr lang="en-US" sz="1400" dirty="0">
                          <a:latin typeface="Times New Roman" panose="02020603050405020304" pitchFamily="18" charset="0"/>
                          <a:cs typeface="Times New Roman" panose="02020603050405020304" pitchFamily="18" charset="0"/>
                          <a:sym typeface="+mn-ea"/>
                        </a:rPr>
                        <a:t>(2022). </a:t>
                      </a:r>
                      <a:endParaRPr lang="en-US" sz="1400" i="0" dirty="0">
                        <a:solidFill>
                          <a:schemeClr val="tx1"/>
                        </a:solidFill>
                        <a:latin typeface="Times New Roman" panose="02020603050405020304" pitchFamily="18" charset="0"/>
                        <a:cs typeface="Times New Roman" panose="02020603050405020304" pitchFamily="18" charset="0"/>
                        <a:sym typeface="+mn-ea"/>
                      </a:endParaRPr>
                    </a:p>
                  </a:txBody>
                  <a:tcPr anchor="ctr"/>
                </a:tc>
                <a:tc>
                  <a:txBody>
                    <a:bodyPr/>
                    <a:lstStyle/>
                    <a:p>
                      <a:pPr algn="just"/>
                      <a:r>
                        <a:rPr lang="en-US" sz="1400" dirty="0">
                          <a:latin typeface="Times New Roman" panose="02020603050405020304" pitchFamily="18" charset="0"/>
                          <a:cs typeface="Times New Roman" panose="02020603050405020304" pitchFamily="18" charset="0"/>
                          <a:sym typeface="+mn-ea"/>
                        </a:rPr>
                        <a:t>The future of plant volatile organic compounds (</a:t>
                      </a:r>
                      <a:r>
                        <a:rPr lang="en-US" sz="1400" dirty="0" err="1">
                          <a:latin typeface="Times New Roman" panose="02020603050405020304" pitchFamily="18" charset="0"/>
                          <a:cs typeface="Times New Roman" panose="02020603050405020304" pitchFamily="18" charset="0"/>
                          <a:sym typeface="+mn-ea"/>
                        </a:rPr>
                        <a:t>pVOCs</a:t>
                      </a:r>
                      <a:r>
                        <a:rPr lang="en-US" sz="1400" dirty="0">
                          <a:latin typeface="Times New Roman" panose="02020603050405020304" pitchFamily="18" charset="0"/>
                          <a:cs typeface="Times New Roman" panose="02020603050405020304" pitchFamily="18" charset="0"/>
                          <a:sym typeface="+mn-ea"/>
                        </a:rPr>
                        <a:t>) research: Advances and applications for sustainable agriculture</a:t>
                      </a:r>
                      <a:endParaRPr lang="en-US" sz="1400" b="0" u="none" strike="noStrike" kern="1200" baseline="0" dirty="0">
                        <a:solidFill>
                          <a:schemeClr val="tx1"/>
                        </a:solidFill>
                        <a:latin typeface="Times New Roman" panose="02020603050405020304" pitchFamily="18" charset="0"/>
                        <a:ea typeface="+mn-ea"/>
                        <a:cs typeface="Times New Roman" panose="02020603050405020304" pitchFamily="18" charset="0"/>
                        <a:sym typeface="+mn-ea"/>
                      </a:endParaRP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rPr>
                        <a:t>AI-supported sensors for detecting plant VOCs to diagnose early stress and enhance crop resilience.</a:t>
                      </a:r>
                      <a:endPar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lstStyle/>
                    <a:p>
                      <a:pPr marL="0" indent="0" algn="just">
                        <a:buFont typeface="Arial" panose="020B0604020202020204" pitchFamily="34" charset="0"/>
                        <a:buNone/>
                      </a:pPr>
                      <a:r>
                        <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rPr>
                        <a:t>High cost and technical complexity in deploying AI-supported systems.</a:t>
                      </a:r>
                      <a:endParaRPr lang="en-IN" sz="1400" b="0" u="none" strike="noStrike" kern="1200" baseline="0" dirty="0">
                        <a:solidFill>
                          <a:schemeClr val="tx1"/>
                        </a:solidFill>
                        <a:latin typeface="Times New Roman" panose="02020603050405020304" pitchFamily="18" charset="0"/>
                        <a:ea typeface="+mn-ea"/>
                        <a:cs typeface="Times New Roman" panose="02020603050405020304" pitchFamily="18" charset="0"/>
                      </a:endParaRPr>
                    </a:p>
                  </a:txBody>
                  <a:tcPr anchor="ct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title"/>
          </p:nvPr>
        </p:nvSpPr>
        <p:spPr>
          <a:xfrm>
            <a:off x="495300" y="381000"/>
            <a:ext cx="8229600" cy="655638"/>
          </a:xfrm>
        </p:spPr>
        <p:txBody>
          <a:bodyPr>
            <a:normAutofit/>
          </a:bodyPr>
          <a:lstStyle/>
          <a:p>
            <a:pPr algn="l"/>
            <a:r>
              <a:rPr lang="en-US" sz="3200" b="1" dirty="0">
                <a:latin typeface="Times New Roman" panose="02020603050405020304" pitchFamily="18" charset="0"/>
                <a:cs typeface="Times New Roman" panose="02020603050405020304" pitchFamily="18" charset="0"/>
              </a:rPr>
              <a:t>PROBLEM DESCRIPTION </a:t>
            </a:r>
            <a:endParaRPr lang="en-US" sz="3200" b="1" dirty="0">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fld id="{4B31D90E-961D-4570-9059-6D31ADC1C5A4}" type="datetime3">
              <a:rPr lang="en-US" smtClean="0"/>
            </a:fld>
            <a:endParaRPr lang="en-US"/>
          </a:p>
        </p:txBody>
      </p:sp>
      <p:sp>
        <p:nvSpPr>
          <p:cNvPr id="8" name="Footer Placeholder 7"/>
          <p:cNvSpPr>
            <a:spLocks noGrp="1"/>
          </p:cNvSpPr>
          <p:nvPr>
            <p:ph type="ftr" sz="quarter" idx="11"/>
          </p:nvPr>
        </p:nvSpPr>
        <p:spPr/>
        <p:txBody>
          <a:bodyPr/>
          <a:lstStyle/>
          <a:p>
            <a:r>
              <a:rPr lang="en-US" dirty="0"/>
              <a:t>School of Computing - CSE-</a:t>
            </a:r>
            <a:r>
              <a:rPr lang="en-US" dirty="0" err="1"/>
              <a:t>IoT</a:t>
            </a:r>
            <a:endParaRPr lang="en-US" dirty="0"/>
          </a:p>
        </p:txBody>
      </p:sp>
      <p:sp>
        <p:nvSpPr>
          <p:cNvPr id="9" name="Slide Number Placeholder 8"/>
          <p:cNvSpPr>
            <a:spLocks noGrp="1"/>
          </p:cNvSpPr>
          <p:nvPr>
            <p:ph type="sldNum" sz="quarter" idx="12"/>
          </p:nvPr>
        </p:nvSpPr>
        <p:spPr/>
        <p:txBody>
          <a:bodyPr/>
          <a:lstStyle/>
          <a:p>
            <a:fld id="{7B28076C-CE04-4A00-BFAA-A90EA8355859}" type="slidenum">
              <a:rPr lang="en-US" smtClean="0"/>
            </a:fld>
            <a:endParaRPr lang="en-US"/>
          </a:p>
        </p:txBody>
      </p:sp>
      <p:sp>
        <p:nvSpPr>
          <p:cNvPr id="3" name="Content Placeholder 2"/>
          <p:cNvSpPr>
            <a:spLocks noGrp="1"/>
          </p:cNvSpPr>
          <p:nvPr>
            <p:ph idx="1"/>
          </p:nvPr>
        </p:nvSpPr>
        <p:spPr>
          <a:xfrm>
            <a:off x="457200" y="1371600"/>
            <a:ext cx="8229600" cy="4984750"/>
          </a:xfrm>
        </p:spPr>
        <p:txBody>
          <a:bodyPr>
            <a:normAutofit/>
          </a:bodyPr>
          <a:lstStyle/>
          <a:p>
            <a:pPr marL="457200" indent="-457200" algn="just">
              <a:buAutoNum type="arabicPeriod"/>
            </a:pPr>
            <a:r>
              <a:rPr lang="en-US" sz="1900" dirty="0">
                <a:latin typeface="Times New Roman" panose="02020603050405020304" pitchFamily="18" charset="0"/>
                <a:ea typeface="Arimo"/>
                <a:cs typeface="Times New Roman" panose="02020603050405020304" pitchFamily="18" charset="0"/>
              </a:rPr>
              <a:t>Fruit Ripeness Detection: Current methods rely heavily on visual inspection, which can be subjective and prone to human error. This can lead to fruits being picked too early or reaching stores past their</a:t>
            </a:r>
            <a:r>
              <a:rPr lang="en-IN" altLang="en-US" sz="1900" dirty="0">
                <a:latin typeface="Times New Roman" panose="02020603050405020304" pitchFamily="18" charset="0"/>
                <a:ea typeface="Arimo"/>
                <a:cs typeface="Times New Roman" panose="02020603050405020304" pitchFamily="18" charset="0"/>
              </a:rPr>
              <a:t> </a:t>
            </a:r>
            <a:r>
              <a:rPr lang="en-US" sz="1900" dirty="0">
                <a:latin typeface="Times New Roman" panose="02020603050405020304" pitchFamily="18" charset="0"/>
                <a:ea typeface="Arimo"/>
                <a:cs typeface="Times New Roman" panose="02020603050405020304" pitchFamily="18" charset="0"/>
              </a:rPr>
              <a:t>prime, impacting both quality and profitability.</a:t>
            </a:r>
            <a:endParaRPr lang="en-US" sz="1900" dirty="0">
              <a:latin typeface="Times New Roman" panose="02020603050405020304" pitchFamily="18" charset="0"/>
              <a:ea typeface="Arimo"/>
              <a:cs typeface="Times New Roman" panose="02020603050405020304" pitchFamily="18" charset="0"/>
            </a:endParaRPr>
          </a:p>
          <a:p>
            <a:pPr marL="457200" indent="-457200" algn="just">
              <a:buAutoNum type="arabicPeriod"/>
            </a:pPr>
            <a:endParaRPr lang="en-US" sz="1900" dirty="0">
              <a:latin typeface="Times New Roman" panose="02020603050405020304" pitchFamily="18" charset="0"/>
              <a:ea typeface="Arimo"/>
              <a:cs typeface="Times New Roman" panose="02020603050405020304" pitchFamily="18" charset="0"/>
            </a:endParaRPr>
          </a:p>
          <a:p>
            <a:pPr marL="457200" indent="-457200" algn="just">
              <a:buAutoNum type="arabicPeriod"/>
            </a:pPr>
            <a:r>
              <a:rPr lang="en-US" sz="1900" dirty="0">
                <a:latin typeface="Times New Roman" panose="02020603050405020304" pitchFamily="18" charset="0"/>
                <a:ea typeface="Arimo"/>
                <a:cs typeface="Times New Roman" panose="02020603050405020304" pitchFamily="18" charset="0"/>
              </a:rPr>
              <a:t>Climate Change Monitoring: Traditional monitoring methods often lack real-time data on how environmental changes affect agricultural ecosystems. This makes it difficult to proactively adapt farming practices and protect crop yields in the face of a changing climate.</a:t>
            </a:r>
            <a:endParaRPr lang="en-US" sz="1900" dirty="0">
              <a:latin typeface="Times New Roman" panose="02020603050405020304" pitchFamily="18" charset="0"/>
              <a:ea typeface="Arimo"/>
              <a:cs typeface="Times New Roman" panose="02020603050405020304" pitchFamily="18" charset="0"/>
            </a:endParaRPr>
          </a:p>
          <a:p>
            <a:pPr marL="457200" indent="-457200" algn="just">
              <a:buAutoNum type="arabicPeriod"/>
            </a:pPr>
            <a:endParaRPr lang="en-US" sz="1900" dirty="0">
              <a:latin typeface="Times New Roman" panose="02020603050405020304" pitchFamily="18" charset="0"/>
              <a:ea typeface="Arimo"/>
              <a:cs typeface="Times New Roman" panose="02020603050405020304" pitchFamily="18" charset="0"/>
            </a:endParaRPr>
          </a:p>
          <a:p>
            <a:pPr marL="457200" indent="-457200" algn="just">
              <a:buAutoNum type="arabicPeriod"/>
            </a:pPr>
            <a:r>
              <a:rPr lang="en-US" sz="1900" dirty="0">
                <a:latin typeface="Times New Roman" panose="02020603050405020304" pitchFamily="18" charset="0"/>
                <a:ea typeface="Arimo"/>
                <a:cs typeface="Times New Roman" panose="02020603050405020304" pitchFamily="18" charset="0"/>
              </a:rPr>
              <a:t>Harmful Gas Detection: Existing methods for detecting harmful gases like ammonia or ethylene might be slow or inadequate. This allows these gases to damage crops and reduce farm productivity,</a:t>
            </a:r>
            <a:r>
              <a:rPr lang="en-IN" altLang="en-US" sz="1900" dirty="0">
                <a:latin typeface="Times New Roman" panose="02020603050405020304" pitchFamily="18" charset="0"/>
                <a:ea typeface="Arimo"/>
                <a:cs typeface="Times New Roman" panose="02020603050405020304" pitchFamily="18" charset="0"/>
              </a:rPr>
              <a:t> </a:t>
            </a:r>
            <a:r>
              <a:rPr lang="en-US" sz="1900" dirty="0">
                <a:latin typeface="Times New Roman" panose="02020603050405020304" pitchFamily="18" charset="0"/>
                <a:ea typeface="Arimo"/>
                <a:cs typeface="Times New Roman" panose="02020603050405020304" pitchFamily="18" charset="0"/>
              </a:rPr>
              <a:t>impacting both food quality and overall yield.</a:t>
            </a:r>
            <a:endParaRPr lang="en-US" sz="1900" dirty="0">
              <a:effectLst/>
              <a:latin typeface="Times New Roman" panose="02020603050405020304" pitchFamily="18" charset="0"/>
              <a:ea typeface="Arimo"/>
              <a:cs typeface="Times New Roman" panose="02020603050405020304" pitchFamily="18" charset="0"/>
            </a:endParaRPr>
          </a:p>
          <a:p>
            <a:pPr marL="0" indent="0" algn="just">
              <a:buNone/>
            </a:pPr>
            <a:endParaRPr lang="en-US" sz="1900" dirty="0">
              <a:latin typeface="Arial" panose="020B0604020202020204" pitchFamily="34" charset="0"/>
              <a:ea typeface="Arimo"/>
            </a:endParaRPr>
          </a:p>
          <a:p>
            <a:pPr marL="0" indent="0" algn="just">
              <a:buNone/>
            </a:pPr>
            <a:endParaRPr lang="en-US" sz="1900" dirty="0">
              <a:effectLst/>
              <a:latin typeface="Arial" panose="020B0604020202020204" pitchFamily="34" charset="0"/>
              <a:ea typeface="Arimo"/>
            </a:endParaRPr>
          </a:p>
          <a:p>
            <a:pPr marL="0" indent="0" algn="just">
              <a:buNone/>
            </a:pPr>
            <a:endParaRPr lang="en-US" sz="1900" dirty="0">
              <a:latin typeface="Arial" panose="020B0604020202020204" pitchFamily="34" charset="0"/>
              <a:ea typeface="Arimo"/>
            </a:endParaRPr>
          </a:p>
          <a:p>
            <a:pPr algn="just"/>
            <a:endParaRPr lang="en-US" sz="1900" dirty="0">
              <a:effectLst/>
              <a:latin typeface="Arial" panose="020B0604020202020204" pitchFamily="34" charset="0"/>
              <a:ea typeface="Arimo"/>
            </a:endParaRPr>
          </a:p>
          <a:p>
            <a:pPr algn="just"/>
            <a:endParaRPr lang="en-US" sz="1900" dirty="0">
              <a:latin typeface="Arial" panose="020B0604020202020204" pitchFamily="34" charset="0"/>
              <a:ea typeface="Arimo"/>
            </a:endParaRPr>
          </a:p>
          <a:p>
            <a:pPr algn="just"/>
            <a:endParaRPr lang="en-US" sz="1900" dirty="0">
              <a:effectLst/>
              <a:latin typeface="Arial" panose="020B0604020202020204" pitchFamily="34" charset="0"/>
              <a:ea typeface="Arim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title"/>
          </p:nvPr>
        </p:nvSpPr>
        <p:spPr>
          <a:xfrm>
            <a:off x="495300" y="381000"/>
            <a:ext cx="8229600" cy="655638"/>
          </a:xfrm>
        </p:spPr>
        <p:txBody>
          <a:bodyPr>
            <a:normAutofit/>
          </a:bodyPr>
          <a:lstStyle/>
          <a:p>
            <a:pPr algn="l"/>
            <a:r>
              <a:rPr lang="en-US" sz="3200" b="1" dirty="0">
                <a:latin typeface="Times New Roman" panose="02020603050405020304" pitchFamily="18" charset="0"/>
                <a:cs typeface="Times New Roman" panose="02020603050405020304" pitchFamily="18" charset="0"/>
              </a:rPr>
              <a:t>PROPOSED SYSTEM </a:t>
            </a:r>
            <a:endParaRPr lang="en-US" sz="3200" b="1" dirty="0">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fld id="{4B31D90E-961D-4570-9059-6D31ADC1C5A4}" type="datetime3">
              <a:rPr lang="en-US" smtClean="0"/>
            </a:fld>
            <a:endParaRPr lang="en-US"/>
          </a:p>
        </p:txBody>
      </p:sp>
      <p:sp>
        <p:nvSpPr>
          <p:cNvPr id="8" name="Footer Placeholder 7"/>
          <p:cNvSpPr>
            <a:spLocks noGrp="1"/>
          </p:cNvSpPr>
          <p:nvPr>
            <p:ph type="ftr" sz="quarter" idx="11"/>
          </p:nvPr>
        </p:nvSpPr>
        <p:spPr/>
        <p:txBody>
          <a:bodyPr/>
          <a:lstStyle/>
          <a:p>
            <a:r>
              <a:rPr lang="en-US" dirty="0"/>
              <a:t>School of Computing - CSE-</a:t>
            </a:r>
            <a:r>
              <a:rPr lang="en-US" dirty="0" err="1"/>
              <a:t>IoT</a:t>
            </a:r>
            <a:endParaRPr lang="en-US" dirty="0"/>
          </a:p>
        </p:txBody>
      </p:sp>
      <p:sp>
        <p:nvSpPr>
          <p:cNvPr id="9" name="Slide Number Placeholder 8"/>
          <p:cNvSpPr>
            <a:spLocks noGrp="1"/>
          </p:cNvSpPr>
          <p:nvPr>
            <p:ph type="sldNum" sz="quarter" idx="12"/>
          </p:nvPr>
        </p:nvSpPr>
        <p:spPr/>
        <p:txBody>
          <a:bodyPr/>
          <a:lstStyle/>
          <a:p>
            <a:fld id="{7B28076C-CE04-4A00-BFAA-A90EA8355859}" type="slidenum">
              <a:rPr lang="en-US" smtClean="0"/>
            </a:fld>
            <a:endParaRPr lang="en-US"/>
          </a:p>
        </p:txBody>
      </p:sp>
      <p:sp>
        <p:nvSpPr>
          <p:cNvPr id="3" name="Content Placeholder 2"/>
          <p:cNvSpPr>
            <a:spLocks noGrp="1"/>
          </p:cNvSpPr>
          <p:nvPr>
            <p:ph idx="1"/>
          </p:nvPr>
        </p:nvSpPr>
        <p:spPr>
          <a:xfrm>
            <a:off x="457200" y="1371600"/>
            <a:ext cx="8229600" cy="4984750"/>
          </a:xfrm>
        </p:spPr>
        <p:txBody>
          <a:bodyPr>
            <a:normAutofit/>
          </a:bodyPr>
          <a:lstStyle/>
          <a:p>
            <a:pPr marL="0" indent="0" algn="just">
              <a:spcBef>
                <a:spcPts val="600"/>
              </a:spcBef>
              <a:buNone/>
            </a:pPr>
            <a:endParaRPr lang="en-US" sz="4800" dirty="0">
              <a:effectLst/>
              <a:latin typeface="Times New Roman" panose="02020603050405020304" pitchFamily="18" charset="0"/>
              <a:ea typeface="Arimo"/>
              <a:cs typeface="Times New Roman" panose="02020603050405020304" pitchFamily="18" charset="0"/>
            </a:endParaRPr>
          </a:p>
          <a:p>
            <a:pPr marL="0" indent="0" algn="just">
              <a:buNone/>
            </a:pPr>
            <a:endParaRPr lang="en-US" sz="5600" dirty="0">
              <a:latin typeface="Times New Roman" panose="02020603050405020304" pitchFamily="18" charset="0"/>
              <a:ea typeface="Arimo"/>
              <a:cs typeface="Times New Roman" panose="02020603050405020304" pitchFamily="18" charset="0"/>
            </a:endParaRPr>
          </a:p>
        </p:txBody>
      </p:sp>
      <p:pic>
        <p:nvPicPr>
          <p:cNvPr id="2" name="Picture 1"/>
          <p:cNvPicPr>
            <a:picLocks noChangeAspect="1"/>
          </p:cNvPicPr>
          <p:nvPr/>
        </p:nvPicPr>
        <p:blipFill>
          <a:blip r:embed="rId1"/>
          <a:stretch>
            <a:fillRect/>
          </a:stretch>
        </p:blipFill>
        <p:spPr>
          <a:xfrm>
            <a:off x="863600" y="1981200"/>
            <a:ext cx="7645400" cy="4318000"/>
          </a:xfrm>
          <a:prstGeom prst="rect">
            <a:avLst/>
          </a:prstGeom>
        </p:spPr>
      </p:pic>
      <p:sp>
        <p:nvSpPr>
          <p:cNvPr id="4" name="Title 1"/>
          <p:cNvSpPr>
            <a:spLocks noGrp="1"/>
          </p:cNvSpPr>
          <p:nvPr/>
        </p:nvSpPr>
        <p:spPr>
          <a:xfrm>
            <a:off x="457200" y="1295400"/>
            <a:ext cx="8229600" cy="65563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altLang="en-US" sz="2400" b="1" dirty="0">
                <a:latin typeface="Times New Roman" panose="02020603050405020304" pitchFamily="18" charset="0"/>
                <a:cs typeface="Times New Roman" panose="02020603050405020304" pitchFamily="18" charset="0"/>
              </a:rPr>
              <a:t>ARCHITECTURE</a:t>
            </a:r>
            <a:endParaRPr lang="en-IN" altLang="en-US" sz="2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3200" b="1" dirty="0">
                <a:latin typeface="Times New Roman" panose="02020603050405020304" pitchFamily="18" charset="0"/>
                <a:cs typeface="Times New Roman" panose="02020603050405020304" pitchFamily="18" charset="0"/>
              </a:rPr>
              <a:t>PROPOSED SYSTEM</a:t>
            </a:r>
            <a:endParaRPr lang="en-IN" sz="3200" dirty="0"/>
          </a:p>
        </p:txBody>
      </p:sp>
      <p:sp>
        <p:nvSpPr>
          <p:cNvPr id="4" name="Date Placeholder 3"/>
          <p:cNvSpPr>
            <a:spLocks noGrp="1"/>
          </p:cNvSpPr>
          <p:nvPr>
            <p:ph type="dt" sz="half" idx="10"/>
          </p:nvPr>
        </p:nvSpPr>
        <p:spPr/>
        <p:txBody>
          <a:bodyPr/>
          <a:lstStyle/>
          <a:p>
            <a:fld id="{5FC8A176-C52F-427B-AE00-C3523D33FBB7}" type="datetime3">
              <a:rPr lang="en-US" smtClean="0"/>
            </a:fld>
            <a:endParaRPr lang="en-US"/>
          </a:p>
        </p:txBody>
      </p:sp>
      <p:sp>
        <p:nvSpPr>
          <p:cNvPr id="5" name="Footer Placeholder 4"/>
          <p:cNvSpPr>
            <a:spLocks noGrp="1"/>
          </p:cNvSpPr>
          <p:nvPr>
            <p:ph type="ftr" sz="quarter" idx="11"/>
          </p:nvPr>
        </p:nvSpPr>
        <p:spPr/>
        <p:txBody>
          <a:bodyPr/>
          <a:lstStyle/>
          <a:p>
            <a:r>
              <a:rPr lang="en-US" dirty="0"/>
              <a:t>School of Computing - CSE-</a:t>
            </a:r>
            <a:r>
              <a:rPr lang="en-US" dirty="0" err="1"/>
              <a:t>IoT</a:t>
            </a:r>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pic>
        <p:nvPicPr>
          <p:cNvPr id="7" name="Content Placeholder 6" descr="WhatsApp Image 2024-08-04 at 12.52.39_07f576dd"/>
          <p:cNvPicPr>
            <a:picLocks noChangeAspect="1"/>
          </p:cNvPicPr>
          <p:nvPr>
            <p:ph idx="1"/>
          </p:nvPr>
        </p:nvPicPr>
        <p:blipFill>
          <a:blip r:embed="rId1"/>
          <a:stretch>
            <a:fillRect/>
          </a:stretch>
        </p:blipFill>
        <p:spPr>
          <a:xfrm>
            <a:off x="389255" y="1366520"/>
            <a:ext cx="8479155" cy="5065395"/>
          </a:xfrm>
          <a:prstGeom prst="rect">
            <a:avLst/>
          </a:prstGeom>
        </p:spPr>
      </p:pic>
      <p:sp>
        <p:nvSpPr>
          <p:cNvPr id="9" name="Title 1"/>
          <p:cNvSpPr>
            <a:spLocks noGrp="1"/>
          </p:cNvSpPr>
          <p:nvPr/>
        </p:nvSpPr>
        <p:spPr>
          <a:xfrm>
            <a:off x="389110" y="114300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2400" b="1" dirty="0">
                <a:latin typeface="Times New Roman" panose="02020603050405020304" pitchFamily="18" charset="0"/>
                <a:cs typeface="Times New Roman" panose="02020603050405020304" pitchFamily="18" charset="0"/>
              </a:rPr>
              <a:t>WORK FLOW</a:t>
            </a:r>
            <a:endParaRPr lang="en-IN"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3200" b="1" dirty="0">
                <a:latin typeface="Times New Roman" panose="02020603050405020304" pitchFamily="18" charset="0"/>
                <a:cs typeface="Times New Roman" panose="02020603050405020304" pitchFamily="18" charset="0"/>
              </a:rPr>
              <a:t>PROPOSED SYSTEM</a:t>
            </a: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81000" y="1447800"/>
            <a:ext cx="8229600" cy="4525963"/>
          </a:xfrm>
        </p:spPr>
        <p:txBody>
          <a:bodyPr>
            <a:normAutofit/>
          </a:bodyPr>
          <a:lstStyle/>
          <a:p>
            <a:pPr marL="0" indent="0" algn="l">
              <a:lnSpc>
                <a:spcPct val="150000"/>
              </a:lnSpc>
              <a:buNone/>
            </a:pPr>
            <a:r>
              <a:rPr lang="en-IN" altLang="en-US" sz="2400" b="1" dirty="0">
                <a:latin typeface="Times New Roman" panose="02020603050405020304" pitchFamily="18" charset="0"/>
                <a:cs typeface="Times New Roman" panose="02020603050405020304" pitchFamily="18" charset="0"/>
              </a:rPr>
              <a:t>TOOLS AND TECHNOLOGIES </a:t>
            </a:r>
            <a:endParaRPr lang="en-IN" altLang="en-US" sz="2400" b="1" dirty="0">
              <a:latin typeface="Times New Roman" panose="02020603050405020304" pitchFamily="18" charset="0"/>
              <a:cs typeface="Times New Roman" panose="02020603050405020304" pitchFamily="18" charset="0"/>
            </a:endParaRPr>
          </a:p>
          <a:p>
            <a:pPr marL="457200" indent="-457200" algn="just">
              <a:lnSpc>
                <a:spcPct val="150000"/>
              </a:lnSpc>
              <a:buAutoNum type="arabicPeriod"/>
            </a:pPr>
            <a:r>
              <a:rPr lang="en-IN" altLang="en-US" sz="2400" dirty="0">
                <a:latin typeface="Times New Roman" panose="02020603050405020304" pitchFamily="18" charset="0"/>
                <a:cs typeface="Times New Roman" panose="02020603050405020304" pitchFamily="18" charset="0"/>
              </a:rPr>
              <a:t>Sensors: MOS Sensors, PID Sensor, DHT22 Sensor</a:t>
            </a:r>
            <a:endParaRPr lang="en-IN" altLang="en-US" sz="2400" dirty="0">
              <a:latin typeface="Times New Roman" panose="02020603050405020304" pitchFamily="18" charset="0"/>
              <a:cs typeface="Times New Roman" panose="02020603050405020304" pitchFamily="18" charset="0"/>
            </a:endParaRPr>
          </a:p>
          <a:p>
            <a:pPr marL="457200" indent="-457200" algn="just">
              <a:lnSpc>
                <a:spcPct val="150000"/>
              </a:lnSpc>
              <a:buAutoNum type="arabicPeriod"/>
            </a:pPr>
            <a:r>
              <a:rPr lang="en-IN" altLang="en-US" sz="2400" dirty="0">
                <a:latin typeface="Times New Roman" panose="02020603050405020304" pitchFamily="18" charset="0"/>
                <a:cs typeface="Times New Roman" panose="02020603050405020304" pitchFamily="18" charset="0"/>
              </a:rPr>
              <a:t>Microcontrollers: ESP32 </a:t>
            </a:r>
            <a:endParaRPr lang="en-IN" altLang="en-US" sz="2400" dirty="0">
              <a:latin typeface="Times New Roman" panose="02020603050405020304" pitchFamily="18" charset="0"/>
              <a:cs typeface="Times New Roman" panose="02020603050405020304" pitchFamily="18" charset="0"/>
            </a:endParaRPr>
          </a:p>
          <a:p>
            <a:pPr marL="457200" indent="-457200" algn="just">
              <a:lnSpc>
                <a:spcPct val="150000"/>
              </a:lnSpc>
              <a:buAutoNum type="arabicPeriod"/>
            </a:pPr>
            <a:r>
              <a:rPr lang="en-IN" altLang="en-US" sz="2400" dirty="0">
                <a:latin typeface="Times New Roman" panose="02020603050405020304" pitchFamily="18" charset="0"/>
                <a:cs typeface="Times New Roman" panose="02020603050405020304" pitchFamily="18" charset="0"/>
              </a:rPr>
              <a:t>Communication Modules: Wi-Fi (ESP32), Bluetooth module</a:t>
            </a:r>
            <a:endParaRPr lang="en-IN" altLang="en-US" sz="2400" dirty="0">
              <a:latin typeface="Times New Roman" panose="02020603050405020304" pitchFamily="18" charset="0"/>
              <a:cs typeface="Times New Roman" panose="02020603050405020304" pitchFamily="18" charset="0"/>
            </a:endParaRPr>
          </a:p>
          <a:p>
            <a:pPr marL="457200" indent="-457200" algn="just">
              <a:lnSpc>
                <a:spcPct val="150000"/>
              </a:lnSpc>
              <a:buAutoNum type="arabicPeriod"/>
            </a:pPr>
            <a:r>
              <a:rPr lang="en-IN" altLang="en-US" sz="2400" dirty="0">
                <a:latin typeface="Times New Roman" panose="02020603050405020304" pitchFamily="18" charset="0"/>
                <a:cs typeface="Times New Roman" panose="02020603050405020304" pitchFamily="18" charset="0"/>
              </a:rPr>
              <a:t>Software Development: Arduino IDE</a:t>
            </a:r>
            <a:endParaRPr lang="en-IN" altLang="en-US" sz="2400" dirty="0">
              <a:latin typeface="Times New Roman" panose="02020603050405020304" pitchFamily="18" charset="0"/>
              <a:cs typeface="Times New Roman" panose="02020603050405020304" pitchFamily="18" charset="0"/>
            </a:endParaRPr>
          </a:p>
          <a:p>
            <a:pPr marL="457200" indent="-457200" algn="just">
              <a:buAutoNum type="arabicPeriod"/>
            </a:pPr>
            <a:endParaRPr lang="en-IN" altLang="en-US"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98344048-9E64-4AEC-B4F9-3F91630E4BF9}" type="datetime3">
              <a:rPr lang="en-US" smtClean="0"/>
            </a:fld>
            <a:endParaRPr lang="en-US"/>
          </a:p>
        </p:txBody>
      </p:sp>
      <p:sp>
        <p:nvSpPr>
          <p:cNvPr id="5" name="Footer Placeholder 4"/>
          <p:cNvSpPr>
            <a:spLocks noGrp="1"/>
          </p:cNvSpPr>
          <p:nvPr>
            <p:ph type="ftr" sz="quarter" idx="11"/>
          </p:nvPr>
        </p:nvSpPr>
        <p:spPr/>
        <p:txBody>
          <a:bodyPr/>
          <a:lstStyle/>
          <a:p>
            <a:r>
              <a:rPr lang="en-US" dirty="0"/>
              <a:t>School of Computing - CSE-</a:t>
            </a:r>
            <a:r>
              <a:rPr lang="en-US" dirty="0" err="1"/>
              <a:t>IoT</a:t>
            </a:r>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3200" b="1" dirty="0">
                <a:latin typeface="Times New Roman" panose="02020603050405020304" pitchFamily="18" charset="0"/>
                <a:cs typeface="Times New Roman" panose="02020603050405020304" pitchFamily="18" charset="0"/>
              </a:rPr>
              <a:t>COMPONENTS </a:t>
            </a:r>
            <a:endParaRPr lang="en-IN" sz="3200"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98344048-9E64-4AEC-B4F9-3F91630E4BF9}" type="datetime3">
              <a:rPr lang="en-US" smtClean="0"/>
            </a:fld>
            <a:endParaRPr lang="en-US"/>
          </a:p>
        </p:txBody>
      </p:sp>
      <p:sp>
        <p:nvSpPr>
          <p:cNvPr id="5" name="Footer Placeholder 4"/>
          <p:cNvSpPr>
            <a:spLocks noGrp="1"/>
          </p:cNvSpPr>
          <p:nvPr>
            <p:ph type="ftr" sz="quarter" idx="11"/>
          </p:nvPr>
        </p:nvSpPr>
        <p:spPr/>
        <p:txBody>
          <a:bodyPr/>
          <a:lstStyle/>
          <a:p>
            <a:r>
              <a:rPr lang="en-US" dirty="0"/>
              <a:t>School of Computing - CSE-</a:t>
            </a:r>
            <a:r>
              <a:rPr lang="en-US" dirty="0" err="1"/>
              <a:t>IoT</a:t>
            </a:r>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sp>
        <p:nvSpPr>
          <p:cNvPr id="8" name="Text Box 7"/>
          <p:cNvSpPr txBox="1"/>
          <p:nvPr/>
        </p:nvSpPr>
        <p:spPr>
          <a:xfrm>
            <a:off x="1047750" y="4886960"/>
            <a:ext cx="4321175" cy="1543685"/>
          </a:xfrm>
          <a:prstGeom prst="rect">
            <a:avLst/>
          </a:prstGeom>
          <a:noFill/>
        </p:spPr>
        <p:txBody>
          <a:bodyPr wrap="square" rtlCol="0">
            <a:noAutofit/>
          </a:bodyPr>
          <a:p>
            <a:endParaRPr lang="en-US"/>
          </a:p>
        </p:txBody>
      </p:sp>
      <p:sp>
        <p:nvSpPr>
          <p:cNvPr id="10" name="Text Box 9"/>
          <p:cNvSpPr txBox="1"/>
          <p:nvPr/>
        </p:nvSpPr>
        <p:spPr>
          <a:xfrm>
            <a:off x="457200" y="3657600"/>
            <a:ext cx="6264910" cy="1737360"/>
          </a:xfrm>
          <a:prstGeom prst="rect">
            <a:avLst/>
          </a:prstGeom>
          <a:noFill/>
        </p:spPr>
        <p:txBody>
          <a:bodyPr wrap="square" rtlCol="0">
            <a:noAutofit/>
          </a:bodyPr>
          <a:p>
            <a:endParaRPr lang="en-US" sz="2400">
              <a:latin typeface="Times New Roman" panose="02020603050405020304" pitchFamily="18" charset="0"/>
              <a:cs typeface="Times New Roman" panose="02020603050405020304" pitchFamily="18" charset="0"/>
            </a:endParaRPr>
          </a:p>
        </p:txBody>
      </p:sp>
      <p:sp>
        <p:nvSpPr>
          <p:cNvPr id="11" name="Text Box 10"/>
          <p:cNvSpPr txBox="1"/>
          <p:nvPr/>
        </p:nvSpPr>
        <p:spPr>
          <a:xfrm>
            <a:off x="457200" y="1371600"/>
            <a:ext cx="3590290" cy="447675"/>
          </a:xfrm>
          <a:prstGeom prst="rect">
            <a:avLst/>
          </a:prstGeom>
          <a:noFill/>
        </p:spPr>
        <p:txBody>
          <a:bodyPr wrap="square" rtlCol="0">
            <a:noAutofit/>
          </a:bodyPr>
          <a:p>
            <a:pPr marL="285750" indent="-285750">
              <a:buFont typeface="Wingdings" panose="05000000000000000000" charset="0"/>
              <a:buChar char="Ø"/>
            </a:pPr>
            <a:r>
              <a:rPr lang="en-IN" altLang="en-US" sz="2400" b="1" dirty="0">
                <a:latin typeface="Arial" panose="020B0604020202020204" pitchFamily="34" charset="0"/>
                <a:cs typeface="Arial" panose="020B0604020202020204" pitchFamily="34" charset="0"/>
                <a:sym typeface="+mn-ea"/>
              </a:rPr>
              <a:t>ESP32</a:t>
            </a:r>
            <a:endParaRPr lang="en-US" sz="2400"/>
          </a:p>
        </p:txBody>
      </p:sp>
      <p:pic>
        <p:nvPicPr>
          <p:cNvPr id="12" name="Picture 11" descr="file"/>
          <p:cNvPicPr>
            <a:picLocks noChangeAspect="1"/>
          </p:cNvPicPr>
          <p:nvPr/>
        </p:nvPicPr>
        <p:blipFill>
          <a:blip r:embed="rId1"/>
          <a:stretch>
            <a:fillRect/>
          </a:stretch>
        </p:blipFill>
        <p:spPr>
          <a:xfrm>
            <a:off x="2667000" y="990600"/>
            <a:ext cx="6087110" cy="3478530"/>
          </a:xfrm>
          <a:prstGeom prst="rect">
            <a:avLst/>
          </a:prstGeom>
        </p:spPr>
      </p:pic>
      <p:sp>
        <p:nvSpPr>
          <p:cNvPr id="13" name="Text Box 12"/>
          <p:cNvSpPr txBox="1"/>
          <p:nvPr/>
        </p:nvSpPr>
        <p:spPr>
          <a:xfrm>
            <a:off x="499110" y="4173220"/>
            <a:ext cx="8213090" cy="1608455"/>
          </a:xfrm>
          <a:prstGeom prst="rect">
            <a:avLst/>
          </a:prstGeom>
          <a:noFill/>
        </p:spPr>
        <p:txBody>
          <a:bodyPr wrap="square" rtlCol="0" anchor="t">
            <a:noAutofit/>
          </a:bodyPr>
          <a:p>
            <a:r>
              <a:rPr lang="en-US" sz="2400" b="1">
                <a:latin typeface="Times New Roman" panose="02020603050405020304" pitchFamily="18" charset="0"/>
                <a:cs typeface="Times New Roman" panose="02020603050405020304" pitchFamily="18" charset="0"/>
                <a:sym typeface="+mn-ea"/>
              </a:rPr>
              <a:t>ESP32:</a:t>
            </a:r>
            <a:r>
              <a:rPr lang="en-US" sz="2400">
                <a:latin typeface="Times New Roman" panose="02020603050405020304" pitchFamily="18" charset="0"/>
                <a:cs typeface="Times New Roman" panose="02020603050405020304" pitchFamily="18" charset="0"/>
                <a:sym typeface="+mn-ea"/>
              </a:rPr>
              <a:t> A versatile, low-power microcontroller with integrated Wi-Fi and Bluetooth capabilities for IoT applications.</a:t>
            </a:r>
            <a:endParaRPr lang="en-US" sz="240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3200" b="1" dirty="0">
                <a:latin typeface="Times New Roman" panose="02020603050405020304" pitchFamily="18" charset="0"/>
                <a:cs typeface="Times New Roman" panose="02020603050405020304" pitchFamily="18" charset="0"/>
              </a:rPr>
              <a:t>Cont..</a:t>
            </a: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81000" y="1828800"/>
            <a:ext cx="8229600" cy="880110"/>
          </a:xfrm>
        </p:spPr>
        <p:txBody>
          <a:bodyPr>
            <a:normAutofit/>
          </a:bodyPr>
          <a:lstStyle/>
          <a:p>
            <a:pPr marL="0" indent="0" algn="l">
              <a:buNone/>
            </a:pPr>
            <a:r>
              <a:rPr lang="en-US" sz="2400">
                <a:latin typeface="Times New Roman" panose="02020603050405020304" pitchFamily="18" charset="0"/>
                <a:cs typeface="Times New Roman" panose="02020603050405020304" pitchFamily="18" charset="0"/>
                <a:sym typeface="+mn-ea"/>
              </a:rPr>
              <a:t>MOS Sensor (TGS2611 for Ethylene): Detects ethylene gas levels to assess fruit ripeness.</a:t>
            </a:r>
            <a:endParaRPr lang="en-IN" altLang="en-US" sz="2400"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98344048-9E64-4AEC-B4F9-3F91630E4BF9}" type="datetime3">
              <a:rPr lang="en-US" smtClean="0"/>
            </a:fld>
            <a:endParaRPr lang="en-US"/>
          </a:p>
        </p:txBody>
      </p:sp>
      <p:sp>
        <p:nvSpPr>
          <p:cNvPr id="5" name="Footer Placeholder 4"/>
          <p:cNvSpPr>
            <a:spLocks noGrp="1"/>
          </p:cNvSpPr>
          <p:nvPr>
            <p:ph type="ftr" sz="quarter" idx="11"/>
          </p:nvPr>
        </p:nvSpPr>
        <p:spPr/>
        <p:txBody>
          <a:bodyPr/>
          <a:lstStyle/>
          <a:p>
            <a:r>
              <a:rPr lang="en-US" dirty="0"/>
              <a:t>School of Computing - CSE-</a:t>
            </a:r>
            <a:r>
              <a:rPr lang="en-US" dirty="0" err="1"/>
              <a:t>IoT</a:t>
            </a:r>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pic>
        <p:nvPicPr>
          <p:cNvPr id="9" name="Picture 8" descr="MOS_Sensor__TGS2611_for_Ethylene_-removebg-preview"/>
          <p:cNvPicPr>
            <a:picLocks noChangeAspect="1"/>
          </p:cNvPicPr>
          <p:nvPr/>
        </p:nvPicPr>
        <p:blipFill>
          <a:blip r:embed="rId1"/>
          <a:stretch>
            <a:fillRect/>
          </a:stretch>
        </p:blipFill>
        <p:spPr>
          <a:xfrm>
            <a:off x="6204585" y="2233930"/>
            <a:ext cx="2324100" cy="2390775"/>
          </a:xfrm>
          <a:prstGeom prst="rect">
            <a:avLst/>
          </a:prstGeom>
        </p:spPr>
      </p:pic>
      <p:sp>
        <p:nvSpPr>
          <p:cNvPr id="8" name="Text Box 7"/>
          <p:cNvSpPr txBox="1"/>
          <p:nvPr/>
        </p:nvSpPr>
        <p:spPr>
          <a:xfrm>
            <a:off x="1047750" y="4886960"/>
            <a:ext cx="4321175" cy="1543685"/>
          </a:xfrm>
          <a:prstGeom prst="rect">
            <a:avLst/>
          </a:prstGeom>
          <a:noFill/>
        </p:spPr>
        <p:txBody>
          <a:bodyPr wrap="square" rtlCol="0">
            <a:noAutofit/>
          </a:bodyPr>
          <a:p>
            <a:endParaRPr lang="en-US"/>
          </a:p>
        </p:txBody>
      </p:sp>
      <p:sp>
        <p:nvSpPr>
          <p:cNvPr id="10" name="Text Box 9"/>
          <p:cNvSpPr txBox="1"/>
          <p:nvPr/>
        </p:nvSpPr>
        <p:spPr>
          <a:xfrm>
            <a:off x="457200" y="3657600"/>
            <a:ext cx="6264910" cy="1737360"/>
          </a:xfrm>
          <a:prstGeom prst="rect">
            <a:avLst/>
          </a:prstGeom>
          <a:noFill/>
        </p:spPr>
        <p:txBody>
          <a:bodyPr wrap="square" rtlCol="0">
            <a:noAutofit/>
          </a:bodyPr>
          <a:p>
            <a:pPr marL="0" indent="0" algn="l">
              <a:buNone/>
            </a:pPr>
            <a:r>
              <a:rPr lang="en-US" sz="2400">
                <a:latin typeface="Times New Roman" panose="02020603050405020304" pitchFamily="18" charset="0"/>
                <a:cs typeface="Times New Roman" panose="02020603050405020304" pitchFamily="18" charset="0"/>
                <a:sym typeface="+mn-ea"/>
              </a:rPr>
              <a:t>The TGS2611 sensor is also a four-pin device:</a:t>
            </a:r>
            <a:endParaRPr lang="en-US" sz="2400">
              <a:latin typeface="Times New Roman" panose="02020603050405020304" pitchFamily="18" charset="0"/>
              <a:cs typeface="Times New Roman" panose="02020603050405020304" pitchFamily="18" charset="0"/>
            </a:endParaRPr>
          </a:p>
          <a:p>
            <a:pPr marL="0" indent="0" algn="l">
              <a:buNone/>
            </a:pPr>
            <a:r>
              <a:rPr lang="en-US" sz="2400">
                <a:latin typeface="Times New Roman" panose="02020603050405020304" pitchFamily="18" charset="0"/>
                <a:cs typeface="Times New Roman" panose="02020603050405020304" pitchFamily="18" charset="0"/>
                <a:sym typeface="+mn-ea"/>
              </a:rPr>
              <a:t>Pin 1 (VCC): Supply Voltage</a:t>
            </a:r>
            <a:endParaRPr lang="en-US" sz="2400">
              <a:latin typeface="Times New Roman" panose="02020603050405020304" pitchFamily="18" charset="0"/>
              <a:cs typeface="Times New Roman" panose="02020603050405020304" pitchFamily="18" charset="0"/>
            </a:endParaRPr>
          </a:p>
          <a:p>
            <a:pPr marL="0" indent="0" algn="l">
              <a:buNone/>
            </a:pPr>
            <a:r>
              <a:rPr lang="en-US" sz="2400">
                <a:latin typeface="Times New Roman" panose="02020603050405020304" pitchFamily="18" charset="0"/>
                <a:cs typeface="Times New Roman" panose="02020603050405020304" pitchFamily="18" charset="0"/>
                <a:sym typeface="+mn-ea"/>
              </a:rPr>
              <a:t>Pin 2 (GND): Ground</a:t>
            </a:r>
            <a:endParaRPr lang="en-US" sz="2400">
              <a:latin typeface="Times New Roman" panose="02020603050405020304" pitchFamily="18" charset="0"/>
              <a:cs typeface="Times New Roman" panose="02020603050405020304" pitchFamily="18" charset="0"/>
            </a:endParaRPr>
          </a:p>
          <a:p>
            <a:pPr marL="0" indent="0" algn="l">
              <a:buNone/>
            </a:pPr>
            <a:r>
              <a:rPr lang="en-US" sz="2400">
                <a:latin typeface="Times New Roman" panose="02020603050405020304" pitchFamily="18" charset="0"/>
                <a:cs typeface="Times New Roman" panose="02020603050405020304" pitchFamily="18" charset="0"/>
                <a:sym typeface="+mn-ea"/>
              </a:rPr>
              <a:t>Pin 3 (Output): Analog Signal Output</a:t>
            </a:r>
            <a:endParaRPr lang="en-US" sz="2400">
              <a:latin typeface="Times New Roman" panose="02020603050405020304" pitchFamily="18" charset="0"/>
              <a:cs typeface="Times New Roman" panose="02020603050405020304" pitchFamily="18" charset="0"/>
            </a:endParaRPr>
          </a:p>
          <a:p>
            <a:pPr marL="0" indent="0" algn="l">
              <a:buNone/>
            </a:pPr>
            <a:r>
              <a:rPr lang="en-US" sz="2400">
                <a:latin typeface="Times New Roman" panose="02020603050405020304" pitchFamily="18" charset="0"/>
                <a:cs typeface="Times New Roman" panose="02020603050405020304" pitchFamily="18" charset="0"/>
                <a:sym typeface="+mn-ea"/>
              </a:rPr>
              <a:t>Pin 4 (NC): Not Connected</a:t>
            </a:r>
            <a:endParaRPr lang="en-US" sz="2400">
              <a:latin typeface="Times New Roman" panose="02020603050405020304" pitchFamily="18" charset="0"/>
              <a:cs typeface="Times New Roman" panose="02020603050405020304" pitchFamily="18" charset="0"/>
            </a:endParaRPr>
          </a:p>
          <a:p>
            <a:endParaRPr lang="en-US" sz="2400">
              <a:latin typeface="Times New Roman" panose="02020603050405020304" pitchFamily="18" charset="0"/>
              <a:cs typeface="Times New Roman" panose="02020603050405020304" pitchFamily="18" charset="0"/>
            </a:endParaRPr>
          </a:p>
        </p:txBody>
      </p:sp>
      <p:sp>
        <p:nvSpPr>
          <p:cNvPr id="7" name="Text Box 6"/>
          <p:cNvSpPr txBox="1"/>
          <p:nvPr/>
        </p:nvSpPr>
        <p:spPr>
          <a:xfrm>
            <a:off x="228600" y="1295400"/>
            <a:ext cx="8189595" cy="829945"/>
          </a:xfrm>
          <a:prstGeom prst="rect">
            <a:avLst/>
          </a:prstGeom>
          <a:noFill/>
        </p:spPr>
        <p:txBody>
          <a:bodyPr wrap="square" rtlCol="0">
            <a:spAutoFit/>
          </a:bodyPr>
          <a:p>
            <a:pPr marL="342900" indent="-342900">
              <a:buFont typeface="Wingdings" panose="05000000000000000000" charset="0"/>
              <a:buChar char="Ø"/>
            </a:pPr>
            <a:r>
              <a:rPr lang="en-IN" altLang="en-US" sz="2400" b="1" dirty="0">
                <a:latin typeface="Times New Roman" panose="02020603050405020304" pitchFamily="18" charset="0"/>
                <a:cs typeface="Times New Roman" panose="02020603050405020304" pitchFamily="18" charset="0"/>
                <a:sym typeface="+mn-ea"/>
              </a:rPr>
              <a:t>MOS Sensor (TGS2611 for Ethylene)</a:t>
            </a:r>
            <a:endParaRPr lang="en-IN" altLang="en-US" sz="2400" b="1" dirty="0">
              <a:latin typeface="Times New Roman" panose="02020603050405020304" pitchFamily="18" charset="0"/>
              <a:cs typeface="Times New Roman" panose="02020603050405020304" pitchFamily="18" charset="0"/>
            </a:endParaRPr>
          </a:p>
          <a:p>
            <a:pPr marL="285750" indent="-285750">
              <a:buFont typeface="Wingdings" panose="05000000000000000000" charset="0"/>
              <a:buChar char="Ø"/>
            </a:pPr>
            <a:endParaRPr lang="en-US"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3200" b="1" dirty="0">
                <a:latin typeface="Times New Roman" panose="02020603050405020304" pitchFamily="18" charset="0"/>
                <a:cs typeface="Times New Roman" panose="02020603050405020304" pitchFamily="18" charset="0"/>
              </a:rPr>
              <a:t>Cont..</a:t>
            </a: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676400"/>
            <a:ext cx="8229600" cy="4525963"/>
          </a:xfrm>
        </p:spPr>
        <p:txBody>
          <a:bodyPr>
            <a:normAutofit/>
          </a:bodyPr>
          <a:lstStyle/>
          <a:p>
            <a:pPr marL="0" indent="0" algn="l">
              <a:buNone/>
            </a:pPr>
            <a:r>
              <a:rPr lang="en-IN" altLang="en-US" sz="2400" dirty="0">
                <a:latin typeface="Times New Roman" panose="02020603050405020304" pitchFamily="18" charset="0"/>
                <a:cs typeface="Times New Roman" panose="02020603050405020304" pitchFamily="18" charset="0"/>
              </a:rPr>
              <a:t>PID Sensor (MiniPID 2 for low concentration VOCs): Measures low concentrations of volatile organic compounds (VOCs) in the air.</a:t>
            </a:r>
            <a:endParaRPr lang="en-IN" altLang="en-US"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98344048-9E64-4AEC-B4F9-3F91630E4BF9}" type="datetime3">
              <a:rPr lang="en-US" smtClean="0"/>
            </a:fld>
            <a:endParaRPr lang="en-US"/>
          </a:p>
        </p:txBody>
      </p:sp>
      <p:sp>
        <p:nvSpPr>
          <p:cNvPr id="5" name="Footer Placeholder 4"/>
          <p:cNvSpPr>
            <a:spLocks noGrp="1"/>
          </p:cNvSpPr>
          <p:nvPr>
            <p:ph type="ftr" sz="quarter" idx="11"/>
          </p:nvPr>
        </p:nvSpPr>
        <p:spPr/>
        <p:txBody>
          <a:bodyPr/>
          <a:lstStyle/>
          <a:p>
            <a:r>
              <a:rPr lang="en-US" dirty="0"/>
              <a:t>School of Computing - CSE-</a:t>
            </a:r>
            <a:r>
              <a:rPr lang="en-US" dirty="0" err="1"/>
              <a:t>IoT</a:t>
            </a:r>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pic>
        <p:nvPicPr>
          <p:cNvPr id="8" name="Picture 7" descr="pid-removebg-preview"/>
          <p:cNvPicPr>
            <a:picLocks noChangeAspect="1"/>
          </p:cNvPicPr>
          <p:nvPr/>
        </p:nvPicPr>
        <p:blipFill>
          <a:blip r:embed="rId1"/>
          <a:stretch>
            <a:fillRect/>
          </a:stretch>
        </p:blipFill>
        <p:spPr>
          <a:xfrm>
            <a:off x="7162800" y="2286000"/>
            <a:ext cx="1733550" cy="2390775"/>
          </a:xfrm>
          <a:prstGeom prst="rect">
            <a:avLst/>
          </a:prstGeom>
        </p:spPr>
      </p:pic>
      <p:sp>
        <p:nvSpPr>
          <p:cNvPr id="9" name="Text Box 8"/>
          <p:cNvSpPr txBox="1"/>
          <p:nvPr/>
        </p:nvSpPr>
        <p:spPr>
          <a:xfrm>
            <a:off x="332740" y="3505200"/>
            <a:ext cx="8597900" cy="3888740"/>
          </a:xfrm>
          <a:prstGeom prst="rect">
            <a:avLst/>
          </a:prstGeom>
          <a:noFill/>
        </p:spPr>
        <p:txBody>
          <a:bodyPr wrap="square" rtlCol="0">
            <a:noAutofit/>
          </a:bodyPr>
          <a:p>
            <a:r>
              <a:rPr lang="en-US">
                <a:latin typeface="Times New Roman" panose="02020603050405020304" pitchFamily="18" charset="0"/>
                <a:cs typeface="Times New Roman" panose="02020603050405020304" pitchFamily="18" charset="0"/>
              </a:rPr>
              <a:t>The MiniPID 2 sensor typically has the following pin configuration:</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Pin 1 (VCC): Supply Voltage</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Pin 2 (GND): Ground</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Pin 3 (Signal): Analog Signal Output</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Pin 4 (NC): Not Connected (depending on specific model, there might be other configurations)</a:t>
            </a:r>
            <a:endParaRPr lang="en-US">
              <a:latin typeface="Times New Roman" panose="02020603050405020304" pitchFamily="18" charset="0"/>
              <a:cs typeface="Times New Roman" panose="02020603050405020304" pitchFamily="18" charset="0"/>
            </a:endParaRPr>
          </a:p>
        </p:txBody>
      </p:sp>
      <p:sp>
        <p:nvSpPr>
          <p:cNvPr id="11" name="Text Box 10"/>
          <p:cNvSpPr txBox="1"/>
          <p:nvPr/>
        </p:nvSpPr>
        <p:spPr>
          <a:xfrm>
            <a:off x="299085" y="1219200"/>
            <a:ext cx="4035425" cy="460375"/>
          </a:xfrm>
          <a:prstGeom prst="rect">
            <a:avLst/>
          </a:prstGeom>
          <a:noFill/>
        </p:spPr>
        <p:txBody>
          <a:bodyPr wrap="square" rtlCol="0">
            <a:spAutoFit/>
          </a:bodyPr>
          <a:p>
            <a:pPr marL="342900" indent="-342900">
              <a:buFont typeface="Wingdings" panose="05000000000000000000" charset="0"/>
              <a:buChar char="Ø"/>
            </a:pPr>
            <a:r>
              <a:rPr lang="en-IN" altLang="en-US" sz="2400" b="1" dirty="0">
                <a:latin typeface="Times New Roman" panose="02020603050405020304" pitchFamily="18" charset="0"/>
                <a:cs typeface="Times New Roman" panose="02020603050405020304" pitchFamily="18" charset="0"/>
                <a:sym typeface="+mn-ea"/>
              </a:rPr>
              <a:t>PID Sensor (MiniPID 2)</a:t>
            </a:r>
            <a:endParaRPr 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3200" b="1" dirty="0">
                <a:latin typeface="Times New Roman" panose="02020603050405020304" pitchFamily="18" charset="0"/>
                <a:cs typeface="Times New Roman" panose="02020603050405020304" pitchFamily="18" charset="0"/>
              </a:rPr>
              <a:t>Cont..</a:t>
            </a: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lgn="l">
              <a:buNone/>
            </a:pPr>
            <a:r>
              <a:rPr lang="en-IN" altLang="en-US" sz="2400" dirty="0">
                <a:latin typeface="Times New Roman" panose="02020603050405020304" pitchFamily="18" charset="0"/>
                <a:cs typeface="Times New Roman" panose="02020603050405020304" pitchFamily="18" charset="0"/>
              </a:rPr>
              <a:t>Humidity and Temperature Sensor (DHT22): Measures both humidity and temperature levels in the environment.</a:t>
            </a:r>
            <a:endParaRPr lang="en-IN" altLang="en-US"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98344048-9E64-4AEC-B4F9-3F91630E4BF9}" type="datetime3">
              <a:rPr lang="en-US" smtClean="0"/>
            </a:fld>
            <a:endParaRPr lang="en-US"/>
          </a:p>
        </p:txBody>
      </p:sp>
      <p:sp>
        <p:nvSpPr>
          <p:cNvPr id="5" name="Footer Placeholder 4"/>
          <p:cNvSpPr>
            <a:spLocks noGrp="1"/>
          </p:cNvSpPr>
          <p:nvPr>
            <p:ph type="ftr" sz="quarter" idx="11"/>
          </p:nvPr>
        </p:nvSpPr>
        <p:spPr/>
        <p:txBody>
          <a:bodyPr/>
          <a:lstStyle/>
          <a:p>
            <a:r>
              <a:rPr lang="en-US" dirty="0"/>
              <a:t>School of Computing - CSE-</a:t>
            </a:r>
            <a:r>
              <a:rPr lang="en-US" dirty="0" err="1"/>
              <a:t>IoT</a:t>
            </a:r>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pic>
        <p:nvPicPr>
          <p:cNvPr id="8" name="Picture 7" descr="DIP-removebg-preview"/>
          <p:cNvPicPr>
            <a:picLocks noChangeAspect="1"/>
          </p:cNvPicPr>
          <p:nvPr/>
        </p:nvPicPr>
        <p:blipFill>
          <a:blip r:embed="rId1"/>
          <a:stretch>
            <a:fillRect/>
          </a:stretch>
        </p:blipFill>
        <p:spPr>
          <a:xfrm>
            <a:off x="5867400" y="2971800"/>
            <a:ext cx="2705100" cy="2705100"/>
          </a:xfrm>
          <a:prstGeom prst="rect">
            <a:avLst/>
          </a:prstGeom>
        </p:spPr>
      </p:pic>
      <p:sp>
        <p:nvSpPr>
          <p:cNvPr id="9" name="Text Box 8"/>
          <p:cNvSpPr txBox="1"/>
          <p:nvPr/>
        </p:nvSpPr>
        <p:spPr>
          <a:xfrm>
            <a:off x="327660" y="2644775"/>
            <a:ext cx="8359775" cy="4076700"/>
          </a:xfrm>
          <a:prstGeom prst="rect">
            <a:avLst/>
          </a:prstGeom>
          <a:noFill/>
        </p:spPr>
        <p:txBody>
          <a:bodyPr wrap="square" rtlCol="0">
            <a:noAutofit/>
          </a:bodyPr>
          <a:p>
            <a:r>
              <a:rPr lang="en-US" sz="2400">
                <a:latin typeface="Times New Roman" panose="02020603050405020304" pitchFamily="18" charset="0"/>
                <a:cs typeface="Times New Roman" panose="02020603050405020304" pitchFamily="18" charset="0"/>
              </a:rPr>
              <a:t>The DHT11 sensor has four pins, but only three are typically used:</a:t>
            </a:r>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Pin 1 (VCC): 3.3V to 5V Power</a:t>
            </a:r>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Pin 2 (Data): Serial Data Output</a:t>
            </a:r>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Pin 3 (NC): Not Connected</a:t>
            </a:r>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Pin 4 (GND): Ground</a:t>
            </a:r>
            <a:endParaRPr lang="en-US" sz="2400">
              <a:latin typeface="Times New Roman" panose="02020603050405020304" pitchFamily="18" charset="0"/>
              <a:cs typeface="Times New Roman" panose="02020603050405020304" pitchFamily="18" charset="0"/>
            </a:endParaRPr>
          </a:p>
        </p:txBody>
      </p:sp>
      <p:sp>
        <p:nvSpPr>
          <p:cNvPr id="10" name="Text Box 9"/>
          <p:cNvSpPr txBox="1"/>
          <p:nvPr/>
        </p:nvSpPr>
        <p:spPr>
          <a:xfrm>
            <a:off x="304800" y="1295400"/>
            <a:ext cx="3048000" cy="460375"/>
          </a:xfrm>
          <a:prstGeom prst="rect">
            <a:avLst/>
          </a:prstGeom>
          <a:noFill/>
        </p:spPr>
        <p:txBody>
          <a:bodyPr wrap="square" rtlCol="0">
            <a:spAutoFit/>
          </a:bodyPr>
          <a:p>
            <a:pPr marL="342900" indent="-342900">
              <a:buFont typeface="Wingdings" panose="05000000000000000000" charset="0"/>
              <a:buChar char="Ø"/>
            </a:pPr>
            <a:r>
              <a:rPr lang="en-IN" altLang="en-US" sz="2400" b="1" dirty="0">
                <a:latin typeface="Times New Roman" panose="02020603050405020304" pitchFamily="18" charset="0"/>
                <a:cs typeface="Times New Roman" panose="02020603050405020304" pitchFamily="18" charset="0"/>
                <a:sym typeface="+mn-ea"/>
              </a:rPr>
              <a:t>DHT22</a:t>
            </a:r>
            <a:endParaRPr 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3200" b="1" dirty="0">
                <a:latin typeface="Times New Roman" panose="02020603050405020304" pitchFamily="18" charset="0"/>
                <a:cs typeface="Times New Roman" panose="02020603050405020304" pitchFamily="18" charset="0"/>
              </a:rPr>
              <a:t>Cont..</a:t>
            </a: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lgn="l">
              <a:buNone/>
            </a:pPr>
            <a:r>
              <a:rPr lang="en-IN" altLang="en-US" sz="2400" dirty="0">
                <a:latin typeface="Times New Roman" panose="02020603050405020304" pitchFamily="18" charset="0"/>
                <a:cs typeface="Times New Roman" panose="02020603050405020304" pitchFamily="18" charset="0"/>
              </a:rPr>
              <a:t>MOS Sensor (TGS2602 for Ammonia and Hydrogen Sulfide): Detects the presence of ammonia and hydrogen sulfide gases.</a:t>
            </a:r>
            <a:endParaRPr lang="en-IN" altLang="en-US"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98344048-9E64-4AEC-B4F9-3F91630E4BF9}" type="datetime3">
              <a:rPr lang="en-US" smtClean="0"/>
            </a:fld>
            <a:endParaRPr lang="en-US"/>
          </a:p>
        </p:txBody>
      </p:sp>
      <p:sp>
        <p:nvSpPr>
          <p:cNvPr id="5" name="Footer Placeholder 4"/>
          <p:cNvSpPr>
            <a:spLocks noGrp="1"/>
          </p:cNvSpPr>
          <p:nvPr>
            <p:ph type="ftr" sz="quarter" idx="11"/>
          </p:nvPr>
        </p:nvSpPr>
        <p:spPr/>
        <p:txBody>
          <a:bodyPr/>
          <a:lstStyle/>
          <a:p>
            <a:r>
              <a:rPr lang="en-US" dirty="0"/>
              <a:t>School of Computing - CSE-</a:t>
            </a:r>
            <a:r>
              <a:rPr lang="en-US" dirty="0" err="1"/>
              <a:t>IoT</a:t>
            </a:r>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pic>
        <p:nvPicPr>
          <p:cNvPr id="10" name="Picture 9" descr="MOS_Sensor__TGS2602_for_Ammonia_and_Hydrogen_Sulfide_-removebg-preview"/>
          <p:cNvPicPr>
            <a:picLocks noChangeAspect="1"/>
          </p:cNvPicPr>
          <p:nvPr/>
        </p:nvPicPr>
        <p:blipFill>
          <a:blip r:embed="rId1"/>
          <a:stretch>
            <a:fillRect/>
          </a:stretch>
        </p:blipFill>
        <p:spPr>
          <a:xfrm>
            <a:off x="5718810" y="2819400"/>
            <a:ext cx="2809875" cy="2809875"/>
          </a:xfrm>
          <a:prstGeom prst="rect">
            <a:avLst/>
          </a:prstGeom>
        </p:spPr>
      </p:pic>
      <p:sp>
        <p:nvSpPr>
          <p:cNvPr id="7" name="Text Box 6"/>
          <p:cNvSpPr txBox="1"/>
          <p:nvPr/>
        </p:nvSpPr>
        <p:spPr>
          <a:xfrm>
            <a:off x="587375" y="2555240"/>
            <a:ext cx="8042275" cy="3754755"/>
          </a:xfrm>
          <a:prstGeom prst="rect">
            <a:avLst/>
          </a:prstGeom>
          <a:noFill/>
        </p:spPr>
        <p:txBody>
          <a:bodyPr wrap="square" rtlCol="0">
            <a:noAutofit/>
          </a:bodyPr>
          <a:p>
            <a:r>
              <a:rPr lang="en-US" sz="2400">
                <a:latin typeface="Times New Roman" panose="02020603050405020304" pitchFamily="18" charset="0"/>
                <a:cs typeface="Times New Roman" panose="02020603050405020304" pitchFamily="18" charset="0"/>
              </a:rPr>
              <a:t>The TGS2602 sensor is a four-pin device:</a:t>
            </a:r>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Pin 1 (VCC): Supply Voltage</a:t>
            </a:r>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Pin 2 (GND): Ground</a:t>
            </a:r>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Pin 3 (Output): Analog Signal Output</a:t>
            </a:r>
            <a:endParaRPr lang="en-US"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Pin 4 (NC): Not Connected</a:t>
            </a:r>
            <a:endParaRPr lang="en-US" sz="2400">
              <a:latin typeface="Times New Roman" panose="02020603050405020304" pitchFamily="18" charset="0"/>
              <a:cs typeface="Times New Roman" panose="02020603050405020304" pitchFamily="18" charset="0"/>
            </a:endParaRPr>
          </a:p>
        </p:txBody>
      </p:sp>
      <p:sp>
        <p:nvSpPr>
          <p:cNvPr id="9" name="Text Box 8"/>
          <p:cNvSpPr txBox="1"/>
          <p:nvPr/>
        </p:nvSpPr>
        <p:spPr>
          <a:xfrm>
            <a:off x="381000" y="1219200"/>
            <a:ext cx="4531360" cy="460375"/>
          </a:xfrm>
          <a:prstGeom prst="rect">
            <a:avLst/>
          </a:prstGeom>
          <a:noFill/>
        </p:spPr>
        <p:txBody>
          <a:bodyPr wrap="square" rtlCol="0">
            <a:spAutoFit/>
          </a:bodyPr>
          <a:p>
            <a:pPr marL="342900" indent="-342900">
              <a:buFont typeface="Wingdings" panose="05000000000000000000" charset="0"/>
              <a:buChar char="Ø"/>
            </a:pPr>
            <a:r>
              <a:rPr lang="en-IN" altLang="en-US" sz="2400" b="1" dirty="0">
                <a:latin typeface="Times New Roman" panose="02020603050405020304" pitchFamily="18" charset="0"/>
                <a:cs typeface="Times New Roman" panose="02020603050405020304" pitchFamily="18" charset="0"/>
                <a:sym typeface="+mn-ea"/>
              </a:rPr>
              <a:t>MOS Sensor (TGS2602 )</a:t>
            </a:r>
            <a:endParaRPr 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title"/>
          </p:nvPr>
        </p:nvSpPr>
        <p:spPr>
          <a:xfrm>
            <a:off x="495300" y="381000"/>
            <a:ext cx="8229600" cy="655638"/>
          </a:xfrm>
        </p:spPr>
        <p:txBody>
          <a:bodyPr>
            <a:normAutofit/>
          </a:bodyPr>
          <a:lstStyle/>
          <a:p>
            <a:pPr algn="l"/>
            <a:r>
              <a:rPr lang="en-US" sz="3200" b="1" dirty="0">
                <a:latin typeface="Times New Roman" panose="02020603050405020304" pitchFamily="18" charset="0"/>
                <a:cs typeface="Times New Roman" panose="02020603050405020304" pitchFamily="18" charset="0"/>
              </a:rPr>
              <a:t>PROPOSED SYSTEM </a:t>
            </a:r>
            <a:endParaRPr lang="en-US" sz="3200" b="1" dirty="0">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fld id="{4B31D90E-961D-4570-9059-6D31ADC1C5A4}" type="datetime3">
              <a:rPr lang="en-US" smtClean="0"/>
            </a:fld>
            <a:endParaRPr lang="en-US"/>
          </a:p>
        </p:txBody>
      </p:sp>
      <p:sp>
        <p:nvSpPr>
          <p:cNvPr id="8" name="Footer Placeholder 7"/>
          <p:cNvSpPr>
            <a:spLocks noGrp="1"/>
          </p:cNvSpPr>
          <p:nvPr>
            <p:ph type="ftr" sz="quarter" idx="11"/>
          </p:nvPr>
        </p:nvSpPr>
        <p:spPr/>
        <p:txBody>
          <a:bodyPr/>
          <a:lstStyle/>
          <a:p>
            <a:r>
              <a:rPr lang="en-US" dirty="0"/>
              <a:t>School of Computing - CSE-</a:t>
            </a:r>
            <a:r>
              <a:rPr lang="en-US" dirty="0" err="1"/>
              <a:t>IoT</a:t>
            </a:r>
            <a:endParaRPr lang="en-US" dirty="0"/>
          </a:p>
        </p:txBody>
      </p:sp>
      <p:sp>
        <p:nvSpPr>
          <p:cNvPr id="9" name="Slide Number Placeholder 8"/>
          <p:cNvSpPr>
            <a:spLocks noGrp="1"/>
          </p:cNvSpPr>
          <p:nvPr>
            <p:ph type="sldNum" sz="quarter" idx="12"/>
          </p:nvPr>
        </p:nvSpPr>
        <p:spPr/>
        <p:txBody>
          <a:bodyPr/>
          <a:lstStyle/>
          <a:p>
            <a:fld id="{7B28076C-CE04-4A00-BFAA-A90EA8355859}" type="slidenum">
              <a:rPr lang="en-US" smtClean="0"/>
            </a:fld>
            <a:endParaRPr lang="en-US"/>
          </a:p>
        </p:txBody>
      </p:sp>
      <p:sp>
        <p:nvSpPr>
          <p:cNvPr id="3" name="Content Placeholder 2"/>
          <p:cNvSpPr>
            <a:spLocks noGrp="1"/>
          </p:cNvSpPr>
          <p:nvPr>
            <p:ph idx="1"/>
          </p:nvPr>
        </p:nvSpPr>
        <p:spPr>
          <a:xfrm>
            <a:off x="457200" y="1371600"/>
            <a:ext cx="8229600" cy="4984750"/>
          </a:xfrm>
        </p:spPr>
        <p:txBody>
          <a:bodyPr>
            <a:normAutofit/>
          </a:bodyPr>
          <a:lstStyle/>
          <a:p>
            <a:pPr marL="0" indent="0" algn="just">
              <a:spcBef>
                <a:spcPts val="600"/>
              </a:spcBef>
              <a:buNone/>
            </a:pPr>
            <a:r>
              <a:rPr lang="en-IN" altLang="en-US" sz="2400" b="1" dirty="0">
                <a:effectLst/>
                <a:latin typeface="Times New Roman" panose="02020603050405020304" pitchFamily="18" charset="0"/>
                <a:ea typeface="Arimo"/>
                <a:cs typeface="Times New Roman" panose="02020603050405020304" pitchFamily="18" charset="0"/>
              </a:rPr>
              <a:t>ADVANTAGES</a:t>
            </a:r>
            <a:endParaRPr lang="en-US" sz="2400" b="1" dirty="0">
              <a:effectLst/>
              <a:latin typeface="Times New Roman" panose="02020603050405020304" pitchFamily="18" charset="0"/>
              <a:ea typeface="Arimo"/>
              <a:cs typeface="Times New Roman" panose="02020603050405020304" pitchFamily="18" charset="0"/>
            </a:endParaRPr>
          </a:p>
          <a:p>
            <a:pPr marL="457200" indent="-457200" algn="just">
              <a:spcBef>
                <a:spcPts val="600"/>
              </a:spcBef>
              <a:buAutoNum type="arabicPeriod"/>
            </a:pPr>
            <a:r>
              <a:rPr lang="en-US" sz="2400" dirty="0">
                <a:effectLst/>
                <a:latin typeface="Times New Roman" panose="02020603050405020304" pitchFamily="18" charset="0"/>
                <a:ea typeface="Arimo"/>
                <a:cs typeface="Times New Roman" panose="02020603050405020304" pitchFamily="18" charset="0"/>
              </a:rPr>
              <a:t>Comprehensive Monitoring</a:t>
            </a:r>
            <a:endParaRPr lang="en-US" sz="2400" dirty="0">
              <a:effectLst/>
              <a:latin typeface="Times New Roman" panose="02020603050405020304" pitchFamily="18" charset="0"/>
              <a:ea typeface="Arimo"/>
              <a:cs typeface="Times New Roman" panose="02020603050405020304" pitchFamily="18" charset="0"/>
            </a:endParaRPr>
          </a:p>
          <a:p>
            <a:pPr marL="457200" indent="-457200" algn="just">
              <a:spcBef>
                <a:spcPts val="600"/>
              </a:spcBef>
              <a:buAutoNum type="arabicPeriod"/>
            </a:pPr>
            <a:r>
              <a:rPr lang="en-US" sz="2400" dirty="0">
                <a:effectLst/>
                <a:latin typeface="Times New Roman" panose="02020603050405020304" pitchFamily="18" charset="0"/>
                <a:ea typeface="Arimo"/>
                <a:cs typeface="Times New Roman" panose="02020603050405020304" pitchFamily="18" charset="0"/>
              </a:rPr>
              <a:t>Enhanced Crop Management</a:t>
            </a:r>
            <a:endParaRPr lang="en-US" sz="2400" dirty="0">
              <a:effectLst/>
              <a:latin typeface="Times New Roman" panose="02020603050405020304" pitchFamily="18" charset="0"/>
              <a:ea typeface="Arimo"/>
              <a:cs typeface="Times New Roman" panose="02020603050405020304" pitchFamily="18" charset="0"/>
            </a:endParaRPr>
          </a:p>
          <a:p>
            <a:pPr marL="457200" indent="-457200" algn="just">
              <a:spcBef>
                <a:spcPts val="600"/>
              </a:spcBef>
              <a:buAutoNum type="arabicPeriod"/>
            </a:pPr>
            <a:r>
              <a:rPr lang="en-US" sz="2400" dirty="0">
                <a:effectLst/>
                <a:latin typeface="Times New Roman" panose="02020603050405020304" pitchFamily="18" charset="0"/>
                <a:ea typeface="Arimo"/>
                <a:cs typeface="Times New Roman" panose="02020603050405020304" pitchFamily="18" charset="0"/>
              </a:rPr>
              <a:t>Environmental Benefits</a:t>
            </a:r>
            <a:endParaRPr lang="en-US" sz="2400" dirty="0">
              <a:effectLst/>
              <a:latin typeface="Times New Roman" panose="02020603050405020304" pitchFamily="18" charset="0"/>
              <a:ea typeface="Arimo"/>
              <a:cs typeface="Times New Roman" panose="02020603050405020304" pitchFamily="18" charset="0"/>
            </a:endParaRPr>
          </a:p>
          <a:p>
            <a:pPr marL="457200" indent="-457200" algn="just">
              <a:spcBef>
                <a:spcPts val="600"/>
              </a:spcBef>
              <a:buAutoNum type="arabicPeriod"/>
            </a:pPr>
            <a:r>
              <a:rPr lang="en-US" sz="2400" dirty="0">
                <a:effectLst/>
                <a:latin typeface="Times New Roman" panose="02020603050405020304" pitchFamily="18" charset="0"/>
                <a:ea typeface="Arimo"/>
                <a:cs typeface="Times New Roman" panose="02020603050405020304" pitchFamily="18" charset="0"/>
              </a:rPr>
              <a:t>Economic Benefits</a:t>
            </a:r>
            <a:endParaRPr lang="en-US" sz="2400" dirty="0">
              <a:effectLst/>
              <a:latin typeface="Times New Roman" panose="02020603050405020304" pitchFamily="18" charset="0"/>
              <a:ea typeface="Arimo"/>
              <a:cs typeface="Times New Roman" panose="02020603050405020304" pitchFamily="18" charset="0"/>
            </a:endParaRPr>
          </a:p>
          <a:p>
            <a:pPr marL="457200" indent="-457200" algn="just">
              <a:spcBef>
                <a:spcPts val="600"/>
              </a:spcBef>
              <a:buAutoNum type="arabicPeriod"/>
            </a:pPr>
            <a:r>
              <a:rPr lang="en-US" sz="2400" dirty="0">
                <a:effectLst/>
                <a:latin typeface="Times New Roman" panose="02020603050405020304" pitchFamily="18" charset="0"/>
                <a:ea typeface="Arimo"/>
                <a:cs typeface="Times New Roman" panose="02020603050405020304" pitchFamily="18" charset="0"/>
              </a:rPr>
              <a:t>User-Friendly Design</a:t>
            </a:r>
            <a:endParaRPr lang="en-US" sz="2400" dirty="0">
              <a:effectLst/>
              <a:latin typeface="Times New Roman" panose="02020603050405020304" pitchFamily="18" charset="0"/>
              <a:ea typeface="Arimo"/>
              <a:cs typeface="Times New Roman" panose="02020603050405020304" pitchFamily="18" charset="0"/>
            </a:endParaRPr>
          </a:p>
          <a:p>
            <a:pPr marL="0" indent="0" algn="just">
              <a:spcBef>
                <a:spcPts val="600"/>
              </a:spcBef>
              <a:buNone/>
            </a:pPr>
            <a:endParaRPr lang="en-US" sz="2400" dirty="0">
              <a:effectLst/>
              <a:latin typeface="Times New Roman" panose="02020603050405020304" pitchFamily="18" charset="0"/>
              <a:ea typeface="Arimo"/>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3200" b="1" dirty="0">
                <a:latin typeface="Times New Roman" panose="02020603050405020304" pitchFamily="18" charset="0"/>
                <a:cs typeface="Times New Roman" panose="02020603050405020304" pitchFamily="18" charset="0"/>
              </a:rPr>
              <a:t>REFERENCES</a:t>
            </a: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371600"/>
            <a:ext cx="8229600" cy="5105400"/>
          </a:xfrm>
        </p:spPr>
        <p:txBody>
          <a:bodyPr>
            <a:noAutofit/>
          </a:bodyPr>
          <a:lstStyle/>
          <a:p>
            <a:pPr algn="just">
              <a:lnSpc>
                <a:spcPct val="150000"/>
              </a:lnSpc>
              <a:spcAft>
                <a:spcPts val="800"/>
              </a:spcAft>
              <a:buAutoNum type="arabicPeriod"/>
            </a:pPr>
            <a:r>
              <a:rPr lang="en-US" sz="1600" dirty="0">
                <a:latin typeface="Times New Roman" panose="02020603050405020304" pitchFamily="18" charset="0"/>
                <a:cs typeface="Times New Roman" panose="02020603050405020304" pitchFamily="18" charset="0"/>
                <a:sym typeface="+mn-ea"/>
              </a:rPr>
              <a:t> </a:t>
            </a:r>
            <a:r>
              <a:rPr lang="en-US" sz="1600" dirty="0">
                <a:latin typeface="Times New Roman" panose="02020603050405020304" pitchFamily="18" charset="0"/>
                <a:cs typeface="Times New Roman" panose="02020603050405020304" pitchFamily="18" charset="0"/>
                <a:sym typeface="+mn-ea"/>
              </a:rPr>
              <a:t>AD Wilson., </a:t>
            </a:r>
            <a:r>
              <a:rPr lang="en-IN" sz="1600" dirty="0">
                <a:latin typeface="Times New Roman" panose="02020603050405020304" pitchFamily="18" charset="0"/>
                <a:cs typeface="Times New Roman" panose="02020603050405020304" pitchFamily="18" charset="0"/>
                <a:sym typeface="+mn-ea"/>
              </a:rPr>
              <a:t>M </a:t>
            </a:r>
            <a:r>
              <a:rPr lang="en-IN" sz="1600" dirty="0" err="1">
                <a:latin typeface="Times New Roman" panose="02020603050405020304" pitchFamily="18" charset="0"/>
                <a:cs typeface="Times New Roman" panose="02020603050405020304" pitchFamily="18" charset="0"/>
                <a:sym typeface="+mn-ea"/>
              </a:rPr>
              <a:t>Baietto</a:t>
            </a:r>
            <a:r>
              <a:rPr lang="en-US" sz="1600" dirty="0">
                <a:latin typeface="Times New Roman" panose="02020603050405020304" pitchFamily="18" charset="0"/>
                <a:cs typeface="Times New Roman" panose="02020603050405020304" pitchFamily="18" charset="0"/>
                <a:sym typeface="+mn-ea"/>
              </a:rPr>
              <a:t>. (2015).  Electronic-Nose Applications for Fruit Identification, Ripeness, and Quality Grading. </a:t>
            </a:r>
            <a:r>
              <a:rPr lang="en-US" sz="1600" i="1" dirty="0">
                <a:latin typeface="Times New Roman" panose="02020603050405020304" pitchFamily="18" charset="0"/>
                <a:cs typeface="Times New Roman" panose="02020603050405020304" pitchFamily="18" charset="0"/>
                <a:sym typeface="+mn-ea"/>
              </a:rPr>
              <a:t>MDPI Sensors for Food Safety and Quality, 15(1), </a:t>
            </a:r>
            <a:r>
              <a:rPr lang="en-US" sz="1600" dirty="0">
                <a:latin typeface="Times New Roman" panose="02020603050405020304" pitchFamily="18" charset="0"/>
                <a:cs typeface="Times New Roman" panose="02020603050405020304" pitchFamily="18" charset="0"/>
                <a:sym typeface="+mn-ea"/>
              </a:rPr>
              <a:t>899-931. </a:t>
            </a:r>
            <a:r>
              <a:rPr lang="en-US" sz="1600" dirty="0">
                <a:latin typeface="Times New Roman" panose="02020603050405020304" pitchFamily="18" charset="0"/>
                <a:cs typeface="Times New Roman" panose="02020603050405020304" pitchFamily="18" charset="0"/>
                <a:sym typeface="+mn-ea"/>
                <a:hlinkClick r:id="rId1"/>
              </a:rPr>
              <a:t>https://doi.org/10.3390/s150100899</a:t>
            </a:r>
            <a:endParaRPr lang="en-US" sz="1600" dirty="0">
              <a:latin typeface="Times New Roman" panose="02020603050405020304" pitchFamily="18" charset="0"/>
              <a:cs typeface="Times New Roman" panose="02020603050405020304" pitchFamily="18" charset="0"/>
            </a:endParaRPr>
          </a:p>
          <a:p>
            <a:pPr algn="just">
              <a:lnSpc>
                <a:spcPct val="150000"/>
              </a:lnSpc>
              <a:spcAft>
                <a:spcPts val="800"/>
              </a:spcAft>
              <a:buAutoNum type="arabicPeriod"/>
            </a:pPr>
            <a:r>
              <a:rPr lang="en-US" sz="1600" dirty="0" err="1">
                <a:latin typeface="Times New Roman" panose="02020603050405020304" pitchFamily="18" charset="0"/>
                <a:cs typeface="Times New Roman" panose="02020603050405020304" pitchFamily="18" charset="0"/>
                <a:sym typeface="+mn-ea"/>
              </a:rPr>
              <a:t>Brezmes</a:t>
            </a:r>
            <a:r>
              <a:rPr lang="en-US" sz="1600" dirty="0">
                <a:latin typeface="Times New Roman" panose="02020603050405020304" pitchFamily="18" charset="0"/>
                <a:cs typeface="Times New Roman" panose="02020603050405020304" pitchFamily="18" charset="0"/>
                <a:sym typeface="+mn-ea"/>
              </a:rPr>
              <a:t>., </a:t>
            </a:r>
            <a:r>
              <a:rPr lang="en-US" sz="1600" dirty="0" err="1">
                <a:latin typeface="Times New Roman" panose="02020603050405020304" pitchFamily="18" charset="0"/>
                <a:cs typeface="Times New Roman" panose="02020603050405020304" pitchFamily="18" charset="0"/>
                <a:sym typeface="+mn-ea"/>
              </a:rPr>
              <a:t>Ma.L.L</a:t>
            </a:r>
            <a:r>
              <a:rPr lang="en-US" sz="1600" dirty="0">
                <a:latin typeface="Times New Roman" panose="02020603050405020304" pitchFamily="18" charset="0"/>
                <a:cs typeface="Times New Roman" panose="02020603050405020304" pitchFamily="18" charset="0"/>
                <a:sym typeface="+mn-ea"/>
              </a:rPr>
              <a:t>. </a:t>
            </a:r>
            <a:r>
              <a:rPr lang="en-US" sz="1600" dirty="0" err="1">
                <a:latin typeface="Times New Roman" panose="02020603050405020304" pitchFamily="18" charset="0"/>
                <a:cs typeface="Times New Roman" panose="02020603050405020304" pitchFamily="18" charset="0"/>
                <a:sym typeface="+mn-ea"/>
              </a:rPr>
              <a:t>Fructuoso</a:t>
            </a:r>
            <a:r>
              <a:rPr lang="en-US" sz="1600" dirty="0">
                <a:latin typeface="Times New Roman" panose="02020603050405020304" pitchFamily="18" charset="0"/>
                <a:cs typeface="Times New Roman" panose="02020603050405020304" pitchFamily="18" charset="0"/>
                <a:sym typeface="+mn-ea"/>
              </a:rPr>
              <a:t>., </a:t>
            </a:r>
            <a:r>
              <a:rPr lang="en-US" sz="1600" dirty="0" err="1">
                <a:latin typeface="Times New Roman" panose="02020603050405020304" pitchFamily="18" charset="0"/>
                <a:cs typeface="Times New Roman" panose="02020603050405020304" pitchFamily="18" charset="0"/>
                <a:sym typeface="+mn-ea"/>
              </a:rPr>
              <a:t>E.Llobet</a:t>
            </a:r>
            <a:r>
              <a:rPr lang="en-US" sz="1600" dirty="0">
                <a:latin typeface="Times New Roman" panose="02020603050405020304" pitchFamily="18" charset="0"/>
                <a:cs typeface="Times New Roman" panose="02020603050405020304" pitchFamily="18" charset="0"/>
                <a:sym typeface="+mn-ea"/>
              </a:rPr>
              <a:t>., X. </a:t>
            </a:r>
            <a:r>
              <a:rPr lang="en-US" sz="1600" dirty="0" err="1">
                <a:latin typeface="Times New Roman" panose="02020603050405020304" pitchFamily="18" charset="0"/>
                <a:cs typeface="Times New Roman" panose="02020603050405020304" pitchFamily="18" charset="0"/>
                <a:sym typeface="+mn-ea"/>
              </a:rPr>
              <a:t>Vilanova</a:t>
            </a:r>
            <a:r>
              <a:rPr lang="en-US" sz="1600" dirty="0">
                <a:latin typeface="Times New Roman" panose="02020603050405020304" pitchFamily="18" charset="0"/>
                <a:cs typeface="Times New Roman" panose="02020603050405020304" pitchFamily="18" charset="0"/>
                <a:sym typeface="+mn-ea"/>
              </a:rPr>
              <a:t>., I. </a:t>
            </a:r>
            <a:r>
              <a:rPr lang="en-US" sz="1600" dirty="0" err="1">
                <a:latin typeface="Times New Roman" panose="02020603050405020304" pitchFamily="18" charset="0"/>
                <a:cs typeface="Times New Roman" panose="02020603050405020304" pitchFamily="18" charset="0"/>
                <a:sym typeface="+mn-ea"/>
              </a:rPr>
              <a:t>Recasens</a:t>
            </a:r>
            <a:r>
              <a:rPr lang="en-US" sz="1600" dirty="0">
                <a:latin typeface="Times New Roman" panose="02020603050405020304" pitchFamily="18" charset="0"/>
                <a:cs typeface="Times New Roman" panose="02020603050405020304" pitchFamily="18" charset="0"/>
                <a:sym typeface="+mn-ea"/>
              </a:rPr>
              <a:t>., </a:t>
            </a:r>
            <a:r>
              <a:rPr lang="en-US" sz="1600" dirty="0" err="1">
                <a:latin typeface="Times New Roman" panose="02020603050405020304" pitchFamily="18" charset="0"/>
                <a:cs typeface="Times New Roman" panose="02020603050405020304" pitchFamily="18" charset="0"/>
                <a:sym typeface="+mn-ea"/>
              </a:rPr>
              <a:t>J.Orts</a:t>
            </a:r>
            <a:r>
              <a:rPr lang="en-US" sz="1600" dirty="0">
                <a:latin typeface="Times New Roman" panose="02020603050405020304" pitchFamily="18" charset="0"/>
                <a:cs typeface="Times New Roman" panose="02020603050405020304" pitchFamily="18" charset="0"/>
                <a:sym typeface="+mn-ea"/>
              </a:rPr>
              <a:t>., G. </a:t>
            </a:r>
            <a:r>
              <a:rPr lang="en-US" sz="1600" dirty="0" err="1">
                <a:latin typeface="Times New Roman" panose="02020603050405020304" pitchFamily="18" charset="0"/>
                <a:cs typeface="Times New Roman" panose="02020603050405020304" pitchFamily="18" charset="0"/>
                <a:sym typeface="+mn-ea"/>
              </a:rPr>
              <a:t>Saiz</a:t>
            </a:r>
            <a:r>
              <a:rPr lang="en-US" sz="1600" dirty="0">
                <a:latin typeface="Times New Roman" panose="02020603050405020304" pitchFamily="18" charset="0"/>
                <a:cs typeface="Times New Roman" panose="02020603050405020304" pitchFamily="18" charset="0"/>
                <a:sym typeface="+mn-ea"/>
              </a:rPr>
              <a:t>., X. </a:t>
            </a:r>
            <a:r>
              <a:rPr lang="en-US" sz="1600" dirty="0" err="1">
                <a:latin typeface="Times New Roman" panose="02020603050405020304" pitchFamily="18" charset="0"/>
                <a:cs typeface="Times New Roman" panose="02020603050405020304" pitchFamily="18" charset="0"/>
                <a:sym typeface="+mn-ea"/>
              </a:rPr>
              <a:t>Cocrreig</a:t>
            </a:r>
            <a:r>
              <a:rPr lang="en-US" sz="1600" dirty="0">
                <a:latin typeface="Times New Roman" panose="02020603050405020304" pitchFamily="18" charset="0"/>
                <a:cs typeface="Times New Roman" panose="02020603050405020304" pitchFamily="18" charset="0"/>
                <a:sym typeface="+mn-ea"/>
              </a:rPr>
              <a:t>. (2005). Evaluation of an electronic nose to assess fruit ripeness. </a:t>
            </a:r>
            <a:r>
              <a:rPr lang="en-US" sz="1600" i="1" dirty="0">
                <a:latin typeface="Times New Roman" panose="02020603050405020304" pitchFamily="18" charset="0"/>
                <a:cs typeface="Times New Roman" panose="02020603050405020304" pitchFamily="18" charset="0"/>
                <a:sym typeface="+mn-ea"/>
              </a:rPr>
              <a:t>IEEE Sensors Journal, 5(1), </a:t>
            </a:r>
            <a:r>
              <a:rPr lang="en-US" sz="1600" dirty="0">
                <a:latin typeface="Times New Roman" panose="02020603050405020304" pitchFamily="18" charset="0"/>
                <a:cs typeface="Times New Roman" panose="02020603050405020304" pitchFamily="18" charset="0"/>
                <a:sym typeface="+mn-ea"/>
              </a:rPr>
              <a:t>97-108</a:t>
            </a:r>
            <a:r>
              <a:rPr lang="en-US" sz="1600" i="1" dirty="0">
                <a:latin typeface="Times New Roman" panose="02020603050405020304" pitchFamily="18" charset="0"/>
                <a:cs typeface="Times New Roman" panose="02020603050405020304" pitchFamily="18" charset="0"/>
                <a:sym typeface="+mn-ea"/>
              </a:rPr>
              <a:t>. </a:t>
            </a:r>
            <a:r>
              <a:rPr lang="en-US" sz="1600" dirty="0">
                <a:latin typeface="Times New Roman" panose="02020603050405020304" pitchFamily="18" charset="0"/>
                <a:cs typeface="Times New Roman" panose="02020603050405020304" pitchFamily="18" charset="0"/>
                <a:sym typeface="+mn-ea"/>
                <a:hlinkClick r:id="rId2"/>
              </a:rPr>
              <a:t>https://doi.org/10.1109/JSEN.2004.837495</a:t>
            </a:r>
            <a:endParaRPr lang="en-US" sz="1600" dirty="0">
              <a:latin typeface="Times New Roman" panose="02020603050405020304" pitchFamily="18" charset="0"/>
              <a:cs typeface="Times New Roman" panose="02020603050405020304" pitchFamily="18" charset="0"/>
              <a:sym typeface="+mn-ea"/>
              <a:hlinkClick r:id="rId2"/>
            </a:endParaRPr>
          </a:p>
          <a:p>
            <a:pPr algn="just">
              <a:lnSpc>
                <a:spcPct val="150000"/>
              </a:lnSpc>
              <a:spcAft>
                <a:spcPts val="800"/>
              </a:spcAft>
              <a:buAutoNum type="arabicPeriod"/>
            </a:pPr>
            <a:r>
              <a:rPr lang="en-US" sz="1600" dirty="0" err="1">
                <a:latin typeface="Times New Roman" panose="02020603050405020304" pitchFamily="18" charset="0"/>
                <a:cs typeface="Times New Roman" panose="02020603050405020304" pitchFamily="18" charset="0"/>
                <a:sym typeface="+mn-ea"/>
              </a:rPr>
              <a:t>Bhagat</a:t>
            </a:r>
            <a:r>
              <a:rPr lang="en-US" sz="1600" dirty="0">
                <a:latin typeface="Times New Roman" panose="02020603050405020304" pitchFamily="18" charset="0"/>
                <a:cs typeface="Times New Roman" panose="02020603050405020304" pitchFamily="18" charset="0"/>
                <a:sym typeface="+mn-ea"/>
              </a:rPr>
              <a:t>., Sinha., </a:t>
            </a:r>
            <a:r>
              <a:rPr lang="en-US" sz="1600" dirty="0" err="1">
                <a:latin typeface="Times New Roman" panose="02020603050405020304" pitchFamily="18" charset="0"/>
                <a:cs typeface="Times New Roman" panose="02020603050405020304" pitchFamily="18" charset="0"/>
                <a:sym typeface="+mn-ea"/>
              </a:rPr>
              <a:t>Nandini</a:t>
            </a:r>
            <a:r>
              <a:rPr lang="en-US" sz="1600" dirty="0">
                <a:latin typeface="Times New Roman" panose="02020603050405020304" pitchFamily="18" charset="0"/>
                <a:cs typeface="Times New Roman" panose="02020603050405020304" pitchFamily="18" charset="0"/>
                <a:sym typeface="+mn-ea"/>
              </a:rPr>
              <a:t> M., K Mukherjee. (2023). 11 - Sensors and electronic noses for the production of agricultural crops. </a:t>
            </a:r>
            <a:r>
              <a:rPr lang="en-US" sz="1600" i="1" dirty="0">
                <a:latin typeface="Times New Roman" panose="02020603050405020304" pitchFamily="18" charset="0"/>
                <a:cs typeface="Times New Roman" panose="02020603050405020304" pitchFamily="18" charset="0"/>
                <a:sym typeface="+mn-ea"/>
              </a:rPr>
              <a:t>WP Elect. Optical Materials, 257-280. </a:t>
            </a:r>
            <a:r>
              <a:rPr lang="en-US" sz="1600" dirty="0">
                <a:latin typeface="Times New Roman" panose="02020603050405020304" pitchFamily="18" charset="0"/>
                <a:cs typeface="Times New Roman" panose="02020603050405020304" pitchFamily="18" charset="0"/>
                <a:sym typeface="+mn-ea"/>
                <a:hlinkClick r:id="rId3"/>
              </a:rPr>
              <a:t>https://doi.org/10.1016/B978-0-323-91157-3.00015-5</a:t>
            </a:r>
            <a:endParaRPr lang="en-US" sz="1600" dirty="0">
              <a:latin typeface="Times New Roman" panose="02020603050405020304" pitchFamily="18" charset="0"/>
              <a:cs typeface="Times New Roman" panose="02020603050405020304" pitchFamily="18" charset="0"/>
              <a:sym typeface="+mn-ea"/>
              <a:hlinkClick r:id="rId2"/>
            </a:endParaRPr>
          </a:p>
          <a:p>
            <a:pPr algn="just">
              <a:lnSpc>
                <a:spcPct val="150000"/>
              </a:lnSpc>
              <a:spcAft>
                <a:spcPts val="800"/>
              </a:spcAft>
              <a:buAutoNum type="arabicPeriod"/>
            </a:pPr>
            <a:r>
              <a:rPr lang="en-US" sz="1600" dirty="0">
                <a:latin typeface="Times New Roman" panose="02020603050405020304" pitchFamily="18" charset="0"/>
                <a:cs typeface="Times New Roman" panose="02020603050405020304" pitchFamily="18" charset="0"/>
                <a:sym typeface="+mn-ea"/>
              </a:rPr>
              <a:t>B Zhou., J Wang. (2011). Detection of Insect Infestations in Paddy Field using an Electronic Nose. </a:t>
            </a:r>
            <a:r>
              <a:rPr lang="en-US" sz="1600" i="1" dirty="0">
                <a:latin typeface="Times New Roman" panose="02020603050405020304" pitchFamily="18" charset="0"/>
                <a:cs typeface="Times New Roman" panose="02020603050405020304" pitchFamily="18" charset="0"/>
                <a:sym typeface="+mn-ea"/>
              </a:rPr>
              <a:t>Int. J. Agric. </a:t>
            </a:r>
            <a:r>
              <a:rPr lang="en-US" sz="1600" i="1" dirty="0" err="1">
                <a:latin typeface="Times New Roman" panose="02020603050405020304" pitchFamily="18" charset="0"/>
                <a:cs typeface="Times New Roman" panose="02020603050405020304" pitchFamily="18" charset="0"/>
                <a:sym typeface="+mn-ea"/>
              </a:rPr>
              <a:t>Biol</a:t>
            </a:r>
            <a:r>
              <a:rPr lang="en-US" sz="1600" i="1" dirty="0">
                <a:latin typeface="Times New Roman" panose="02020603050405020304" pitchFamily="18" charset="0"/>
                <a:cs typeface="Times New Roman" panose="02020603050405020304" pitchFamily="18" charset="0"/>
                <a:sym typeface="+mn-ea"/>
              </a:rPr>
              <a:t>, 13(5), 707-712. </a:t>
            </a:r>
            <a:r>
              <a:rPr lang="en-US" sz="1600" dirty="0">
                <a:latin typeface="Times New Roman" panose="02020603050405020304" pitchFamily="18" charset="0"/>
                <a:cs typeface="Times New Roman" panose="02020603050405020304" pitchFamily="18" charset="0"/>
                <a:sym typeface="+mn-ea"/>
                <a:hlinkClick r:id="rId4"/>
              </a:rPr>
              <a:t>https://www.cabidigitallibrary.org/doi/pdf/10.5555/20113312946</a:t>
            </a:r>
            <a:endParaRPr lang="en-US" sz="1600" dirty="0">
              <a:latin typeface="Times New Roman" panose="02020603050405020304" pitchFamily="18" charset="0"/>
              <a:cs typeface="Times New Roman" panose="02020603050405020304" pitchFamily="18" charset="0"/>
              <a:sym typeface="+mn-ea"/>
              <a:hlinkClick r:id="rId2"/>
            </a:endParaRPr>
          </a:p>
          <a:p>
            <a:pPr algn="just">
              <a:lnSpc>
                <a:spcPct val="150000"/>
              </a:lnSpc>
              <a:spcAft>
                <a:spcPts val="800"/>
              </a:spcAft>
              <a:buAutoNum type="arabicPeriod"/>
            </a:pPr>
            <a:endParaRPr lang="en-US" sz="1600" dirty="0">
              <a:latin typeface="Times New Roman" panose="02020603050405020304" pitchFamily="18" charset="0"/>
              <a:cs typeface="Times New Roman" panose="02020603050405020304" pitchFamily="18" charset="0"/>
            </a:endParaRPr>
          </a:p>
          <a:p>
            <a:pPr algn="just">
              <a:lnSpc>
                <a:spcPct val="150000"/>
              </a:lnSpc>
              <a:buAutoNum type="arabicPeriod"/>
            </a:pPr>
            <a:endParaRPr lang="en-IN" sz="1300" dirty="0">
              <a:latin typeface="Times New Roman" panose="02020603050405020304" pitchFamily="18" charset="0"/>
              <a:cs typeface="Times New Roman" panose="02020603050405020304" pitchFamily="18" charset="0"/>
            </a:endParaRPr>
          </a:p>
          <a:p>
            <a:pPr algn="just">
              <a:lnSpc>
                <a:spcPct val="150000"/>
              </a:lnSpc>
              <a:buAutoNum type="arabicPeriod"/>
            </a:pPr>
            <a:endParaRPr lang="en-US" sz="1300" dirty="0">
              <a:latin typeface="Times New Roman" panose="02020603050405020304" pitchFamily="18" charset="0"/>
              <a:cs typeface="Times New Roman" panose="02020603050405020304" pitchFamily="18" charset="0"/>
            </a:endParaRPr>
          </a:p>
          <a:p>
            <a:pPr algn="just">
              <a:lnSpc>
                <a:spcPct val="150000"/>
              </a:lnSpc>
              <a:buAutoNum type="arabicPeriod"/>
            </a:pPr>
            <a:endParaRPr lang="en-IN" sz="1300" dirty="0">
              <a:latin typeface="Times New Roman" panose="02020603050405020304" pitchFamily="18" charset="0"/>
              <a:cs typeface="Times New Roman" panose="02020603050405020304" pitchFamily="18" charset="0"/>
            </a:endParaRPr>
          </a:p>
          <a:p>
            <a:pPr algn="just">
              <a:lnSpc>
                <a:spcPct val="150000"/>
              </a:lnSpc>
              <a:buAutoNum type="arabicPeriod"/>
            </a:pPr>
            <a:endParaRPr lang="en-US" sz="1300" dirty="0">
              <a:latin typeface="Times New Roman" panose="02020603050405020304" pitchFamily="18" charset="0"/>
              <a:cs typeface="Times New Roman" panose="02020603050405020304" pitchFamily="18" charset="0"/>
            </a:endParaRPr>
          </a:p>
          <a:p>
            <a:pPr algn="just">
              <a:lnSpc>
                <a:spcPct val="150000"/>
              </a:lnSpc>
              <a:buAutoNum type="arabicPeriod"/>
            </a:pPr>
            <a:endParaRPr lang="en-IN" sz="1300" dirty="0">
              <a:latin typeface="Times New Roman" panose="02020603050405020304" pitchFamily="18" charset="0"/>
              <a:cs typeface="Times New Roman" panose="02020603050405020304" pitchFamily="18" charset="0"/>
            </a:endParaRPr>
          </a:p>
          <a:p>
            <a:pPr algn="just">
              <a:lnSpc>
                <a:spcPct val="150000"/>
              </a:lnSpc>
              <a:buAutoNum type="arabicPeriod"/>
            </a:pPr>
            <a:endParaRPr lang="en-US" sz="1300" dirty="0">
              <a:latin typeface="Times New Roman" panose="02020603050405020304" pitchFamily="18" charset="0"/>
              <a:cs typeface="Times New Roman" panose="02020603050405020304" pitchFamily="18" charset="0"/>
            </a:endParaRPr>
          </a:p>
          <a:p>
            <a:pPr algn="just">
              <a:lnSpc>
                <a:spcPct val="150000"/>
              </a:lnSpc>
              <a:buAutoNum type="arabicPeriod"/>
            </a:pPr>
            <a:br>
              <a:rPr lang="en-US" sz="1300" dirty="0">
                <a:sym typeface="+mn-ea"/>
              </a:rPr>
            </a:br>
            <a:br>
              <a:rPr lang="it-IT" sz="1300" dirty="0">
                <a:latin typeface="Times New Roman" panose="02020603050405020304" pitchFamily="18" charset="0"/>
                <a:cs typeface="Times New Roman" panose="02020603050405020304" pitchFamily="18" charset="0"/>
                <a:sym typeface="+mn-ea"/>
              </a:rPr>
            </a:br>
            <a:endParaRPr lang="en-US" sz="1300" dirty="0">
              <a:latin typeface="Times New Roman" panose="02020603050405020304" pitchFamily="18" charset="0"/>
              <a:cs typeface="Times New Roman" panose="02020603050405020304" pitchFamily="18" charset="0"/>
            </a:endParaRPr>
          </a:p>
          <a:p>
            <a:pPr algn="just">
              <a:lnSpc>
                <a:spcPct val="150000"/>
              </a:lnSpc>
              <a:buAutoNum type="arabicPeriod"/>
            </a:pPr>
            <a:br>
              <a:rPr lang="en-US" sz="1300" dirty="0">
                <a:sym typeface="+mn-ea"/>
              </a:rPr>
            </a:br>
            <a:endParaRPr lang="it-IT" sz="1300" dirty="0">
              <a:latin typeface="Times New Roman" panose="02020603050405020304" pitchFamily="18" charset="0"/>
              <a:cs typeface="Times New Roman" panose="02020603050405020304" pitchFamily="18" charset="0"/>
            </a:endParaRPr>
          </a:p>
          <a:p>
            <a:pPr algn="just">
              <a:lnSpc>
                <a:spcPct val="150000"/>
              </a:lnSpc>
              <a:buAutoNum type="arabicPeriod"/>
            </a:pPr>
            <a:br>
              <a:rPr lang="it-IT" sz="1300" dirty="0">
                <a:sym typeface="+mn-ea"/>
              </a:rPr>
            </a:br>
            <a:r>
              <a:rPr lang="en-US" sz="1300" dirty="0">
                <a:latin typeface="Times New Roman" panose="02020603050405020304" pitchFamily="18" charset="0"/>
                <a:cs typeface="Times New Roman" panose="02020603050405020304" pitchFamily="18" charset="0"/>
                <a:sym typeface="+mn-ea"/>
              </a:rPr>
              <a:t> </a:t>
            </a:r>
            <a:endParaRPr lang="en-US" sz="1300" dirty="0">
              <a:latin typeface="Times New Roman" panose="02020603050405020304" pitchFamily="18" charset="0"/>
              <a:cs typeface="Times New Roman" panose="02020603050405020304" pitchFamily="18" charset="0"/>
            </a:endParaRPr>
          </a:p>
          <a:p>
            <a:pPr algn="just">
              <a:lnSpc>
                <a:spcPct val="150000"/>
              </a:lnSpc>
              <a:buAutoNum type="arabicPeriod"/>
            </a:pPr>
            <a:endParaRPr lang="en-US" sz="1300" dirty="0">
              <a:latin typeface="Times New Roman" panose="02020603050405020304" pitchFamily="18" charset="0"/>
              <a:cs typeface="Times New Roman" panose="02020603050405020304" pitchFamily="18" charset="0"/>
            </a:endParaRPr>
          </a:p>
          <a:p>
            <a:pPr algn="just">
              <a:lnSpc>
                <a:spcPct val="150000"/>
              </a:lnSpc>
              <a:buAutoNum type="arabicPeriod"/>
            </a:pPr>
            <a:endParaRPr lang="en-US" sz="1300" dirty="0">
              <a:latin typeface="Times New Roman" panose="02020603050405020304" pitchFamily="18" charset="0"/>
              <a:cs typeface="Times New Roman" panose="02020603050405020304" pitchFamily="18" charset="0"/>
            </a:endParaRPr>
          </a:p>
          <a:p>
            <a:pPr algn="just">
              <a:lnSpc>
                <a:spcPct val="150000"/>
              </a:lnSpc>
              <a:buAutoNum type="arabicPeriod"/>
            </a:pPr>
            <a:br>
              <a:rPr lang="en-US" sz="1300" dirty="0">
                <a:sym typeface="+mn-ea"/>
              </a:rPr>
            </a:br>
            <a:endParaRPr lang="en-US" sz="1300" u="none" strike="noStrike" dirty="0">
              <a:solidFill>
                <a:srgbClr val="0563C1"/>
              </a:solidFill>
              <a:effectLst/>
              <a:latin typeface="Times New Roman" panose="02020603050405020304" pitchFamily="18" charset="0"/>
              <a:ea typeface="Calibri" panose="020F0502020204030204" charset="0"/>
              <a:cs typeface="Times New Roman" panose="02020603050405020304" pitchFamily="18" charset="0"/>
            </a:endParaRPr>
          </a:p>
          <a:p>
            <a:pPr algn="just">
              <a:lnSpc>
                <a:spcPct val="150000"/>
              </a:lnSpc>
              <a:spcAft>
                <a:spcPts val="800"/>
              </a:spcAft>
              <a:buAutoNum type="arabicPeriod"/>
            </a:pPr>
            <a:endParaRPr lang="en-US" sz="1300" dirty="0">
              <a:latin typeface="Times New Roman" panose="02020603050405020304" pitchFamily="18" charset="0"/>
              <a:cs typeface="Times New Roman" panose="02020603050405020304" pitchFamily="18" charset="0"/>
            </a:endParaRPr>
          </a:p>
          <a:p>
            <a:pPr algn="just">
              <a:lnSpc>
                <a:spcPct val="150000"/>
              </a:lnSpc>
              <a:buAutoNum type="arabicPeriod"/>
            </a:pPr>
            <a:endParaRPr lang="en-US" sz="1300" dirty="0">
              <a:latin typeface="Times New Roman" panose="02020603050405020304" pitchFamily="18" charset="0"/>
              <a:cs typeface="Times New Roman" panose="02020603050405020304" pitchFamily="18" charset="0"/>
            </a:endParaRPr>
          </a:p>
          <a:p>
            <a:pPr algn="just">
              <a:lnSpc>
                <a:spcPct val="150000"/>
              </a:lnSpc>
              <a:buAutoNum type="arabicPeriod"/>
            </a:pPr>
            <a:endParaRPr lang="en-US" sz="1300" dirty="0">
              <a:latin typeface="Times New Roman" panose="02020603050405020304" pitchFamily="18" charset="0"/>
              <a:cs typeface="Times New Roman" panose="02020603050405020304" pitchFamily="18" charset="0"/>
            </a:endParaRPr>
          </a:p>
          <a:p>
            <a:pPr algn="just">
              <a:lnSpc>
                <a:spcPct val="150000"/>
              </a:lnSpc>
              <a:buAutoNum type="arabicPeriod"/>
            </a:pPr>
            <a:endParaRPr lang="en-US" sz="1300" dirty="0">
              <a:latin typeface="Times New Roman" panose="02020603050405020304" pitchFamily="18" charset="0"/>
              <a:cs typeface="Times New Roman" panose="02020603050405020304" pitchFamily="18" charset="0"/>
            </a:endParaRPr>
          </a:p>
          <a:p>
            <a:pPr algn="just">
              <a:lnSpc>
                <a:spcPct val="150000"/>
              </a:lnSpc>
              <a:buAutoNum type="arabicPeriod"/>
            </a:pPr>
            <a:endParaRPr lang="en-US" sz="1300" dirty="0">
              <a:latin typeface="Times New Roman" panose="02020603050405020304" pitchFamily="18" charset="0"/>
              <a:cs typeface="Times New Roman" panose="02020603050405020304" pitchFamily="18" charset="0"/>
            </a:endParaRPr>
          </a:p>
          <a:p>
            <a:pPr algn="just">
              <a:lnSpc>
                <a:spcPct val="150000"/>
              </a:lnSpc>
              <a:buAutoNum type="arabicPeriod"/>
            </a:pPr>
            <a:endParaRPr lang="en-US" sz="1300" dirty="0">
              <a:latin typeface="Times New Roman" panose="02020603050405020304" pitchFamily="18" charset="0"/>
              <a:cs typeface="Times New Roman" panose="02020603050405020304" pitchFamily="18" charset="0"/>
            </a:endParaRPr>
          </a:p>
          <a:p>
            <a:pPr algn="just">
              <a:lnSpc>
                <a:spcPct val="150000"/>
              </a:lnSpc>
              <a:buAutoNum type="arabicPeriod"/>
            </a:pPr>
            <a:endParaRPr lang="en-US" sz="1300" dirty="0">
              <a:latin typeface="Times New Roman" panose="02020603050405020304" pitchFamily="18" charset="0"/>
              <a:cs typeface="Times New Roman" panose="02020603050405020304" pitchFamily="18" charset="0"/>
            </a:endParaRPr>
          </a:p>
          <a:p>
            <a:pPr algn="just">
              <a:lnSpc>
                <a:spcPct val="150000"/>
              </a:lnSpc>
              <a:buAutoNum type="arabicPeriod"/>
            </a:pPr>
            <a:endParaRPr lang="en-US" sz="1300" dirty="0">
              <a:latin typeface="Times New Roman" panose="02020603050405020304" pitchFamily="18" charset="0"/>
              <a:cs typeface="Times New Roman" panose="02020603050405020304" pitchFamily="18" charset="0"/>
            </a:endParaRPr>
          </a:p>
          <a:p>
            <a:pPr algn="just">
              <a:lnSpc>
                <a:spcPct val="150000"/>
              </a:lnSpc>
              <a:buAutoNum type="arabicPeriod"/>
            </a:pPr>
            <a:br>
              <a:rPr lang="en-US" sz="1300" dirty="0">
                <a:sym typeface="+mn-ea"/>
              </a:rPr>
            </a:br>
            <a:endParaRPr lang="en-US" sz="1300" u="none" strike="noStrike" dirty="0">
              <a:solidFill>
                <a:srgbClr val="0563C1"/>
              </a:solidFill>
              <a:effectLst/>
              <a:latin typeface="Times New Roman" panose="02020603050405020304" pitchFamily="18" charset="0"/>
              <a:ea typeface="Calibri" panose="020F0502020204030204" charset="0"/>
              <a:cs typeface="Times New Roman" panose="02020603050405020304" pitchFamily="18" charset="0"/>
            </a:endParaRPr>
          </a:p>
          <a:p>
            <a:pPr algn="just">
              <a:lnSpc>
                <a:spcPct val="200000"/>
              </a:lnSpc>
              <a:spcAft>
                <a:spcPts val="800"/>
              </a:spcAft>
              <a:buAutoNum type="arabicPeriod"/>
            </a:pPr>
            <a:endParaRPr lang="en-IN" sz="1300" dirty="0">
              <a:effectLst/>
              <a:latin typeface="Calibri" panose="020F0502020204030204" charset="0"/>
              <a:ea typeface="Calibri" panose="020F0502020204030204" charset="0"/>
              <a:cs typeface="Times New Roman" panose="02020603050405020304" pitchFamily="18" charset="0"/>
            </a:endParaRPr>
          </a:p>
          <a:p>
            <a:pPr algn="just">
              <a:lnSpc>
                <a:spcPct val="200000"/>
              </a:lnSpc>
              <a:spcAft>
                <a:spcPts val="800"/>
              </a:spcAft>
              <a:buAutoNum type="arabicPeriod"/>
            </a:pPr>
            <a:endParaRPr lang="en-US" sz="13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60383BAF-8ECD-4EAE-83A8-E4F1283CED3D}" type="datetime3">
              <a:rPr lang="en-US" smtClean="0"/>
            </a:fld>
            <a:endParaRPr lang="en-US"/>
          </a:p>
        </p:txBody>
      </p:sp>
      <p:sp>
        <p:nvSpPr>
          <p:cNvPr id="5" name="Footer Placeholder 4"/>
          <p:cNvSpPr>
            <a:spLocks noGrp="1"/>
          </p:cNvSpPr>
          <p:nvPr>
            <p:ph type="ftr" sz="quarter" idx="11"/>
          </p:nvPr>
        </p:nvSpPr>
        <p:spPr/>
        <p:txBody>
          <a:bodyPr/>
          <a:lstStyle/>
          <a:p>
            <a:r>
              <a:rPr lang="en-US" dirty="0"/>
              <a:t>School of Computing - CSE with IoT</a:t>
            </a:r>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sp>
        <p:nvSpPr>
          <p:cNvPr id="7" name="Text Box 6"/>
          <p:cNvSpPr txBox="1"/>
          <p:nvPr/>
        </p:nvSpPr>
        <p:spPr>
          <a:xfrm>
            <a:off x="1993900" y="711200"/>
            <a:ext cx="3048000" cy="368300"/>
          </a:xfrm>
          <a:prstGeom prst="rect">
            <a:avLst/>
          </a:prstGeom>
          <a:noFill/>
        </p:spPr>
        <p:txBody>
          <a:bodyPr wrap="square" rtlCol="0">
            <a:spAutoFit/>
          </a:bodyPr>
          <a:p>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3200" b="1" dirty="0">
                <a:latin typeface="Times New Roman" panose="02020603050405020304" pitchFamily="18" charset="0"/>
                <a:cs typeface="Times New Roman" panose="02020603050405020304" pitchFamily="18" charset="0"/>
              </a:rPr>
              <a:t>REFERENCES</a:t>
            </a: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371600"/>
            <a:ext cx="8229600" cy="5105400"/>
          </a:xfrm>
        </p:spPr>
        <p:txBody>
          <a:bodyPr>
            <a:noAutofit/>
          </a:bodyPr>
          <a:lstStyle/>
          <a:p>
            <a:pPr algn="just">
              <a:lnSpc>
                <a:spcPct val="150000"/>
              </a:lnSpc>
              <a:spcAft>
                <a:spcPts val="800"/>
              </a:spcAft>
              <a:buClr>
                <a:srgbClr val="000000"/>
              </a:buClr>
              <a:buSzPct val="99000"/>
              <a:buFont typeface="+mj-lt"/>
              <a:buAutoNum type="arabicPeriod" startAt="5"/>
            </a:pPr>
            <a:r>
              <a:rPr lang="en-US" sz="1600" dirty="0" err="1">
                <a:latin typeface="Times New Roman" panose="02020603050405020304" pitchFamily="18" charset="0"/>
                <a:cs typeface="Times New Roman" panose="02020603050405020304" pitchFamily="18" charset="0"/>
                <a:sym typeface="+mn-ea"/>
              </a:rPr>
              <a:t>Casalinuovo</a:t>
            </a:r>
            <a:r>
              <a:rPr lang="en-US" sz="1600" dirty="0">
                <a:latin typeface="Times New Roman" panose="02020603050405020304" pitchFamily="18" charset="0"/>
                <a:cs typeface="Times New Roman" panose="02020603050405020304" pitchFamily="18" charset="0"/>
                <a:sym typeface="+mn-ea"/>
              </a:rPr>
              <a:t>.,</a:t>
            </a:r>
            <a:r>
              <a:rPr lang="it-IT" sz="1600" baseline="30000" dirty="0">
                <a:latin typeface="Times New Roman" panose="02020603050405020304" pitchFamily="18" charset="0"/>
                <a:cs typeface="Times New Roman" panose="02020603050405020304" pitchFamily="18" charset="0"/>
                <a:sym typeface="+mn-ea"/>
              </a:rPr>
              <a:t> </a:t>
            </a:r>
            <a:r>
              <a:rPr lang="it-IT" sz="1600" dirty="0">
                <a:latin typeface="Times New Roman" panose="02020603050405020304" pitchFamily="18" charset="0"/>
                <a:cs typeface="Times New Roman" panose="02020603050405020304" pitchFamily="18" charset="0"/>
                <a:sym typeface="+mn-ea"/>
              </a:rPr>
              <a:t>DD Pierro., MColetta., PD Francesco. (2006). </a:t>
            </a:r>
            <a:r>
              <a:rPr lang="en-US" sz="1600" dirty="0">
                <a:latin typeface="Times New Roman" panose="02020603050405020304" pitchFamily="18" charset="0"/>
                <a:cs typeface="Times New Roman" panose="02020603050405020304" pitchFamily="18" charset="0"/>
                <a:sym typeface="+mn-ea"/>
              </a:rPr>
              <a:t>Application of Electronic Noses for Disease Diagnosis and Food Spoilage Detection. </a:t>
            </a:r>
            <a:r>
              <a:rPr lang="en-US" sz="1600" i="1" dirty="0">
                <a:latin typeface="Times New Roman" panose="02020603050405020304" pitchFamily="18" charset="0"/>
                <a:cs typeface="Times New Roman" panose="02020603050405020304" pitchFamily="18" charset="0"/>
                <a:sym typeface="+mn-ea"/>
              </a:rPr>
              <a:t>MDPI Gas Sensors, 6(11), 1428-1439, </a:t>
            </a:r>
            <a:r>
              <a:rPr lang="en-US" sz="1600" dirty="0">
                <a:latin typeface="Times New Roman" panose="02020603050405020304" pitchFamily="18" charset="0"/>
                <a:cs typeface="Times New Roman" panose="02020603050405020304" pitchFamily="18" charset="0"/>
                <a:sym typeface="+mn-ea"/>
                <a:hlinkClick r:id="rId1"/>
              </a:rPr>
              <a:t>https://doi.org/10.3390/s6111428</a:t>
            </a:r>
            <a:endParaRPr lang="en-US" sz="1600" dirty="0">
              <a:latin typeface="Times New Roman" panose="02020603050405020304" pitchFamily="18" charset="0"/>
              <a:cs typeface="Times New Roman" panose="02020603050405020304" pitchFamily="18" charset="0"/>
              <a:sym typeface="+mn-ea"/>
              <a:hlinkClick r:id="rId1"/>
            </a:endParaRPr>
          </a:p>
          <a:p>
            <a:pPr algn="just">
              <a:lnSpc>
                <a:spcPct val="150000"/>
              </a:lnSpc>
              <a:spcAft>
                <a:spcPts val="800"/>
              </a:spcAft>
              <a:buClr>
                <a:srgbClr val="000000"/>
              </a:buClr>
              <a:buSzPct val="99000"/>
              <a:buFont typeface="+mj-lt"/>
              <a:buAutoNum type="arabicPeriod" startAt="5"/>
            </a:pPr>
            <a:r>
              <a:rPr lang="en-US" sz="1600" dirty="0">
                <a:latin typeface="Times New Roman" panose="02020603050405020304" pitchFamily="18" charset="0"/>
                <a:cs typeface="Times New Roman" panose="02020603050405020304" pitchFamily="18" charset="0"/>
                <a:sym typeface="+mn-ea"/>
              </a:rPr>
              <a:t>Cellini., Sonia., </a:t>
            </a:r>
            <a:r>
              <a:rPr lang="en-US" sz="1600" dirty="0" err="1">
                <a:latin typeface="Times New Roman" panose="02020603050405020304" pitchFamily="18" charset="0"/>
                <a:cs typeface="Times New Roman" panose="02020603050405020304" pitchFamily="18" charset="0"/>
                <a:sym typeface="+mn-ea"/>
              </a:rPr>
              <a:t>Biondi</a:t>
            </a:r>
            <a:r>
              <a:rPr lang="en-US" sz="1600" dirty="0">
                <a:latin typeface="Times New Roman" panose="02020603050405020304" pitchFamily="18" charset="0"/>
                <a:cs typeface="Times New Roman" panose="02020603050405020304" pitchFamily="18" charset="0"/>
                <a:sym typeface="+mn-ea"/>
              </a:rPr>
              <a:t>., </a:t>
            </a:r>
            <a:r>
              <a:rPr lang="en-US" sz="1600" dirty="0" err="1">
                <a:latin typeface="Times New Roman" panose="02020603050405020304" pitchFamily="18" charset="0"/>
                <a:cs typeface="Times New Roman" panose="02020603050405020304" pitchFamily="18" charset="0"/>
                <a:sym typeface="+mn-ea"/>
              </a:rPr>
              <a:t>Assunta</a:t>
            </a:r>
            <a:r>
              <a:rPr lang="en-US" sz="1600" dirty="0">
                <a:latin typeface="Times New Roman" panose="02020603050405020304" pitchFamily="18" charset="0"/>
                <a:cs typeface="Times New Roman" panose="02020603050405020304" pitchFamily="18" charset="0"/>
                <a:sym typeface="+mn-ea"/>
              </a:rPr>
              <a:t>., </a:t>
            </a:r>
            <a:r>
              <a:rPr lang="en-US" sz="1600" dirty="0" err="1">
                <a:latin typeface="Times New Roman" panose="02020603050405020304" pitchFamily="18" charset="0"/>
                <a:cs typeface="Times New Roman" panose="02020603050405020304" pitchFamily="18" charset="0"/>
                <a:sym typeface="+mn-ea"/>
              </a:rPr>
              <a:t>Ilaria</a:t>
            </a:r>
            <a:r>
              <a:rPr lang="en-US" sz="1600" dirty="0">
                <a:latin typeface="Times New Roman" panose="02020603050405020304" pitchFamily="18" charset="0"/>
                <a:cs typeface="Times New Roman" panose="02020603050405020304" pitchFamily="18" charset="0"/>
                <a:sym typeface="+mn-ea"/>
              </a:rPr>
              <a:t>., </a:t>
            </a:r>
            <a:r>
              <a:rPr lang="en-US" sz="1600" dirty="0" err="1">
                <a:latin typeface="Times New Roman" panose="02020603050405020304" pitchFamily="18" charset="0"/>
                <a:cs typeface="Times New Roman" panose="02020603050405020304" pitchFamily="18" charset="0"/>
                <a:sym typeface="+mn-ea"/>
              </a:rPr>
              <a:t>Spinelli</a:t>
            </a:r>
            <a:r>
              <a:rPr lang="en-US" sz="1600" dirty="0">
                <a:latin typeface="Times New Roman" panose="02020603050405020304" pitchFamily="18" charset="0"/>
                <a:cs typeface="Times New Roman" panose="02020603050405020304" pitchFamily="18" charset="0"/>
                <a:sym typeface="+mn-ea"/>
              </a:rPr>
              <a:t>. (2017). Potential Applications and Limitations of Electronic Nose Devices for Plant Disease Diagnosis. </a:t>
            </a:r>
            <a:r>
              <a:rPr lang="en-US" sz="1600" i="1" dirty="0">
                <a:latin typeface="Times New Roman" panose="02020603050405020304" pitchFamily="18" charset="0"/>
                <a:cs typeface="Times New Roman" panose="02020603050405020304" pitchFamily="18" charset="0"/>
                <a:sym typeface="+mn-ea"/>
              </a:rPr>
              <a:t>MDPI Chemical Sensors, 17(11)., 2596. </a:t>
            </a:r>
            <a:r>
              <a:rPr lang="en-US" sz="1600" dirty="0">
                <a:latin typeface="Times New Roman" panose="02020603050405020304" pitchFamily="18" charset="0"/>
                <a:cs typeface="Times New Roman" panose="02020603050405020304" pitchFamily="18" charset="0"/>
                <a:sym typeface="+mn-ea"/>
                <a:hlinkClick r:id="rId2"/>
              </a:rPr>
              <a:t>https://doi.org/10.3390/s17112596</a:t>
            </a:r>
            <a:endParaRPr lang="en-US" sz="1600" dirty="0">
              <a:latin typeface="Times New Roman" panose="02020603050405020304" pitchFamily="18" charset="0"/>
              <a:cs typeface="Times New Roman" panose="02020603050405020304" pitchFamily="18" charset="0"/>
              <a:sym typeface="+mn-ea"/>
              <a:hlinkClick r:id="rId1"/>
            </a:endParaRPr>
          </a:p>
          <a:p>
            <a:pPr algn="just">
              <a:lnSpc>
                <a:spcPct val="150000"/>
              </a:lnSpc>
              <a:spcAft>
                <a:spcPts val="800"/>
              </a:spcAft>
              <a:buClr>
                <a:srgbClr val="000000"/>
              </a:buClr>
              <a:buSzPct val="99000"/>
              <a:buFont typeface="+mj-lt"/>
              <a:buAutoNum type="arabicPeriod" startAt="5"/>
            </a:pPr>
            <a:r>
              <a:rPr lang="en-US" sz="1600" dirty="0">
                <a:latin typeface="Times New Roman" panose="02020603050405020304" pitchFamily="18" charset="0"/>
                <a:cs typeface="Times New Roman" panose="02020603050405020304" pitchFamily="18" charset="0"/>
                <a:sym typeface="+mn-ea"/>
              </a:rPr>
              <a:t>D Lampson., YJ Han., A </a:t>
            </a:r>
            <a:r>
              <a:rPr lang="en-US" sz="1600" dirty="0" err="1">
                <a:latin typeface="Times New Roman" panose="02020603050405020304" pitchFamily="18" charset="0"/>
                <a:cs typeface="Times New Roman" panose="02020603050405020304" pitchFamily="18" charset="0"/>
                <a:sym typeface="+mn-ea"/>
              </a:rPr>
              <a:t>Khalilian</a:t>
            </a:r>
            <a:r>
              <a:rPr lang="en-US" sz="1600" dirty="0">
                <a:latin typeface="Times New Roman" panose="02020603050405020304" pitchFamily="18" charset="0"/>
                <a:cs typeface="Times New Roman" panose="02020603050405020304" pitchFamily="18" charset="0"/>
                <a:sym typeface="+mn-ea"/>
              </a:rPr>
              <a:t>., </a:t>
            </a:r>
            <a:r>
              <a:rPr lang="en-US" sz="1600" dirty="0" err="1">
                <a:latin typeface="Times New Roman" panose="02020603050405020304" pitchFamily="18" charset="0"/>
                <a:cs typeface="Times New Roman" panose="02020603050405020304" pitchFamily="18" charset="0"/>
                <a:sym typeface="+mn-ea"/>
              </a:rPr>
              <a:t>Jk</a:t>
            </a:r>
            <a:r>
              <a:rPr lang="en-US" sz="1600" dirty="0">
                <a:latin typeface="Times New Roman" panose="02020603050405020304" pitchFamily="18" charset="0"/>
                <a:cs typeface="Times New Roman" panose="02020603050405020304" pitchFamily="18" charset="0"/>
                <a:sym typeface="+mn-ea"/>
              </a:rPr>
              <a:t> Greene., DC </a:t>
            </a:r>
            <a:r>
              <a:rPr lang="en-US" sz="1600" dirty="0" err="1">
                <a:latin typeface="Times New Roman" panose="02020603050405020304" pitchFamily="18" charset="0"/>
                <a:cs typeface="Times New Roman" panose="02020603050405020304" pitchFamily="18" charset="0"/>
                <a:sym typeface="+mn-ea"/>
              </a:rPr>
              <a:t>Degenhardt</a:t>
            </a:r>
            <a:r>
              <a:rPr lang="en-US" sz="1600" dirty="0">
                <a:latin typeface="Times New Roman" panose="02020603050405020304" pitchFamily="18" charset="0"/>
                <a:cs typeface="Times New Roman" panose="02020603050405020304" pitchFamily="18" charset="0"/>
                <a:sym typeface="+mn-ea"/>
              </a:rPr>
              <a:t>., JO </a:t>
            </a:r>
            <a:r>
              <a:rPr lang="en-US" sz="1600" dirty="0" err="1">
                <a:latin typeface="Times New Roman" panose="02020603050405020304" pitchFamily="18" charset="0"/>
                <a:cs typeface="Times New Roman" panose="02020603050405020304" pitchFamily="18" charset="0"/>
                <a:sym typeface="+mn-ea"/>
              </a:rPr>
              <a:t>Hallstrom</a:t>
            </a:r>
            <a:r>
              <a:rPr lang="en-US" sz="1600" dirty="0">
                <a:latin typeface="Times New Roman" panose="02020603050405020304" pitchFamily="18" charset="0"/>
                <a:cs typeface="Times New Roman" panose="02020603050405020304" pitchFamily="18" charset="0"/>
                <a:sym typeface="+mn-ea"/>
              </a:rPr>
              <a:t>. (2014). Development of a portable electronic nose for detection of pests and plant damage. </a:t>
            </a:r>
            <a:r>
              <a:rPr lang="en-US" sz="1600" i="1" dirty="0">
                <a:latin typeface="Times New Roman" panose="02020603050405020304" pitchFamily="18" charset="0"/>
                <a:cs typeface="Times New Roman" panose="02020603050405020304" pitchFamily="18" charset="0"/>
                <a:sym typeface="+mn-ea"/>
              </a:rPr>
              <a:t>SD Compt. Elect. </a:t>
            </a:r>
            <a:r>
              <a:rPr lang="en-US" sz="1600" i="1" dirty="0" err="1">
                <a:latin typeface="Times New Roman" panose="02020603050405020304" pitchFamily="18" charset="0"/>
                <a:cs typeface="Times New Roman" panose="02020603050405020304" pitchFamily="18" charset="0"/>
                <a:sym typeface="+mn-ea"/>
              </a:rPr>
              <a:t>Agric</a:t>
            </a:r>
            <a:r>
              <a:rPr lang="en-US" sz="1600" i="1" dirty="0">
                <a:latin typeface="Times New Roman" panose="02020603050405020304" pitchFamily="18" charset="0"/>
                <a:cs typeface="Times New Roman" panose="02020603050405020304" pitchFamily="18" charset="0"/>
                <a:sym typeface="+mn-ea"/>
              </a:rPr>
              <a:t>, 1008, 87-94. </a:t>
            </a:r>
            <a:r>
              <a:rPr lang="en-US" sz="1600" dirty="0">
                <a:latin typeface="Times New Roman" panose="02020603050405020304" pitchFamily="18" charset="0"/>
                <a:cs typeface="Times New Roman" panose="02020603050405020304" pitchFamily="18" charset="0"/>
                <a:sym typeface="+mn-ea"/>
                <a:hlinkClick r:id="rId3"/>
              </a:rPr>
              <a:t>https://doi.org/10.1016/j.compag.2014.07.002</a:t>
            </a:r>
            <a:endParaRPr lang="de-DE" sz="1600" dirty="0">
              <a:latin typeface="Times New Roman" panose="02020603050405020304" pitchFamily="18" charset="0"/>
              <a:cs typeface="Times New Roman" panose="02020603050405020304" pitchFamily="18" charset="0"/>
              <a:sym typeface="+mn-ea"/>
            </a:endParaRPr>
          </a:p>
          <a:p>
            <a:pPr algn="just">
              <a:lnSpc>
                <a:spcPct val="150000"/>
              </a:lnSpc>
              <a:buClr>
                <a:srgbClr val="000000"/>
              </a:buClr>
              <a:buSzPct val="99000"/>
              <a:buFont typeface="+mj-lt"/>
              <a:buAutoNum type="arabicPeriod" startAt="5"/>
            </a:pPr>
            <a:r>
              <a:rPr lang="de-DE" sz="1600" dirty="0">
                <a:latin typeface="Times New Roman" panose="02020603050405020304" pitchFamily="18" charset="0"/>
                <a:cs typeface="Times New Roman" panose="02020603050405020304" pitchFamily="18" charset="0"/>
                <a:sym typeface="+mn-ea"/>
              </a:rPr>
              <a:t>EL. Hines., Fu Zhang., DD. Iliescu., MS. Leeson. (2011). </a:t>
            </a:r>
            <a:r>
              <a:rPr lang="en-US" sz="1600" dirty="0">
                <a:latin typeface="Times New Roman" panose="02020603050405020304" pitchFamily="18" charset="0"/>
                <a:cs typeface="Times New Roman" panose="02020603050405020304" pitchFamily="18" charset="0"/>
                <a:sym typeface="+mn-ea"/>
              </a:rPr>
              <a:t>Tomato Plant Health Monitoring: An Electronic Nose Approach. </a:t>
            </a:r>
            <a:r>
              <a:rPr lang="en-US" sz="1600" i="1" dirty="0">
                <a:latin typeface="Times New Roman" panose="02020603050405020304" pitchFamily="18" charset="0"/>
                <a:cs typeface="Times New Roman" panose="02020603050405020304" pitchFamily="18" charset="0"/>
                <a:sym typeface="+mn-ea"/>
              </a:rPr>
              <a:t>IGI Global, 249-276, </a:t>
            </a:r>
            <a:r>
              <a:rPr lang="en-IN" sz="1600" dirty="0">
                <a:latin typeface="Times New Roman" panose="02020603050405020304" pitchFamily="18" charset="0"/>
                <a:cs typeface="Times New Roman" panose="02020603050405020304" pitchFamily="18" charset="0"/>
                <a:sym typeface="+mn-ea"/>
              </a:rPr>
              <a:t>DOI: 10.4018/978-1-61520-915-6.ch010</a:t>
            </a:r>
            <a:endParaRPr lang="en-IN" sz="1600" dirty="0">
              <a:latin typeface="Times New Roman" panose="02020603050405020304" pitchFamily="18" charset="0"/>
              <a:cs typeface="Times New Roman" panose="02020603050405020304" pitchFamily="18" charset="0"/>
              <a:sym typeface="+mn-ea"/>
            </a:endParaRPr>
          </a:p>
          <a:p>
            <a:pPr algn="just">
              <a:lnSpc>
                <a:spcPct val="150000"/>
              </a:lnSpc>
              <a:buFont typeface="+mj-lt"/>
              <a:buAutoNum type="arabicPeriod" startAt="5"/>
            </a:pPr>
            <a:endParaRPr lang="en-IN" sz="1600" dirty="0">
              <a:latin typeface="Times New Roman" panose="02020603050405020304" pitchFamily="18" charset="0"/>
              <a:cs typeface="Times New Roman" panose="02020603050405020304" pitchFamily="18" charset="0"/>
              <a:sym typeface="+mn-ea"/>
            </a:endParaRPr>
          </a:p>
          <a:p>
            <a:pPr algn="just">
              <a:lnSpc>
                <a:spcPct val="150000"/>
              </a:lnSpc>
              <a:buAutoNum type="arabicPeriod"/>
            </a:pPr>
            <a:endParaRPr lang="en-US" sz="16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60383BAF-8ECD-4EAE-83A8-E4F1283CED3D}" type="datetime3">
              <a:rPr lang="en-US" smtClean="0"/>
            </a:fld>
            <a:endParaRPr lang="en-US"/>
          </a:p>
        </p:txBody>
      </p:sp>
      <p:sp>
        <p:nvSpPr>
          <p:cNvPr id="5" name="Footer Placeholder 4"/>
          <p:cNvSpPr>
            <a:spLocks noGrp="1"/>
          </p:cNvSpPr>
          <p:nvPr>
            <p:ph type="ftr" sz="quarter" idx="11"/>
          </p:nvPr>
        </p:nvSpPr>
        <p:spPr/>
        <p:txBody>
          <a:bodyPr/>
          <a:lstStyle/>
          <a:p>
            <a:r>
              <a:rPr lang="en-US" dirty="0"/>
              <a:t>School of Computing - CSE with IoT</a:t>
            </a:r>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3200" b="1" dirty="0">
                <a:latin typeface="Times New Roman" panose="02020603050405020304" pitchFamily="18" charset="0"/>
                <a:cs typeface="Times New Roman" panose="02020603050405020304" pitchFamily="18" charset="0"/>
                <a:sym typeface="+mn-ea"/>
              </a:rPr>
              <a:t>REFERENCES</a:t>
            </a:r>
            <a:endParaRPr lang="en-IN" altLang="en-US" sz="3200" b="1" dirty="0">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457200" y="1371600"/>
            <a:ext cx="8229600" cy="4525963"/>
          </a:xfrm>
        </p:spPr>
        <p:txBody>
          <a:bodyPr>
            <a:noAutofit/>
          </a:bodyPr>
          <a:lstStyle/>
          <a:p>
            <a:pPr algn="just">
              <a:lnSpc>
                <a:spcPct val="150000"/>
              </a:lnSpc>
              <a:buFont typeface="+mj-lt"/>
              <a:buAutoNum type="arabicPeriod" startAt="9"/>
            </a:pPr>
            <a:r>
              <a:rPr lang="en-IN" sz="1600" dirty="0">
                <a:latin typeface="Times New Roman" panose="02020603050405020304" pitchFamily="18" charset="0"/>
                <a:cs typeface="Times New Roman" panose="02020603050405020304" pitchFamily="18" charset="0"/>
                <a:sym typeface="+mn-ea"/>
              </a:rPr>
              <a:t>F. </a:t>
            </a:r>
            <a:r>
              <a:rPr lang="en-IN" sz="1600" dirty="0" err="1">
                <a:latin typeface="Times New Roman" panose="02020603050405020304" pitchFamily="18" charset="0"/>
                <a:cs typeface="Times New Roman" panose="02020603050405020304" pitchFamily="18" charset="0"/>
                <a:sym typeface="+mn-ea"/>
              </a:rPr>
              <a:t>Leccese</a:t>
            </a:r>
            <a:r>
              <a:rPr lang="en-IN" sz="1600" dirty="0">
                <a:latin typeface="Times New Roman" panose="02020603050405020304" pitchFamily="18" charset="0"/>
                <a:cs typeface="Times New Roman" panose="02020603050405020304" pitchFamily="18" charset="0"/>
                <a:sym typeface="+mn-ea"/>
              </a:rPr>
              <a:t>., M. </a:t>
            </a:r>
            <a:r>
              <a:rPr lang="en-IN" sz="1600" dirty="0" err="1">
                <a:latin typeface="Times New Roman" panose="02020603050405020304" pitchFamily="18" charset="0"/>
                <a:cs typeface="Times New Roman" panose="02020603050405020304" pitchFamily="18" charset="0"/>
                <a:sym typeface="+mn-ea"/>
              </a:rPr>
              <a:t>Cagnetti</a:t>
            </a:r>
            <a:r>
              <a:rPr lang="en-IN" sz="1600" dirty="0">
                <a:latin typeface="Times New Roman" panose="02020603050405020304" pitchFamily="18" charset="0"/>
                <a:cs typeface="Times New Roman" panose="02020603050405020304" pitchFamily="18" charset="0"/>
                <a:sym typeface="+mn-ea"/>
              </a:rPr>
              <a:t>., S. </a:t>
            </a:r>
            <a:r>
              <a:rPr lang="en-IN" sz="1600" dirty="0" err="1">
                <a:latin typeface="Times New Roman" panose="02020603050405020304" pitchFamily="18" charset="0"/>
                <a:cs typeface="Times New Roman" panose="02020603050405020304" pitchFamily="18" charset="0"/>
                <a:sym typeface="+mn-ea"/>
              </a:rPr>
              <a:t>Giarnetti</a:t>
            </a:r>
            <a:r>
              <a:rPr lang="en-IN" sz="1600" dirty="0">
                <a:latin typeface="Times New Roman" panose="02020603050405020304" pitchFamily="18" charset="0"/>
                <a:cs typeface="Times New Roman" panose="02020603050405020304" pitchFamily="18" charset="0"/>
                <a:sym typeface="+mn-ea"/>
              </a:rPr>
              <a:t>., E. </a:t>
            </a:r>
            <a:r>
              <a:rPr lang="en-IN" sz="1600" dirty="0" err="1">
                <a:latin typeface="Times New Roman" panose="02020603050405020304" pitchFamily="18" charset="0"/>
                <a:cs typeface="Times New Roman" panose="02020603050405020304" pitchFamily="18" charset="0"/>
                <a:sym typeface="+mn-ea"/>
              </a:rPr>
              <a:t>Petritoli</a:t>
            </a:r>
            <a:r>
              <a:rPr lang="en-IN" sz="1600" dirty="0">
                <a:latin typeface="Times New Roman" panose="02020603050405020304" pitchFamily="18" charset="0"/>
                <a:cs typeface="Times New Roman" panose="02020603050405020304" pitchFamily="18" charset="0"/>
                <a:sym typeface="+mn-ea"/>
              </a:rPr>
              <a:t>., B. </a:t>
            </a:r>
            <a:r>
              <a:rPr lang="en-IN" sz="1600" dirty="0" err="1">
                <a:latin typeface="Times New Roman" panose="02020603050405020304" pitchFamily="18" charset="0"/>
                <a:cs typeface="Times New Roman" panose="02020603050405020304" pitchFamily="18" charset="0"/>
                <a:sym typeface="+mn-ea"/>
              </a:rPr>
              <a:t>Orioni</a:t>
            </a:r>
            <a:r>
              <a:rPr lang="en-IN" sz="1600" dirty="0">
                <a:latin typeface="Times New Roman" panose="02020603050405020304" pitchFamily="18" charset="0"/>
                <a:cs typeface="Times New Roman" panose="02020603050405020304" pitchFamily="18" charset="0"/>
                <a:sym typeface="+mn-ea"/>
              </a:rPr>
              <a:t>., I. </a:t>
            </a:r>
            <a:r>
              <a:rPr lang="en-IN" sz="1600" dirty="0" err="1">
                <a:latin typeface="Times New Roman" panose="02020603050405020304" pitchFamily="18" charset="0"/>
                <a:cs typeface="Times New Roman" panose="02020603050405020304" pitchFamily="18" charset="0"/>
                <a:sym typeface="+mn-ea"/>
              </a:rPr>
              <a:t>Luisetto</a:t>
            </a:r>
            <a:r>
              <a:rPr lang="en-IN" sz="1600" dirty="0">
                <a:latin typeface="Times New Roman" panose="02020603050405020304" pitchFamily="18" charset="0"/>
                <a:cs typeface="Times New Roman" panose="02020603050405020304" pitchFamily="18" charset="0"/>
                <a:sym typeface="+mn-ea"/>
              </a:rPr>
              <a:t>., S. </a:t>
            </a:r>
            <a:r>
              <a:rPr lang="en-IN" sz="1600" dirty="0" err="1">
                <a:latin typeface="Times New Roman" panose="02020603050405020304" pitchFamily="18" charset="0"/>
                <a:cs typeface="Times New Roman" panose="02020603050405020304" pitchFamily="18" charset="0"/>
                <a:sym typeface="+mn-ea"/>
              </a:rPr>
              <a:t>Tuti</a:t>
            </a:r>
            <a:r>
              <a:rPr lang="en-IN" sz="1600" dirty="0">
                <a:latin typeface="Times New Roman" panose="02020603050405020304" pitchFamily="18" charset="0"/>
                <a:cs typeface="Times New Roman" panose="02020603050405020304" pitchFamily="18" charset="0"/>
                <a:sym typeface="+mn-ea"/>
              </a:rPr>
              <a:t>., </a:t>
            </a:r>
            <a:r>
              <a:rPr lang="en-IN" sz="1600" dirty="0" err="1">
                <a:latin typeface="Times New Roman" panose="02020603050405020304" pitchFamily="18" charset="0"/>
                <a:cs typeface="Times New Roman" panose="02020603050405020304" pitchFamily="18" charset="0"/>
                <a:sym typeface="+mn-ea"/>
              </a:rPr>
              <a:t>Mariagrazia</a:t>
            </a:r>
            <a:r>
              <a:rPr lang="en-IN" sz="1600" dirty="0">
                <a:latin typeface="Times New Roman" panose="02020603050405020304" pitchFamily="18" charset="0"/>
                <a:cs typeface="Times New Roman" panose="02020603050405020304" pitchFamily="18" charset="0"/>
                <a:sym typeface="+mn-ea"/>
              </a:rPr>
              <a:t> </a:t>
            </a:r>
            <a:r>
              <a:rPr lang="en-IN" sz="1600" dirty="0" err="1">
                <a:latin typeface="Times New Roman" panose="02020603050405020304" pitchFamily="18" charset="0"/>
                <a:cs typeface="Times New Roman" panose="02020603050405020304" pitchFamily="18" charset="0"/>
                <a:sym typeface="+mn-ea"/>
              </a:rPr>
              <a:t>Leccisi</a:t>
            </a:r>
            <a:r>
              <a:rPr lang="en-IN" sz="1600" dirty="0">
                <a:latin typeface="Times New Roman" panose="02020603050405020304" pitchFamily="18" charset="0"/>
                <a:cs typeface="Times New Roman" panose="02020603050405020304" pitchFamily="18" charset="0"/>
                <a:sym typeface="+mn-ea"/>
              </a:rPr>
              <a:t>., A. </a:t>
            </a:r>
            <a:r>
              <a:rPr lang="en-IN" sz="1600" dirty="0" err="1">
                <a:latin typeface="Times New Roman" panose="02020603050405020304" pitchFamily="18" charset="0"/>
                <a:cs typeface="Times New Roman" panose="02020603050405020304" pitchFamily="18" charset="0"/>
                <a:sym typeface="+mn-ea"/>
              </a:rPr>
              <a:t>Pecora</a:t>
            </a:r>
            <a:r>
              <a:rPr lang="en-IN" sz="1600" dirty="0">
                <a:latin typeface="Times New Roman" panose="02020603050405020304" pitchFamily="18" charset="0"/>
                <a:cs typeface="Times New Roman" panose="02020603050405020304" pitchFamily="18" charset="0"/>
                <a:sym typeface="+mn-ea"/>
              </a:rPr>
              <a:t>., L. </a:t>
            </a:r>
            <a:r>
              <a:rPr lang="en-IN" sz="1600" dirty="0" err="1">
                <a:latin typeface="Times New Roman" panose="02020603050405020304" pitchFamily="18" charset="0"/>
                <a:cs typeface="Times New Roman" panose="02020603050405020304" pitchFamily="18" charset="0"/>
                <a:sym typeface="+mn-ea"/>
              </a:rPr>
              <a:t>Maiolo</a:t>
            </a:r>
            <a:r>
              <a:rPr lang="en-IN" sz="1600" dirty="0">
                <a:latin typeface="Times New Roman" panose="02020603050405020304" pitchFamily="18" charset="0"/>
                <a:cs typeface="Times New Roman" panose="02020603050405020304" pitchFamily="18" charset="0"/>
                <a:sym typeface="+mn-ea"/>
              </a:rPr>
              <a:t>., G. </a:t>
            </a:r>
            <a:r>
              <a:rPr lang="en-IN" sz="1600" dirty="0" err="1">
                <a:latin typeface="Times New Roman" panose="02020603050405020304" pitchFamily="18" charset="0"/>
                <a:cs typeface="Times New Roman" panose="02020603050405020304" pitchFamily="18" charset="0"/>
                <a:sym typeface="+mn-ea"/>
              </a:rPr>
              <a:t>Spagnolo</a:t>
            </a:r>
            <a:r>
              <a:rPr lang="en-IN" sz="1600" dirty="0">
                <a:latin typeface="Times New Roman" panose="02020603050405020304" pitchFamily="18" charset="0"/>
                <a:cs typeface="Times New Roman" panose="02020603050405020304" pitchFamily="18" charset="0"/>
                <a:sym typeface="+mn-ea"/>
              </a:rPr>
              <a:t>., R. </a:t>
            </a:r>
            <a:r>
              <a:rPr lang="en-IN" sz="1600" dirty="0" err="1">
                <a:latin typeface="Times New Roman" panose="02020603050405020304" pitchFamily="18" charset="0"/>
                <a:cs typeface="Times New Roman" panose="02020603050405020304" pitchFamily="18" charset="0"/>
                <a:sym typeface="+mn-ea"/>
              </a:rPr>
              <a:t>Ðurović-Pejčev</a:t>
            </a:r>
            <a:r>
              <a:rPr lang="en-IN" sz="1600" dirty="0">
                <a:latin typeface="Times New Roman" panose="02020603050405020304" pitchFamily="18" charset="0"/>
                <a:cs typeface="Times New Roman" panose="02020603050405020304" pitchFamily="18" charset="0"/>
                <a:sym typeface="+mn-ea"/>
              </a:rPr>
              <a:t>., T. </a:t>
            </a:r>
            <a:r>
              <a:rPr lang="en-IN" sz="1600" dirty="0" err="1">
                <a:latin typeface="Times New Roman" panose="02020603050405020304" pitchFamily="18" charset="0"/>
                <a:cs typeface="Times New Roman" panose="02020603050405020304" pitchFamily="18" charset="0"/>
                <a:sym typeface="+mn-ea"/>
              </a:rPr>
              <a:t>Ðorđević</a:t>
            </a:r>
            <a:r>
              <a:rPr lang="en-IN" sz="1600" dirty="0">
                <a:latin typeface="Times New Roman" panose="02020603050405020304" pitchFamily="18" charset="0"/>
                <a:cs typeface="Times New Roman" panose="02020603050405020304" pitchFamily="18" charset="0"/>
                <a:sym typeface="+mn-ea"/>
              </a:rPr>
              <a:t>., A. </a:t>
            </a:r>
            <a:r>
              <a:rPr lang="en-IN" sz="1600" dirty="0" err="1">
                <a:latin typeface="Times New Roman" panose="02020603050405020304" pitchFamily="18" charset="0"/>
                <a:cs typeface="Times New Roman" panose="02020603050405020304" pitchFamily="18" charset="0"/>
                <a:sym typeface="+mn-ea"/>
              </a:rPr>
              <a:t>Tomašević</a:t>
            </a:r>
            <a:r>
              <a:rPr lang="en-IN" sz="1600" dirty="0">
                <a:latin typeface="Times New Roman" panose="02020603050405020304" pitchFamily="18" charset="0"/>
                <a:cs typeface="Times New Roman" panose="02020603050405020304" pitchFamily="18" charset="0"/>
                <a:sym typeface="+mn-ea"/>
              </a:rPr>
              <a:t>., Eduardo De Francesco., R. </a:t>
            </a:r>
            <a:r>
              <a:rPr lang="en-IN" sz="1600" dirty="0" err="1">
                <a:latin typeface="Times New Roman" panose="02020603050405020304" pitchFamily="18" charset="0"/>
                <a:cs typeface="Times New Roman" panose="02020603050405020304" pitchFamily="18" charset="0"/>
                <a:sym typeface="+mn-ea"/>
              </a:rPr>
              <a:t>Quadarella</a:t>
            </a:r>
            <a:r>
              <a:rPr lang="en-IN" sz="1600" dirty="0">
                <a:latin typeface="Times New Roman" panose="02020603050405020304" pitchFamily="18" charset="0"/>
                <a:cs typeface="Times New Roman" panose="02020603050405020304" pitchFamily="18" charset="0"/>
                <a:sym typeface="+mn-ea"/>
              </a:rPr>
              <a:t>.,  L. </a:t>
            </a:r>
            <a:r>
              <a:rPr lang="en-IN" sz="1600" dirty="0" err="1">
                <a:latin typeface="Times New Roman" panose="02020603050405020304" pitchFamily="18" charset="0"/>
                <a:cs typeface="Times New Roman" panose="02020603050405020304" pitchFamily="18" charset="0"/>
                <a:sym typeface="+mn-ea"/>
              </a:rPr>
              <a:t>Bozzi</a:t>
            </a:r>
            <a:r>
              <a:rPr lang="en-IN" sz="1600" dirty="0">
                <a:latin typeface="Times New Roman" panose="02020603050405020304" pitchFamily="18" charset="0"/>
                <a:cs typeface="Times New Roman" panose="02020603050405020304" pitchFamily="18" charset="0"/>
                <a:sym typeface="+mn-ea"/>
              </a:rPr>
              <a:t>.,  V. </a:t>
            </a:r>
            <a:r>
              <a:rPr lang="en-IN" sz="1600" dirty="0" err="1">
                <a:latin typeface="Times New Roman" panose="02020603050405020304" pitchFamily="18" charset="0"/>
                <a:cs typeface="Times New Roman" panose="02020603050405020304" pitchFamily="18" charset="0"/>
                <a:sym typeface="+mn-ea"/>
              </a:rPr>
              <a:t>Arenella</a:t>
            </a:r>
            <a:r>
              <a:rPr lang="en-IN" sz="1600" dirty="0">
                <a:latin typeface="Times New Roman" panose="02020603050405020304" pitchFamily="18" charset="0"/>
                <a:cs typeface="Times New Roman" panose="02020603050405020304" pitchFamily="18" charset="0"/>
                <a:sym typeface="+mn-ea"/>
              </a:rPr>
              <a:t>.,  P. Gabriele.,  </a:t>
            </a:r>
            <a:r>
              <a:rPr lang="en-IN" sz="1600" dirty="0" err="1">
                <a:latin typeface="Times New Roman" panose="02020603050405020304" pitchFamily="18" charset="0"/>
                <a:cs typeface="Times New Roman" panose="02020603050405020304" pitchFamily="18" charset="0"/>
                <a:sym typeface="+mn-ea"/>
              </a:rPr>
              <a:t>Ciro</a:t>
            </a:r>
            <a:r>
              <a:rPr lang="en-IN" sz="1600" dirty="0">
                <a:latin typeface="Times New Roman" panose="02020603050405020304" pitchFamily="18" charset="0"/>
                <a:cs typeface="Times New Roman" panose="02020603050405020304" pitchFamily="18" charset="0"/>
                <a:sym typeface="+mn-ea"/>
              </a:rPr>
              <a:t> </a:t>
            </a:r>
            <a:r>
              <a:rPr lang="en-IN" sz="1600" dirty="0" err="1">
                <a:latin typeface="Times New Roman" panose="02020603050405020304" pitchFamily="18" charset="0"/>
                <a:cs typeface="Times New Roman" panose="02020603050405020304" pitchFamily="18" charset="0"/>
                <a:sym typeface="+mn-ea"/>
              </a:rPr>
              <a:t>Formisano</a:t>
            </a:r>
            <a:r>
              <a:rPr lang="en-IN" sz="1600" dirty="0">
                <a:latin typeface="Times New Roman" panose="02020603050405020304" pitchFamily="18" charset="0"/>
                <a:cs typeface="Times New Roman" panose="02020603050405020304" pitchFamily="18" charset="0"/>
                <a:sym typeface="+mn-ea"/>
              </a:rPr>
              <a:t>., q (2019). </a:t>
            </a:r>
            <a:r>
              <a:rPr lang="en-US" sz="1600" dirty="0">
                <a:latin typeface="Times New Roman" panose="02020603050405020304" pitchFamily="18" charset="0"/>
                <a:cs typeface="Times New Roman" panose="02020603050405020304" pitchFamily="18" charset="0"/>
                <a:sym typeface="+mn-ea"/>
              </a:rPr>
              <a:t>Electronic Nose for Pesticides: The First Study Towards a Smart Analysis. </a:t>
            </a:r>
            <a:r>
              <a:rPr lang="en-US" sz="1600" i="1" dirty="0">
                <a:latin typeface="Times New Roman" panose="02020603050405020304" pitchFamily="18" charset="0"/>
                <a:cs typeface="Times New Roman" panose="02020603050405020304" pitchFamily="18" charset="0"/>
                <a:sym typeface="+mn-ea"/>
              </a:rPr>
              <a:t>Contemporary Agriculture, 68(1), 17-22. </a:t>
            </a:r>
            <a:r>
              <a:rPr lang="en-IN" sz="1600" dirty="0">
                <a:latin typeface="Times New Roman" panose="02020603050405020304" pitchFamily="18" charset="0"/>
                <a:cs typeface="Times New Roman" panose="02020603050405020304" pitchFamily="18" charset="0"/>
                <a:sym typeface="+mn-ea"/>
              </a:rPr>
              <a:t>DOI: 10.2478/contagri-2019-0004 </a:t>
            </a:r>
            <a:endParaRPr lang="en-IN" sz="1600" dirty="0">
              <a:latin typeface="Times New Roman" panose="02020603050405020304" pitchFamily="18" charset="0"/>
              <a:cs typeface="Times New Roman" panose="02020603050405020304" pitchFamily="18" charset="0"/>
              <a:sym typeface="+mn-ea"/>
            </a:endParaRPr>
          </a:p>
          <a:p>
            <a:pPr algn="just">
              <a:lnSpc>
                <a:spcPct val="150000"/>
              </a:lnSpc>
              <a:buFont typeface="+mj-lt"/>
              <a:buAutoNum type="arabicPeriod" startAt="9"/>
            </a:pPr>
            <a:r>
              <a:rPr lang="en-IN" sz="1600" dirty="0">
                <a:latin typeface="Times New Roman" panose="02020603050405020304" pitchFamily="18" charset="0"/>
                <a:cs typeface="Times New Roman" panose="02020603050405020304" pitchFamily="18" charset="0"/>
                <a:sym typeface="+mn-ea"/>
              </a:rPr>
              <a:t>G Green., A Chan.,  R </a:t>
            </a:r>
            <a:r>
              <a:rPr lang="en-IN" sz="1600" dirty="0" err="1">
                <a:latin typeface="Times New Roman" panose="02020603050405020304" pitchFamily="18" charset="0"/>
                <a:cs typeface="Times New Roman" panose="02020603050405020304" pitchFamily="18" charset="0"/>
                <a:sym typeface="+mn-ea"/>
              </a:rPr>
              <a:t>Goubran</a:t>
            </a:r>
            <a:r>
              <a:rPr lang="en-IN" sz="1600" dirty="0">
                <a:latin typeface="Times New Roman" panose="02020603050405020304" pitchFamily="18" charset="0"/>
                <a:cs typeface="Times New Roman" panose="02020603050405020304" pitchFamily="18" charset="0"/>
                <a:sym typeface="+mn-ea"/>
              </a:rPr>
              <a:t>. (2009). </a:t>
            </a:r>
            <a:r>
              <a:rPr lang="en-US" sz="1600" dirty="0">
                <a:latin typeface="Times New Roman" panose="02020603050405020304" pitchFamily="18" charset="0"/>
                <a:cs typeface="Times New Roman" panose="02020603050405020304" pitchFamily="18" charset="0"/>
                <a:sym typeface="+mn-ea"/>
              </a:rPr>
              <a:t>Monitoring of food spoilage with electronic nose: potential applications for smart homes. </a:t>
            </a:r>
            <a:r>
              <a:rPr lang="en-US" sz="1600" i="1" dirty="0">
                <a:latin typeface="Times New Roman" panose="02020603050405020304" pitchFamily="18" charset="0"/>
                <a:cs typeface="Times New Roman" panose="02020603050405020304" pitchFamily="18" charset="0"/>
                <a:sym typeface="+mn-ea"/>
              </a:rPr>
              <a:t>IEEE 3rd Int. Conf. Pervasive Computing Technologies for Healthcare, </a:t>
            </a:r>
            <a:r>
              <a:rPr lang="en-US" sz="1600" dirty="0">
                <a:latin typeface="Times New Roman" panose="02020603050405020304" pitchFamily="18" charset="0"/>
                <a:cs typeface="Times New Roman" panose="02020603050405020304" pitchFamily="18" charset="0"/>
                <a:sym typeface="+mn-ea"/>
                <a:hlinkClick r:id="rId1"/>
              </a:rPr>
              <a:t>https://doi.org/10.1109/PCTHEALTH.2009.5291419</a:t>
            </a:r>
            <a:endParaRPr lang="en-US" sz="1600" dirty="0">
              <a:latin typeface="Times New Roman" panose="02020603050405020304" pitchFamily="18" charset="0"/>
              <a:cs typeface="Times New Roman" panose="02020603050405020304" pitchFamily="18" charset="0"/>
              <a:sym typeface="+mn-ea"/>
              <a:hlinkClick r:id="rId1"/>
            </a:endParaRPr>
          </a:p>
          <a:p>
            <a:pPr algn="just">
              <a:lnSpc>
                <a:spcPct val="150000"/>
              </a:lnSpc>
              <a:buFont typeface="+mj-lt"/>
              <a:buAutoNum type="arabicPeriod" startAt="9"/>
            </a:pPr>
            <a:r>
              <a:rPr lang="en-US" sz="1600" dirty="0">
                <a:latin typeface="Times New Roman" panose="02020603050405020304" pitchFamily="18" charset="0"/>
                <a:cs typeface="Times New Roman" panose="02020603050405020304" pitchFamily="18" charset="0"/>
                <a:sym typeface="+mn-ea"/>
              </a:rPr>
              <a:t>G Lee., Q Wei., Y Zhu. (2021). Emerging Wearable Sensors for Plant Health Monitoring. </a:t>
            </a:r>
            <a:r>
              <a:rPr lang="en-US" sz="1600" i="1" dirty="0">
                <a:latin typeface="Times New Roman" panose="02020603050405020304" pitchFamily="18" charset="0"/>
                <a:cs typeface="Times New Roman" panose="02020603050405020304" pitchFamily="18" charset="0"/>
                <a:sym typeface="+mn-ea"/>
              </a:rPr>
              <a:t>Wiley Advanced Functional Monitoring, 31(52). </a:t>
            </a:r>
            <a:r>
              <a:rPr lang="en-US" sz="1600" dirty="0">
                <a:latin typeface="Times New Roman" panose="02020603050405020304" pitchFamily="18" charset="0"/>
                <a:cs typeface="Times New Roman" panose="02020603050405020304" pitchFamily="18" charset="0"/>
                <a:sym typeface="+mn-ea"/>
                <a:hlinkClick r:id="rId2"/>
              </a:rPr>
              <a:t>https://doi.org/10.1002/adfm.202106475</a:t>
            </a:r>
            <a:endParaRPr lang="en-US" sz="1600" dirty="0">
              <a:latin typeface="Times New Roman" panose="02020603050405020304" pitchFamily="18" charset="0"/>
              <a:cs typeface="Times New Roman" panose="02020603050405020304" pitchFamily="18" charset="0"/>
              <a:sym typeface="+mn-ea"/>
              <a:hlinkClick r:id="rId1"/>
            </a:endParaRPr>
          </a:p>
          <a:p>
            <a:pPr algn="just">
              <a:lnSpc>
                <a:spcPct val="150000"/>
              </a:lnSpc>
              <a:buFont typeface="+mj-lt"/>
              <a:buAutoNum type="arabicPeriod" startAt="9"/>
            </a:pPr>
            <a:r>
              <a:rPr lang="en-US" sz="1600" dirty="0">
                <a:latin typeface="Times New Roman" panose="02020603050405020304" pitchFamily="18" charset="0"/>
                <a:cs typeface="Times New Roman" panose="02020603050405020304" pitchFamily="18" charset="0"/>
                <a:sym typeface="+mn-ea"/>
              </a:rPr>
              <a:t> </a:t>
            </a:r>
            <a:r>
              <a:rPr lang="en-US" sz="1600" dirty="0" err="1">
                <a:latin typeface="Times New Roman" panose="02020603050405020304" pitchFamily="18" charset="0"/>
                <a:cs typeface="Times New Roman" panose="02020603050405020304" pitchFamily="18" charset="0"/>
                <a:sym typeface="+mn-ea"/>
              </a:rPr>
              <a:t>Hidayat</a:t>
            </a:r>
            <a:r>
              <a:rPr lang="en-US" sz="1600" dirty="0">
                <a:latin typeface="Times New Roman" panose="02020603050405020304" pitchFamily="18" charset="0"/>
                <a:cs typeface="Times New Roman" panose="02020603050405020304" pitchFamily="18" charset="0"/>
                <a:sym typeface="+mn-ea"/>
              </a:rPr>
              <a:t>.,</a:t>
            </a:r>
            <a:r>
              <a:rPr lang="en-US" sz="1600" dirty="0" err="1">
                <a:latin typeface="Times New Roman" panose="02020603050405020304" pitchFamily="18" charset="0"/>
                <a:cs typeface="Times New Roman" panose="02020603050405020304" pitchFamily="18" charset="0"/>
                <a:sym typeface="+mn-ea"/>
              </a:rPr>
              <a:t>Markom</a:t>
            </a:r>
            <a:r>
              <a:rPr lang="en-US" sz="1600" dirty="0">
                <a:latin typeface="Times New Roman" panose="02020603050405020304" pitchFamily="18" charset="0"/>
                <a:cs typeface="Times New Roman" panose="02020603050405020304" pitchFamily="18" charset="0"/>
                <a:sym typeface="+mn-ea"/>
              </a:rPr>
              <a:t>., </a:t>
            </a:r>
            <a:r>
              <a:rPr lang="en-US" sz="1600" dirty="0" err="1">
                <a:latin typeface="Times New Roman" panose="02020603050405020304" pitchFamily="18" charset="0"/>
                <a:cs typeface="Times New Roman" panose="02020603050405020304" pitchFamily="18" charset="0"/>
                <a:sym typeface="+mn-ea"/>
              </a:rPr>
              <a:t>Shakaff</a:t>
            </a:r>
            <a:r>
              <a:rPr lang="en-US" sz="1600" dirty="0">
                <a:latin typeface="Times New Roman" panose="02020603050405020304" pitchFamily="18" charset="0"/>
                <a:cs typeface="Times New Roman" panose="02020603050405020304" pitchFamily="18" charset="0"/>
                <a:sym typeface="+mn-ea"/>
              </a:rPr>
              <a:t>., </a:t>
            </a:r>
            <a:r>
              <a:rPr lang="en-US" sz="1600" dirty="0" err="1">
                <a:latin typeface="Times New Roman" panose="02020603050405020304" pitchFamily="18" charset="0"/>
                <a:cs typeface="Times New Roman" panose="02020603050405020304" pitchFamily="18" charset="0"/>
                <a:sym typeface="+mn-ea"/>
              </a:rPr>
              <a:t>Adom</a:t>
            </a:r>
            <a:r>
              <a:rPr lang="en-US" sz="1600" dirty="0">
                <a:latin typeface="Times New Roman" panose="02020603050405020304" pitchFamily="18" charset="0"/>
                <a:cs typeface="Times New Roman" panose="02020603050405020304" pitchFamily="18" charset="0"/>
                <a:sym typeface="+mn-ea"/>
              </a:rPr>
              <a:t>., Ahmad., Abdullah., Ahmad </a:t>
            </a:r>
            <a:r>
              <a:rPr lang="en-US" sz="1600" dirty="0" err="1">
                <a:latin typeface="Times New Roman" panose="02020603050405020304" pitchFamily="18" charset="0"/>
                <a:cs typeface="Times New Roman" panose="02020603050405020304" pitchFamily="18" charset="0"/>
                <a:sym typeface="+mn-ea"/>
              </a:rPr>
              <a:t>Fikiri</a:t>
            </a:r>
            <a:r>
              <a:rPr lang="en-US" sz="1600" dirty="0">
                <a:latin typeface="Times New Roman" panose="02020603050405020304" pitchFamily="18" charset="0"/>
                <a:cs typeface="Times New Roman" panose="02020603050405020304" pitchFamily="18" charset="0"/>
                <a:sym typeface="+mn-ea"/>
              </a:rPr>
              <a:t>. (2009). Intelligent electronic nose system for basal stem rot disease detection. </a:t>
            </a:r>
            <a:r>
              <a:rPr lang="en-US" sz="1600" i="1" dirty="0">
                <a:latin typeface="Times New Roman" panose="02020603050405020304" pitchFamily="18" charset="0"/>
                <a:cs typeface="Times New Roman" panose="02020603050405020304" pitchFamily="18" charset="0"/>
                <a:sym typeface="+mn-ea"/>
              </a:rPr>
              <a:t>SD Compt. Elect. </a:t>
            </a:r>
            <a:r>
              <a:rPr lang="en-US" sz="1600" i="1" dirty="0" err="1">
                <a:latin typeface="Times New Roman" panose="02020603050405020304" pitchFamily="18" charset="0"/>
                <a:cs typeface="Times New Roman" panose="02020603050405020304" pitchFamily="18" charset="0"/>
                <a:sym typeface="+mn-ea"/>
              </a:rPr>
              <a:t>Agric</a:t>
            </a:r>
            <a:r>
              <a:rPr lang="en-US" sz="1600" i="1" dirty="0">
                <a:latin typeface="Times New Roman" panose="02020603050405020304" pitchFamily="18" charset="0"/>
                <a:cs typeface="Times New Roman" panose="02020603050405020304" pitchFamily="18" charset="0"/>
                <a:sym typeface="+mn-ea"/>
              </a:rPr>
              <a:t>, 66(2), 140-146. </a:t>
            </a:r>
            <a:r>
              <a:rPr lang="en-US" sz="1600" dirty="0">
                <a:latin typeface="Times New Roman" panose="02020603050405020304" pitchFamily="18" charset="0"/>
                <a:cs typeface="Times New Roman" panose="02020603050405020304" pitchFamily="18" charset="0"/>
                <a:sym typeface="+mn-ea"/>
                <a:hlinkClick r:id="rId3"/>
              </a:rPr>
              <a:t>https://doi.org/10.1016/j.compag.2009.01.006</a:t>
            </a:r>
            <a:endParaRPr lang="it-IT" sz="1600" dirty="0">
              <a:latin typeface="Times New Roman" panose="02020603050405020304" pitchFamily="18" charset="0"/>
              <a:cs typeface="Times New Roman" panose="02020603050405020304" pitchFamily="18" charset="0"/>
              <a:sym typeface="+mn-ea"/>
            </a:endParaRPr>
          </a:p>
          <a:p>
            <a:pPr algn="just">
              <a:lnSpc>
                <a:spcPct val="150000"/>
              </a:lnSpc>
              <a:spcAft>
                <a:spcPts val="800"/>
              </a:spcAft>
              <a:buClr>
                <a:srgbClr val="000000"/>
              </a:buClr>
              <a:buSzPct val="99000"/>
              <a:buFont typeface="+mj-lt"/>
              <a:buAutoNum type="arabicPeriod" startAt="9"/>
            </a:pPr>
            <a:endParaRPr lang="en-US" sz="16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E6548BF1-274A-4D06-90A0-3F64D4315D8B}" type="datetime3">
              <a:rPr lang="en-US" smtClean="0"/>
            </a:fld>
            <a:endParaRPr lang="en-US"/>
          </a:p>
        </p:txBody>
      </p:sp>
      <p:sp>
        <p:nvSpPr>
          <p:cNvPr id="5" name="Footer Placeholder 4"/>
          <p:cNvSpPr>
            <a:spLocks noGrp="1"/>
          </p:cNvSpPr>
          <p:nvPr>
            <p:ph type="ftr" sz="quarter" idx="11"/>
          </p:nvPr>
        </p:nvSpPr>
        <p:spPr/>
        <p:txBody>
          <a:bodyPr/>
          <a:lstStyle/>
          <a:p>
            <a:r>
              <a:rPr lang="en-US" dirty="0"/>
              <a:t>School of Computing - CSE with IoT</a:t>
            </a:r>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3200" b="1" dirty="0">
                <a:latin typeface="Times New Roman" panose="02020603050405020304" pitchFamily="18" charset="0"/>
                <a:cs typeface="Times New Roman" panose="02020603050405020304" pitchFamily="18" charset="0"/>
                <a:sym typeface="+mn-ea"/>
              </a:rPr>
              <a:t>REFERENCES</a:t>
            </a:r>
            <a:endParaRPr lang="en-IN" sz="3200" b="1" dirty="0">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609600" y="1371600"/>
            <a:ext cx="8229600" cy="4525963"/>
          </a:xfrm>
        </p:spPr>
        <p:txBody>
          <a:bodyPr>
            <a:noAutofit/>
          </a:bodyPr>
          <a:lstStyle/>
          <a:p>
            <a:pPr algn="just">
              <a:lnSpc>
                <a:spcPct val="150000"/>
              </a:lnSpc>
              <a:buClr>
                <a:srgbClr val="000000"/>
              </a:buClr>
              <a:buSzPct val="99000"/>
              <a:buFont typeface="+mj-lt"/>
              <a:buAutoNum type="arabicPeriod" startAt="13"/>
            </a:pPr>
            <a:r>
              <a:rPr lang="it-IT" sz="1600" dirty="0">
                <a:latin typeface="Times New Roman" panose="02020603050405020304" pitchFamily="18" charset="0"/>
                <a:cs typeface="Times New Roman" panose="02020603050405020304" pitchFamily="18" charset="0"/>
                <a:sym typeface="+mn-ea"/>
              </a:rPr>
              <a:t> I Braschi.,</a:t>
            </a:r>
            <a:r>
              <a:rPr lang="en-US" sz="1600" dirty="0">
                <a:latin typeface="Times New Roman" panose="02020603050405020304" pitchFamily="18" charset="0"/>
                <a:cs typeface="Times New Roman" panose="02020603050405020304" pitchFamily="18" charset="0"/>
                <a:sym typeface="+mn-ea"/>
              </a:rPr>
              <a:t> A </a:t>
            </a:r>
            <a:r>
              <a:rPr lang="en-IN" sz="1600" dirty="0">
                <a:latin typeface="Times New Roman" panose="02020603050405020304" pitchFamily="18" charset="0"/>
                <a:cs typeface="Times New Roman" panose="02020603050405020304" pitchFamily="18" charset="0"/>
                <a:sym typeface="+mn-ea"/>
              </a:rPr>
              <a:t>Cellini., S </a:t>
            </a:r>
            <a:r>
              <a:rPr lang="en-IN" sz="1600" dirty="0" err="1">
                <a:latin typeface="Times New Roman" panose="02020603050405020304" pitchFamily="18" charset="0"/>
                <a:cs typeface="Times New Roman" panose="02020603050405020304" pitchFamily="18" charset="0"/>
                <a:sym typeface="+mn-ea"/>
              </a:rPr>
              <a:t>Blasioli</a:t>
            </a:r>
            <a:r>
              <a:rPr lang="en-IN" sz="1600" dirty="0">
                <a:latin typeface="Times New Roman" panose="02020603050405020304" pitchFamily="18" charset="0"/>
                <a:cs typeface="Times New Roman" panose="02020603050405020304" pitchFamily="18" charset="0"/>
                <a:sym typeface="+mn-ea"/>
              </a:rPr>
              <a:t>., E </a:t>
            </a:r>
            <a:r>
              <a:rPr lang="en-IN" sz="1600" dirty="0" err="1">
                <a:latin typeface="Times New Roman" panose="02020603050405020304" pitchFamily="18" charset="0"/>
                <a:cs typeface="Times New Roman" panose="02020603050405020304" pitchFamily="18" charset="0"/>
                <a:sym typeface="+mn-ea"/>
              </a:rPr>
              <a:t>Biondi</a:t>
            </a:r>
            <a:r>
              <a:rPr lang="en-IN" sz="1600" dirty="0">
                <a:latin typeface="Times New Roman" panose="02020603050405020304" pitchFamily="18" charset="0"/>
                <a:cs typeface="Times New Roman" panose="02020603050405020304" pitchFamily="18" charset="0"/>
                <a:sym typeface="+mn-ea"/>
              </a:rPr>
              <a:t>.,</a:t>
            </a:r>
            <a:r>
              <a:rPr lang="en-US" sz="1600" dirty="0">
                <a:latin typeface="Times New Roman" panose="02020603050405020304" pitchFamily="18" charset="0"/>
                <a:cs typeface="Times New Roman" panose="02020603050405020304" pitchFamily="18" charset="0"/>
                <a:sym typeface="+mn-ea"/>
              </a:rPr>
              <a:t> </a:t>
            </a:r>
            <a:r>
              <a:rPr lang="it-IT" sz="1600" dirty="0">
                <a:latin typeface="Times New Roman" panose="02020603050405020304" pitchFamily="18" charset="0"/>
                <a:cs typeface="Times New Roman" panose="02020603050405020304" pitchFamily="18" charset="0"/>
                <a:sym typeface="+mn-ea"/>
              </a:rPr>
              <a:t>A Bertaccini., F Spinelli. (2017). </a:t>
            </a:r>
            <a:r>
              <a:rPr lang="en-US" sz="1600" dirty="0">
                <a:latin typeface="Times New Roman" panose="02020603050405020304" pitchFamily="18" charset="0"/>
                <a:cs typeface="Times New Roman" panose="02020603050405020304" pitchFamily="18" charset="0"/>
                <a:sym typeface="+mn-ea"/>
              </a:rPr>
              <a:t>Potential Applications and Limitations of Electronic Nose Devices for Plant Disease Diagnosis. </a:t>
            </a:r>
            <a:r>
              <a:rPr lang="en-US" sz="1600" i="1" dirty="0">
                <a:latin typeface="Times New Roman" panose="02020603050405020304" pitchFamily="18" charset="0"/>
                <a:cs typeface="Times New Roman" panose="02020603050405020304" pitchFamily="18" charset="0"/>
                <a:sym typeface="+mn-ea"/>
              </a:rPr>
              <a:t>MDPI Chemical Sensors, 17(11), 2596. </a:t>
            </a:r>
            <a:r>
              <a:rPr lang="en-US" sz="1600" dirty="0">
                <a:latin typeface="Times New Roman" panose="02020603050405020304" pitchFamily="18" charset="0"/>
                <a:cs typeface="Times New Roman" panose="02020603050405020304" pitchFamily="18" charset="0"/>
                <a:sym typeface="+mn-ea"/>
                <a:hlinkClick r:id="rId1"/>
              </a:rPr>
              <a:t>https://doi.org/10.3390/s17112596</a:t>
            </a:r>
            <a:endParaRPr lang="en-US" sz="1600" dirty="0">
              <a:latin typeface="Times New Roman" panose="02020603050405020304" pitchFamily="18" charset="0"/>
              <a:cs typeface="Times New Roman" panose="02020603050405020304" pitchFamily="18" charset="0"/>
              <a:sym typeface="+mn-ea"/>
            </a:endParaRPr>
          </a:p>
          <a:p>
            <a:pPr algn="just">
              <a:lnSpc>
                <a:spcPct val="150000"/>
              </a:lnSpc>
              <a:buClr>
                <a:srgbClr val="000000"/>
              </a:buClr>
              <a:buSzPct val="99000"/>
              <a:buFont typeface="+mj-lt"/>
              <a:buAutoNum type="arabicPeriod" startAt="13"/>
            </a:pPr>
            <a:r>
              <a:rPr lang="en-IN" sz="1600" dirty="0" err="1">
                <a:latin typeface="Times New Roman" panose="02020603050405020304" pitchFamily="18" charset="0"/>
                <a:cs typeface="Times New Roman" panose="02020603050405020304" pitchFamily="18" charset="0"/>
                <a:sym typeface="+mn-ea"/>
              </a:rPr>
              <a:t>Jullada</a:t>
            </a:r>
            <a:r>
              <a:rPr lang="en-IN" sz="1600" dirty="0">
                <a:latin typeface="Times New Roman" panose="02020603050405020304" pitchFamily="18" charset="0"/>
                <a:cs typeface="Times New Roman" panose="02020603050405020304" pitchFamily="18" charset="0"/>
                <a:sym typeface="+mn-ea"/>
              </a:rPr>
              <a:t> </a:t>
            </a:r>
            <a:r>
              <a:rPr lang="en-IN" sz="1600" dirty="0" err="1">
                <a:latin typeface="Times New Roman" panose="02020603050405020304" pitchFamily="18" charset="0"/>
                <a:cs typeface="Times New Roman" panose="02020603050405020304" pitchFamily="18" charset="0"/>
                <a:sym typeface="+mn-ea"/>
              </a:rPr>
              <a:t>Laothawornkitkul</a:t>
            </a:r>
            <a:r>
              <a:rPr lang="en-IN" sz="1600" dirty="0">
                <a:latin typeface="Times New Roman" panose="02020603050405020304" pitchFamily="18" charset="0"/>
                <a:cs typeface="Times New Roman" panose="02020603050405020304" pitchFamily="18" charset="0"/>
                <a:sym typeface="+mn-ea"/>
              </a:rPr>
              <a:t>., Jason P. Moore., Jane E. Taylor., Malcolm </a:t>
            </a:r>
            <a:r>
              <a:rPr lang="en-IN" sz="1600" dirty="0" err="1">
                <a:latin typeface="Times New Roman" panose="02020603050405020304" pitchFamily="18" charset="0"/>
                <a:cs typeface="Times New Roman" panose="02020603050405020304" pitchFamily="18" charset="0"/>
                <a:sym typeface="+mn-ea"/>
              </a:rPr>
              <a:t>Possell</a:t>
            </a:r>
            <a:r>
              <a:rPr lang="en-IN" sz="1600" dirty="0">
                <a:latin typeface="Times New Roman" panose="02020603050405020304" pitchFamily="18" charset="0"/>
                <a:cs typeface="Times New Roman" panose="02020603050405020304" pitchFamily="18" charset="0"/>
                <a:sym typeface="+mn-ea"/>
              </a:rPr>
              <a:t>., Tim D. Gibson., C. Nicholas Hewitt., Nigel D. Paul. (2008). </a:t>
            </a:r>
            <a:r>
              <a:rPr lang="en-US" sz="1600" dirty="0">
                <a:latin typeface="Times New Roman" panose="02020603050405020304" pitchFamily="18" charset="0"/>
                <a:cs typeface="Times New Roman" panose="02020603050405020304" pitchFamily="18" charset="0"/>
                <a:sym typeface="+mn-ea"/>
              </a:rPr>
              <a:t>Discrimination of Plant Volatile Signatures by an Electronic Nose: A Potential Technology for Plant Pest and Disease Monitoring. </a:t>
            </a:r>
            <a:r>
              <a:rPr lang="en-US" sz="1600" i="1" dirty="0">
                <a:latin typeface="Times New Roman" panose="02020603050405020304" pitchFamily="18" charset="0"/>
                <a:cs typeface="Times New Roman" panose="02020603050405020304" pitchFamily="18" charset="0"/>
                <a:sym typeface="+mn-ea"/>
              </a:rPr>
              <a:t>Environmental and </a:t>
            </a:r>
            <a:r>
              <a:rPr lang="en-US" sz="1600" i="1" dirty="0" err="1">
                <a:latin typeface="Times New Roman" panose="02020603050405020304" pitchFamily="18" charset="0"/>
                <a:cs typeface="Times New Roman" panose="02020603050405020304" pitchFamily="18" charset="0"/>
                <a:sym typeface="+mn-ea"/>
              </a:rPr>
              <a:t>sciencwe</a:t>
            </a:r>
            <a:r>
              <a:rPr lang="en-US" sz="1600" i="1" dirty="0">
                <a:latin typeface="Times New Roman" panose="02020603050405020304" pitchFamily="18" charset="0"/>
                <a:cs typeface="Times New Roman" panose="02020603050405020304" pitchFamily="18" charset="0"/>
                <a:sym typeface="+mn-ea"/>
              </a:rPr>
              <a:t> Tech, 42(22), </a:t>
            </a:r>
            <a:r>
              <a:rPr lang="en-US" sz="1600" dirty="0">
                <a:latin typeface="Times New Roman" panose="02020603050405020304" pitchFamily="18" charset="0"/>
                <a:cs typeface="Times New Roman" panose="02020603050405020304" pitchFamily="18" charset="0"/>
                <a:sym typeface="+mn-ea"/>
                <a:hlinkClick r:id="rId2"/>
              </a:rPr>
              <a:t>http://dx.doi.org/10.1021/es801738s</a:t>
            </a:r>
            <a:endParaRPr lang="en-US" sz="1600" dirty="0">
              <a:latin typeface="Times New Roman" panose="02020603050405020304" pitchFamily="18" charset="0"/>
              <a:cs typeface="Times New Roman" panose="02020603050405020304" pitchFamily="18" charset="0"/>
              <a:sym typeface="+mn-ea"/>
              <a:hlinkClick r:id="rId2"/>
            </a:endParaRPr>
          </a:p>
          <a:p>
            <a:pPr algn="just">
              <a:lnSpc>
                <a:spcPct val="150000"/>
              </a:lnSpc>
              <a:buClr>
                <a:srgbClr val="000000"/>
              </a:buClr>
              <a:buSzPct val="99000"/>
              <a:buFont typeface="+mj-lt"/>
              <a:buAutoNum type="arabicPeriod" startAt="13"/>
            </a:pPr>
            <a:r>
              <a:rPr lang="en-US" sz="1600" dirty="0">
                <a:latin typeface="Times New Roman" panose="02020603050405020304" pitchFamily="18" charset="0"/>
                <a:cs typeface="Times New Roman" panose="02020603050405020304" pitchFamily="18" charset="0"/>
                <a:sym typeface="+mn-ea"/>
              </a:rPr>
              <a:t>L </a:t>
            </a:r>
            <a:r>
              <a:rPr lang="en-US" sz="1600" dirty="0" err="1">
                <a:latin typeface="Times New Roman" panose="02020603050405020304" pitchFamily="18" charset="0"/>
                <a:cs typeface="Times New Roman" panose="02020603050405020304" pitchFamily="18" charset="0"/>
                <a:sym typeface="+mn-ea"/>
              </a:rPr>
              <a:t>Capelli</a:t>
            </a:r>
            <a:r>
              <a:rPr lang="en-US" sz="1600" dirty="0">
                <a:latin typeface="Times New Roman" panose="02020603050405020304" pitchFamily="18" charset="0"/>
                <a:cs typeface="Times New Roman" panose="02020603050405020304" pitchFamily="18" charset="0"/>
                <a:sym typeface="+mn-ea"/>
              </a:rPr>
              <a:t>., S </a:t>
            </a:r>
            <a:r>
              <a:rPr lang="en-US" sz="1600" dirty="0" err="1">
                <a:latin typeface="Times New Roman" panose="02020603050405020304" pitchFamily="18" charset="0"/>
                <a:cs typeface="Times New Roman" panose="02020603050405020304" pitchFamily="18" charset="0"/>
                <a:sym typeface="+mn-ea"/>
              </a:rPr>
              <a:t>Sironi</a:t>
            </a:r>
            <a:r>
              <a:rPr lang="en-US" sz="1600" dirty="0">
                <a:latin typeface="Times New Roman" panose="02020603050405020304" pitchFamily="18" charset="0"/>
                <a:cs typeface="Times New Roman" panose="02020603050405020304" pitchFamily="18" charset="0"/>
                <a:sym typeface="+mn-ea"/>
              </a:rPr>
              <a:t>., RD Rosso. (2014). Electronic Noses for Environmental Monitoring Applications. </a:t>
            </a:r>
            <a:r>
              <a:rPr lang="en-US" sz="1600" i="1" dirty="0">
                <a:latin typeface="Times New Roman" panose="02020603050405020304" pitchFamily="18" charset="0"/>
                <a:cs typeface="Times New Roman" panose="02020603050405020304" pitchFamily="18" charset="0"/>
                <a:sym typeface="+mn-ea"/>
              </a:rPr>
              <a:t>MDPI State-of-the-Art Sensors Technology in Italy, 14(11).  </a:t>
            </a:r>
            <a:r>
              <a:rPr lang="en-US" sz="1600" dirty="0">
                <a:latin typeface="Times New Roman" panose="02020603050405020304" pitchFamily="18" charset="0"/>
                <a:cs typeface="Times New Roman" panose="02020603050405020304" pitchFamily="18" charset="0"/>
                <a:sym typeface="+mn-ea"/>
                <a:hlinkClick r:id="rId3"/>
              </a:rPr>
              <a:t>https://doi.org/10.3390/s141119979</a:t>
            </a:r>
            <a:endParaRPr lang="en-US" sz="1600" dirty="0">
              <a:latin typeface="Times New Roman" panose="02020603050405020304" pitchFamily="18" charset="0"/>
              <a:cs typeface="Times New Roman" panose="02020603050405020304" pitchFamily="18" charset="0"/>
            </a:endParaRPr>
          </a:p>
          <a:p>
            <a:pPr algn="just">
              <a:lnSpc>
                <a:spcPct val="150000"/>
              </a:lnSpc>
              <a:buClr>
                <a:srgbClr val="000000"/>
              </a:buClr>
              <a:buSzPct val="99000"/>
              <a:buFont typeface="+mj-lt"/>
              <a:buAutoNum type="arabicPeriod" startAt="13"/>
            </a:pPr>
            <a:r>
              <a:rPr lang="en-IN" sz="1600" dirty="0">
                <a:latin typeface="Times New Roman" panose="02020603050405020304" pitchFamily="18" charset="0"/>
                <a:cs typeface="Times New Roman" panose="02020603050405020304" pitchFamily="18" charset="0"/>
                <a:sym typeface="+mn-ea"/>
              </a:rPr>
              <a:t>RR Mohamed., R </a:t>
            </a:r>
            <a:r>
              <a:rPr lang="en-IN" sz="1600" dirty="0" err="1">
                <a:latin typeface="Times New Roman" panose="02020603050405020304" pitchFamily="18" charset="0"/>
                <a:cs typeface="Times New Roman" panose="02020603050405020304" pitchFamily="18" charset="0"/>
                <a:sym typeface="+mn-ea"/>
              </a:rPr>
              <a:t>Yaacob</a:t>
            </a:r>
            <a:r>
              <a:rPr lang="en-IN" sz="1600" dirty="0">
                <a:latin typeface="Times New Roman" panose="02020603050405020304" pitchFamily="18" charset="0"/>
                <a:cs typeface="Times New Roman" panose="02020603050405020304" pitchFamily="18" charset="0"/>
                <a:sym typeface="+mn-ea"/>
              </a:rPr>
              <a:t>., MA Mohamed., TAT Dir., F A Rahim. (2018). </a:t>
            </a:r>
            <a:r>
              <a:rPr lang="en-US" sz="1600" dirty="0">
                <a:latin typeface="Times New Roman" panose="02020603050405020304" pitchFamily="18" charset="0"/>
                <a:cs typeface="Times New Roman" panose="02020603050405020304" pitchFamily="18" charset="0"/>
                <a:sym typeface="+mn-ea"/>
              </a:rPr>
              <a:t>Food Freshness Using Electronic Nose and Its Classification Method: A Review. </a:t>
            </a:r>
            <a:r>
              <a:rPr lang="en-US" sz="1600" i="1" dirty="0">
                <a:latin typeface="Times New Roman" panose="02020603050405020304" pitchFamily="18" charset="0"/>
                <a:cs typeface="Times New Roman" panose="02020603050405020304" pitchFamily="18" charset="0"/>
                <a:sym typeface="+mn-ea"/>
              </a:rPr>
              <a:t>International Journal of Engineering &amp; Technology, 7(3.28), 49-53, </a:t>
            </a:r>
            <a:r>
              <a:rPr lang="en-US" sz="1600" dirty="0">
                <a:latin typeface="Times New Roman" panose="02020603050405020304" pitchFamily="18" charset="0"/>
                <a:cs typeface="Times New Roman" panose="02020603050405020304" pitchFamily="18" charset="0"/>
                <a:sym typeface="+mn-ea"/>
                <a:hlinkClick r:id="rId4"/>
              </a:rPr>
              <a:t>http://dx.doi.org/10.14419/ijet.v7i3.28.20964</a:t>
            </a:r>
            <a:endParaRPr lang="en-US" sz="1600" dirty="0" err="1">
              <a:latin typeface="Times New Roman" panose="02020603050405020304" pitchFamily="18" charset="0"/>
              <a:cs typeface="Times New Roman" panose="02020603050405020304" pitchFamily="18" charset="0"/>
              <a:sym typeface="+mn-ea"/>
            </a:endParaRPr>
          </a:p>
          <a:p>
            <a:pPr>
              <a:buFont typeface="+mj-lt"/>
              <a:buAutoNum type="arabicPeriod" startAt="13"/>
            </a:pPr>
            <a:endParaRPr lang="en-IN" sz="1600" dirty="0">
              <a:latin typeface="Times New Roman" panose="02020603050405020304" pitchFamily="18" charset="0"/>
              <a:cs typeface="Times New Roman" panose="02020603050405020304" pitchFamily="18" charset="0"/>
            </a:endParaRPr>
          </a:p>
          <a:p>
            <a:pPr algn="just">
              <a:lnSpc>
                <a:spcPct val="150000"/>
              </a:lnSpc>
              <a:buFont typeface="+mj-lt"/>
              <a:buAutoNum type="arabicPeriod" startAt="13"/>
            </a:pPr>
            <a:endParaRPr lang="en-US" sz="1600" dirty="0">
              <a:latin typeface="Times New Roman" panose="02020603050405020304" pitchFamily="18" charset="0"/>
              <a:cs typeface="Times New Roman" panose="02020603050405020304" pitchFamily="18" charset="0"/>
            </a:endParaRPr>
          </a:p>
          <a:p>
            <a:pPr algn="just">
              <a:lnSpc>
                <a:spcPct val="150000"/>
              </a:lnSpc>
              <a:buFont typeface="+mj-lt"/>
              <a:buAutoNum type="arabicPeriod" startAt="13"/>
            </a:pPr>
            <a:endParaRPr lang="en-US" sz="1600" dirty="0">
              <a:latin typeface="Times New Roman" panose="02020603050405020304" pitchFamily="18" charset="0"/>
              <a:cs typeface="Times New Roman" panose="02020603050405020304" pitchFamily="18" charset="0"/>
            </a:endParaRPr>
          </a:p>
          <a:p>
            <a:pPr algn="just">
              <a:lnSpc>
                <a:spcPct val="150000"/>
              </a:lnSpc>
              <a:buFont typeface="+mj-lt"/>
              <a:buAutoNum type="arabicPeriod" startAt="13"/>
            </a:pPr>
            <a:endParaRPr lang="en-US" sz="1600" dirty="0">
              <a:latin typeface="Times New Roman" panose="02020603050405020304" pitchFamily="18" charset="0"/>
              <a:cs typeface="Times New Roman" panose="02020603050405020304" pitchFamily="18" charset="0"/>
            </a:endParaRPr>
          </a:p>
          <a:p>
            <a:pPr algn="just">
              <a:buFont typeface="+mj-lt"/>
              <a:buAutoNum type="arabicPeriod" startAt="13"/>
            </a:pPr>
            <a:endParaRPr lang="en-US" sz="1600" dirty="0">
              <a:latin typeface="Times New Roman" panose="02020603050405020304" pitchFamily="18" charset="0"/>
              <a:cs typeface="Times New Roman" panose="02020603050405020304" pitchFamily="18" charset="0"/>
            </a:endParaRPr>
          </a:p>
          <a:p>
            <a:pPr algn="just">
              <a:buFont typeface="+mj-lt"/>
              <a:buAutoNum type="arabicPeriod" startAt="13"/>
            </a:pPr>
            <a:endParaRPr lang="en-IN" sz="1600" dirty="0">
              <a:latin typeface="Times New Roman" panose="02020603050405020304" pitchFamily="18" charset="0"/>
              <a:cs typeface="Times New Roman" panose="02020603050405020304" pitchFamily="18" charset="0"/>
            </a:endParaRPr>
          </a:p>
          <a:p>
            <a:pPr algn="just">
              <a:lnSpc>
                <a:spcPct val="150000"/>
              </a:lnSpc>
              <a:buFont typeface="+mj-lt"/>
              <a:buAutoNum type="arabicPeriod" startAt="13"/>
            </a:pPr>
            <a:endParaRPr lang="en-US" sz="1600" dirty="0">
              <a:latin typeface="Times New Roman" panose="02020603050405020304" pitchFamily="18" charset="0"/>
              <a:cs typeface="Times New Roman" panose="02020603050405020304" pitchFamily="18" charset="0"/>
            </a:endParaRPr>
          </a:p>
          <a:p>
            <a:pPr algn="just">
              <a:lnSpc>
                <a:spcPct val="150000"/>
              </a:lnSpc>
              <a:buFont typeface="+mj-lt"/>
              <a:buAutoNum type="arabicPeriod" startAt="13"/>
            </a:pPr>
            <a:endParaRPr lang="en-IN" sz="1600" dirty="0">
              <a:latin typeface="Times New Roman" panose="02020603050405020304" pitchFamily="18" charset="0"/>
              <a:cs typeface="Times New Roman" panose="02020603050405020304" pitchFamily="18" charset="0"/>
            </a:endParaRPr>
          </a:p>
          <a:p>
            <a:pPr algn="just">
              <a:lnSpc>
                <a:spcPct val="150000"/>
              </a:lnSpc>
              <a:buFont typeface="+mj-lt"/>
              <a:buAutoNum type="arabicPeriod" startAt="13"/>
            </a:pPr>
            <a:endParaRPr lang="en-US" sz="1600" dirty="0">
              <a:latin typeface="Times New Roman" panose="02020603050405020304" pitchFamily="18" charset="0"/>
              <a:cs typeface="Times New Roman" panose="02020603050405020304" pitchFamily="18" charset="0"/>
            </a:endParaRPr>
          </a:p>
          <a:p>
            <a:pPr algn="just">
              <a:lnSpc>
                <a:spcPct val="150000"/>
              </a:lnSpc>
              <a:buFont typeface="+mj-lt"/>
              <a:buAutoNum type="arabicPeriod" startAt="13"/>
            </a:pPr>
            <a:br>
              <a:rPr lang="en-US" sz="1600" dirty="0">
                <a:latin typeface="Times New Roman" panose="02020603050405020304" pitchFamily="18" charset="0"/>
                <a:cs typeface="Times New Roman" panose="02020603050405020304" pitchFamily="18" charset="0"/>
                <a:sym typeface="+mn-ea"/>
              </a:rPr>
            </a:br>
            <a:br>
              <a:rPr lang="it-IT" sz="1600" dirty="0">
                <a:latin typeface="Times New Roman" panose="02020603050405020304" pitchFamily="18" charset="0"/>
                <a:cs typeface="Times New Roman" panose="02020603050405020304" pitchFamily="18" charset="0"/>
                <a:sym typeface="+mn-ea"/>
              </a:rPr>
            </a:br>
            <a:endParaRPr lang="en-US" sz="1600" dirty="0">
              <a:latin typeface="Times New Roman" panose="02020603050405020304" pitchFamily="18" charset="0"/>
              <a:cs typeface="Times New Roman" panose="02020603050405020304" pitchFamily="18" charset="0"/>
            </a:endParaRPr>
          </a:p>
          <a:p>
            <a:pPr algn="just">
              <a:lnSpc>
                <a:spcPct val="150000"/>
              </a:lnSpc>
              <a:buFont typeface="+mj-lt"/>
              <a:buAutoNum type="arabicPeriod" startAt="13"/>
            </a:pPr>
            <a:br>
              <a:rPr lang="en-US" sz="1600" dirty="0">
                <a:latin typeface="Times New Roman" panose="02020603050405020304" pitchFamily="18" charset="0"/>
                <a:cs typeface="Times New Roman" panose="02020603050405020304" pitchFamily="18" charset="0"/>
                <a:sym typeface="+mn-ea"/>
              </a:rPr>
            </a:br>
            <a:endParaRPr lang="it-IT" sz="1600" dirty="0">
              <a:latin typeface="Times New Roman" panose="02020603050405020304" pitchFamily="18" charset="0"/>
              <a:cs typeface="Times New Roman" panose="02020603050405020304" pitchFamily="18" charset="0"/>
            </a:endParaRPr>
          </a:p>
          <a:p>
            <a:pPr algn="just">
              <a:buFont typeface="+mj-lt"/>
              <a:buAutoNum type="arabicPeriod" startAt="13"/>
            </a:pPr>
            <a:br>
              <a:rPr lang="it-IT" sz="1600" dirty="0">
                <a:latin typeface="Times New Roman" panose="02020603050405020304" pitchFamily="18" charset="0"/>
                <a:cs typeface="Times New Roman" panose="02020603050405020304" pitchFamily="18" charset="0"/>
                <a:sym typeface="+mn-ea"/>
              </a:rPr>
            </a:br>
            <a:r>
              <a:rPr lang="en-US" sz="1600" dirty="0">
                <a:latin typeface="Times New Roman" panose="02020603050405020304" pitchFamily="18" charset="0"/>
                <a:cs typeface="Times New Roman" panose="02020603050405020304" pitchFamily="18" charset="0"/>
                <a:sym typeface="+mn-ea"/>
              </a:rPr>
              <a:t> </a:t>
            </a:r>
            <a:endParaRPr lang="en-US" sz="1600" dirty="0">
              <a:latin typeface="Times New Roman" panose="02020603050405020304" pitchFamily="18" charset="0"/>
              <a:cs typeface="Times New Roman" panose="02020603050405020304" pitchFamily="18" charset="0"/>
            </a:endParaRPr>
          </a:p>
          <a:p>
            <a:pPr algn="just">
              <a:lnSpc>
                <a:spcPct val="150000"/>
              </a:lnSpc>
              <a:buFont typeface="+mj-lt"/>
              <a:buAutoNum type="arabicPeriod" startAt="13"/>
            </a:pPr>
            <a:endParaRPr lang="en-US" sz="1600" dirty="0">
              <a:latin typeface="Times New Roman" panose="02020603050405020304" pitchFamily="18" charset="0"/>
              <a:cs typeface="Times New Roman" panose="02020603050405020304" pitchFamily="18" charset="0"/>
            </a:endParaRPr>
          </a:p>
          <a:p>
            <a:pPr algn="just">
              <a:lnSpc>
                <a:spcPct val="150000"/>
              </a:lnSpc>
              <a:buFont typeface="+mj-lt"/>
              <a:buAutoNum type="arabicPeriod" startAt="13"/>
            </a:pPr>
            <a:endParaRPr lang="en-US" sz="1600" dirty="0">
              <a:latin typeface="Times New Roman" panose="02020603050405020304" pitchFamily="18" charset="0"/>
              <a:cs typeface="Times New Roman" panose="02020603050405020304" pitchFamily="18" charset="0"/>
            </a:endParaRPr>
          </a:p>
          <a:p>
            <a:pPr algn="just">
              <a:lnSpc>
                <a:spcPct val="150000"/>
              </a:lnSpc>
              <a:buFont typeface="+mj-lt"/>
              <a:buAutoNum type="arabicPeriod" startAt="13"/>
            </a:pPr>
            <a:br>
              <a:rPr lang="en-US" sz="1600" dirty="0">
                <a:latin typeface="Times New Roman" panose="02020603050405020304" pitchFamily="18" charset="0"/>
                <a:cs typeface="Times New Roman" panose="02020603050405020304" pitchFamily="18" charset="0"/>
                <a:sym typeface="+mn-ea"/>
              </a:rPr>
            </a:br>
            <a:endParaRPr lang="en-US" sz="1600" u="none" strike="noStrike" dirty="0">
              <a:solidFill>
                <a:srgbClr val="0563C1"/>
              </a:solidFill>
              <a:effectLst/>
              <a:latin typeface="Times New Roman" panose="02020603050405020304" pitchFamily="18" charset="0"/>
              <a:ea typeface="Calibri" panose="020F0502020204030204" charset="0"/>
              <a:cs typeface="Times New Roman" panose="02020603050405020304" pitchFamily="18" charset="0"/>
            </a:endParaRPr>
          </a:p>
          <a:p>
            <a:pPr algn="just">
              <a:lnSpc>
                <a:spcPct val="200000"/>
              </a:lnSpc>
              <a:spcAft>
                <a:spcPts val="800"/>
              </a:spcAft>
              <a:buFont typeface="+mj-lt"/>
              <a:buAutoNum type="arabicPeriod" startAt="13"/>
            </a:pPr>
            <a:endParaRPr lang="en-US" sz="16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E6548BF1-274A-4D06-90A0-3F64D4315D8B}" type="datetime3">
              <a:rPr lang="en-US" smtClean="0"/>
            </a:fld>
            <a:endParaRPr lang="en-US"/>
          </a:p>
        </p:txBody>
      </p:sp>
      <p:sp>
        <p:nvSpPr>
          <p:cNvPr id="5" name="Footer Placeholder 4"/>
          <p:cNvSpPr>
            <a:spLocks noGrp="1"/>
          </p:cNvSpPr>
          <p:nvPr>
            <p:ph type="ftr" sz="quarter" idx="11"/>
          </p:nvPr>
        </p:nvSpPr>
        <p:spPr/>
        <p:txBody>
          <a:bodyPr/>
          <a:lstStyle/>
          <a:p>
            <a:r>
              <a:rPr lang="en-US" dirty="0"/>
              <a:t>School of Computing - CSE with IoT</a:t>
            </a:r>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3200" b="1" dirty="0">
                <a:latin typeface="Times New Roman" panose="02020603050405020304" pitchFamily="18" charset="0"/>
                <a:cs typeface="Times New Roman" panose="02020603050405020304" pitchFamily="18" charset="0"/>
                <a:sym typeface="+mn-ea"/>
              </a:rPr>
              <a:t>REFERENCES</a:t>
            </a:r>
            <a:endParaRPr lang="en-IN" sz="3200" b="1" dirty="0">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609600" y="1600200"/>
            <a:ext cx="8229600" cy="4525963"/>
          </a:xfrm>
        </p:spPr>
        <p:txBody>
          <a:bodyPr>
            <a:noAutofit/>
          </a:bodyPr>
          <a:lstStyle/>
          <a:p>
            <a:pPr algn="just">
              <a:lnSpc>
                <a:spcPct val="150000"/>
              </a:lnSpc>
              <a:buClr>
                <a:srgbClr val="000000"/>
              </a:buClr>
              <a:buSzPct val="99000"/>
              <a:buFont typeface="+mj-lt"/>
              <a:buAutoNum type="arabicPeriod" startAt="17"/>
            </a:pPr>
            <a:r>
              <a:rPr lang="en-US" sz="1600" dirty="0" err="1">
                <a:latin typeface="Times New Roman" panose="02020603050405020304" pitchFamily="18" charset="0"/>
                <a:cs typeface="Times New Roman" panose="02020603050405020304" pitchFamily="18" charset="0"/>
                <a:sym typeface="+mn-ea"/>
              </a:rPr>
              <a:t>Ramaswami</a:t>
            </a:r>
            <a:r>
              <a:rPr lang="en-US" sz="1600" dirty="0">
                <a:latin typeface="Times New Roman" panose="02020603050405020304" pitchFamily="18" charset="0"/>
                <a:cs typeface="Times New Roman" panose="02020603050405020304" pitchFamily="18" charset="0"/>
                <a:sym typeface="+mn-ea"/>
              </a:rPr>
              <a:t>., </a:t>
            </a:r>
            <a:r>
              <a:rPr lang="en-US" sz="1600" dirty="0" err="1">
                <a:latin typeface="Times New Roman" panose="02020603050405020304" pitchFamily="18" charset="0"/>
                <a:cs typeface="Times New Roman" panose="02020603050405020304" pitchFamily="18" charset="0"/>
                <a:sym typeface="+mn-ea"/>
              </a:rPr>
              <a:t>Mooventhan</a:t>
            </a:r>
            <a:r>
              <a:rPr lang="en-US" sz="1600" dirty="0">
                <a:latin typeface="Times New Roman" panose="02020603050405020304" pitchFamily="18" charset="0"/>
                <a:cs typeface="Times New Roman" panose="02020603050405020304" pitchFamily="18" charset="0"/>
                <a:sym typeface="+mn-ea"/>
              </a:rPr>
              <a:t>., Das., A Dixit., Sharma., </a:t>
            </a:r>
            <a:r>
              <a:rPr lang="en-US" sz="1600" dirty="0" err="1">
                <a:latin typeface="Times New Roman" panose="02020603050405020304" pitchFamily="18" charset="0"/>
                <a:cs typeface="Times New Roman" panose="02020603050405020304" pitchFamily="18" charset="0"/>
                <a:sym typeface="+mn-ea"/>
              </a:rPr>
              <a:t>Sengottayan</a:t>
            </a:r>
            <a:r>
              <a:rPr lang="en-US" sz="1600" dirty="0">
                <a:latin typeface="Times New Roman" panose="02020603050405020304" pitchFamily="18" charset="0"/>
                <a:cs typeface="Times New Roman" panose="02020603050405020304" pitchFamily="18" charset="0"/>
                <a:sym typeface="+mn-ea"/>
              </a:rPr>
              <a:t>., Pankaj., Ghosh. (2022). The future of plant volatile organic compounds (</a:t>
            </a:r>
            <a:r>
              <a:rPr lang="en-US" sz="1600" dirty="0" err="1">
                <a:latin typeface="Times New Roman" panose="02020603050405020304" pitchFamily="18" charset="0"/>
                <a:cs typeface="Times New Roman" panose="02020603050405020304" pitchFamily="18" charset="0"/>
                <a:sym typeface="+mn-ea"/>
              </a:rPr>
              <a:t>pVOCs</a:t>
            </a:r>
            <a:r>
              <a:rPr lang="en-US" sz="1600" dirty="0">
                <a:latin typeface="Times New Roman" panose="02020603050405020304" pitchFamily="18" charset="0"/>
                <a:cs typeface="Times New Roman" panose="02020603050405020304" pitchFamily="18" charset="0"/>
                <a:sym typeface="+mn-ea"/>
              </a:rPr>
              <a:t>) research: Advances and applications for sustainable agriculture. </a:t>
            </a:r>
            <a:r>
              <a:rPr lang="en-US" sz="1600" i="1" dirty="0">
                <a:latin typeface="Times New Roman" panose="02020603050405020304" pitchFamily="18" charset="0"/>
                <a:cs typeface="Times New Roman" panose="02020603050405020304" pitchFamily="18" charset="0"/>
                <a:sym typeface="+mn-ea"/>
              </a:rPr>
              <a:t>SD </a:t>
            </a:r>
            <a:r>
              <a:rPr lang="en-US" sz="1600" i="1" dirty="0" err="1">
                <a:latin typeface="Times New Roman" panose="02020603050405020304" pitchFamily="18" charset="0"/>
                <a:cs typeface="Times New Roman" panose="02020603050405020304" pitchFamily="18" charset="0"/>
                <a:sym typeface="+mn-ea"/>
              </a:rPr>
              <a:t>Env</a:t>
            </a:r>
            <a:r>
              <a:rPr lang="en-US" sz="1600" i="1" dirty="0">
                <a:latin typeface="Times New Roman" panose="02020603050405020304" pitchFamily="18" charset="0"/>
                <a:cs typeface="Times New Roman" panose="02020603050405020304" pitchFamily="18" charset="0"/>
                <a:sym typeface="+mn-ea"/>
              </a:rPr>
              <a:t>. Exp. Botany, 200. </a:t>
            </a:r>
            <a:r>
              <a:rPr lang="en-US" sz="1600" dirty="0">
                <a:latin typeface="Times New Roman" panose="02020603050405020304" pitchFamily="18" charset="0"/>
                <a:cs typeface="Times New Roman" panose="02020603050405020304" pitchFamily="18" charset="0"/>
                <a:sym typeface="+mn-ea"/>
                <a:hlinkClick r:id="rId1"/>
              </a:rPr>
              <a:t>https://doi.org/10.1016/j.envexpbot.2022.104912</a:t>
            </a:r>
            <a:endParaRPr lang="en-US" sz="1600" dirty="0" err="1">
              <a:latin typeface="Times New Roman" panose="02020603050405020304" pitchFamily="18" charset="0"/>
              <a:cs typeface="Times New Roman" panose="02020603050405020304" pitchFamily="18" charset="0"/>
              <a:sym typeface="+mn-ea"/>
            </a:endParaRPr>
          </a:p>
          <a:p>
            <a:pPr algn="just">
              <a:lnSpc>
                <a:spcPct val="150000"/>
              </a:lnSpc>
              <a:buClr>
                <a:srgbClr val="000000"/>
              </a:buClr>
              <a:buSzPct val="99000"/>
              <a:buFont typeface="+mj-lt"/>
              <a:buAutoNum type="arabicPeriod" startAt="17"/>
            </a:pPr>
            <a:r>
              <a:rPr lang="en-US" sz="1600" dirty="0" err="1">
                <a:latin typeface="Times New Roman" panose="02020603050405020304" pitchFamily="18" charset="0"/>
                <a:cs typeface="Times New Roman" panose="02020603050405020304" pitchFamily="18" charset="0"/>
                <a:sym typeface="+mn-ea"/>
              </a:rPr>
              <a:t>Thara</a:t>
            </a:r>
            <a:r>
              <a:rPr lang="en-US" sz="1600" dirty="0">
                <a:latin typeface="Times New Roman" panose="02020603050405020304" pitchFamily="18" charset="0"/>
                <a:cs typeface="Times New Roman" panose="02020603050405020304" pitchFamily="18" charset="0"/>
                <a:sym typeface="+mn-ea"/>
              </a:rPr>
              <a:t>., </a:t>
            </a:r>
            <a:r>
              <a:rPr lang="en-US" sz="1600" dirty="0" err="1">
                <a:latin typeface="Times New Roman" panose="02020603050405020304" pitchFamily="18" charset="0"/>
                <a:cs typeface="Times New Roman" panose="02020603050405020304" pitchFamily="18" charset="0"/>
                <a:sym typeface="+mn-ea"/>
              </a:rPr>
              <a:t>Goel</a:t>
            </a:r>
            <a:r>
              <a:rPr lang="en-US" sz="1600" dirty="0">
                <a:latin typeface="Times New Roman" panose="02020603050405020304" pitchFamily="18" charset="0"/>
                <a:cs typeface="Times New Roman" panose="02020603050405020304" pitchFamily="18" charset="0"/>
                <a:sym typeface="+mn-ea"/>
              </a:rPr>
              <a:t>., Mahesh., </a:t>
            </a:r>
            <a:r>
              <a:rPr lang="en-US" sz="1600" dirty="0" err="1">
                <a:latin typeface="Times New Roman" panose="02020603050405020304" pitchFamily="18" charset="0"/>
                <a:cs typeface="Times New Roman" panose="02020603050405020304" pitchFamily="18" charset="0"/>
                <a:sym typeface="+mn-ea"/>
              </a:rPr>
              <a:t>Chatchawal</a:t>
            </a:r>
            <a:r>
              <a:rPr lang="en-US" sz="1600" dirty="0">
                <a:latin typeface="Times New Roman" panose="02020603050405020304" pitchFamily="18" charset="0"/>
                <a:cs typeface="Times New Roman" panose="02020603050405020304" pitchFamily="18" charset="0"/>
                <a:sym typeface="+mn-ea"/>
              </a:rPr>
              <a:t>. (2022). Advances in gas sensors and electronic nose technologies for agricultural cycle applications. </a:t>
            </a:r>
            <a:r>
              <a:rPr lang="en-US" sz="1600" i="1" dirty="0">
                <a:latin typeface="Times New Roman" panose="02020603050405020304" pitchFamily="18" charset="0"/>
                <a:cs typeface="Times New Roman" panose="02020603050405020304" pitchFamily="18" charset="0"/>
                <a:sym typeface="+mn-ea"/>
              </a:rPr>
              <a:t>SD Compt. Elect. </a:t>
            </a:r>
            <a:r>
              <a:rPr lang="en-US" sz="1600" i="1" dirty="0" err="1">
                <a:latin typeface="Times New Roman" panose="02020603050405020304" pitchFamily="18" charset="0"/>
                <a:cs typeface="Times New Roman" panose="02020603050405020304" pitchFamily="18" charset="0"/>
                <a:sym typeface="+mn-ea"/>
              </a:rPr>
              <a:t>Agric</a:t>
            </a:r>
            <a:r>
              <a:rPr lang="en-US" sz="1600" i="1" dirty="0">
                <a:latin typeface="Times New Roman" panose="02020603050405020304" pitchFamily="18" charset="0"/>
                <a:cs typeface="Times New Roman" panose="02020603050405020304" pitchFamily="18" charset="0"/>
                <a:sym typeface="+mn-ea"/>
              </a:rPr>
              <a:t>, 193(1), </a:t>
            </a:r>
            <a:r>
              <a:rPr lang="en-US" sz="1600" dirty="0">
                <a:latin typeface="Times New Roman" panose="02020603050405020304" pitchFamily="18" charset="0"/>
                <a:cs typeface="Times New Roman" panose="02020603050405020304" pitchFamily="18" charset="0"/>
                <a:sym typeface="+mn-ea"/>
                <a:hlinkClick r:id="rId2"/>
              </a:rPr>
              <a:t>https://doi.org/10.1016/j.compag.2021.106673</a:t>
            </a:r>
            <a:endParaRPr lang="en-US" sz="1600" dirty="0">
              <a:latin typeface="Times New Roman" panose="02020603050405020304" pitchFamily="18" charset="0"/>
              <a:cs typeface="Times New Roman" panose="02020603050405020304" pitchFamily="18" charset="0"/>
            </a:endParaRPr>
          </a:p>
          <a:p>
            <a:pPr algn="just">
              <a:lnSpc>
                <a:spcPct val="150000"/>
              </a:lnSpc>
              <a:buClr>
                <a:srgbClr val="000000"/>
              </a:buClr>
              <a:buSzPct val="99000"/>
              <a:buFont typeface="+mj-lt"/>
              <a:buAutoNum type="arabicPeriod" startAt="17"/>
            </a:pPr>
            <a:r>
              <a:rPr lang="en-US" sz="1600" dirty="0">
                <a:latin typeface="Times New Roman" panose="02020603050405020304" pitchFamily="18" charset="0"/>
                <a:cs typeface="Times New Roman" panose="02020603050405020304" pitchFamily="18" charset="0"/>
                <a:sym typeface="+mn-ea"/>
              </a:rPr>
              <a:t>Z Zheng., C Zhang. (2022). Electronic noses based on metal oxide semiconductor sensors for detecting crop diseases and insect pests.</a:t>
            </a:r>
            <a:r>
              <a:rPr lang="en-US" sz="1600" i="1" dirty="0">
                <a:latin typeface="Times New Roman" panose="02020603050405020304" pitchFamily="18" charset="0"/>
                <a:cs typeface="Times New Roman" panose="02020603050405020304" pitchFamily="18" charset="0"/>
                <a:sym typeface="+mn-ea"/>
              </a:rPr>
              <a:t> SD Compt. Elect. </a:t>
            </a:r>
            <a:r>
              <a:rPr lang="en-US" sz="1600" i="1" dirty="0" err="1">
                <a:latin typeface="Times New Roman" panose="02020603050405020304" pitchFamily="18" charset="0"/>
                <a:cs typeface="Times New Roman" panose="02020603050405020304" pitchFamily="18" charset="0"/>
                <a:sym typeface="+mn-ea"/>
              </a:rPr>
              <a:t>Agric</a:t>
            </a:r>
            <a:r>
              <a:rPr lang="en-US" sz="1600" i="1" dirty="0">
                <a:latin typeface="Times New Roman" panose="02020603050405020304" pitchFamily="18" charset="0"/>
                <a:cs typeface="Times New Roman" panose="02020603050405020304" pitchFamily="18" charset="0"/>
                <a:sym typeface="+mn-ea"/>
              </a:rPr>
              <a:t>, 197(3)</a:t>
            </a:r>
            <a:r>
              <a:rPr lang="en-IN" sz="1600" dirty="0">
                <a:latin typeface="Times New Roman" panose="02020603050405020304" pitchFamily="18" charset="0"/>
                <a:cs typeface="Times New Roman" panose="02020603050405020304" pitchFamily="18" charset="0"/>
                <a:sym typeface="+mn-ea"/>
              </a:rPr>
              <a:t>. </a:t>
            </a:r>
            <a:r>
              <a:rPr lang="en-IN" sz="1600" dirty="0">
                <a:latin typeface="Times New Roman" panose="02020603050405020304" pitchFamily="18" charset="0"/>
                <a:cs typeface="Times New Roman" panose="02020603050405020304" pitchFamily="18" charset="0"/>
                <a:sym typeface="+mn-ea"/>
                <a:hlinkClick r:id="rId3"/>
              </a:rPr>
              <a:t>http://dx.doi.org/10.1016/j.compag.2022.106988</a:t>
            </a:r>
            <a:endParaRPr lang="en-IN" sz="1600" dirty="0">
              <a:latin typeface="Times New Roman" panose="02020603050405020304" pitchFamily="18" charset="0"/>
              <a:cs typeface="Times New Roman" panose="02020603050405020304" pitchFamily="18" charset="0"/>
              <a:sym typeface="+mn-ea"/>
              <a:hlinkClick r:id="rId3"/>
            </a:endParaRPr>
          </a:p>
          <a:p>
            <a:pPr algn="just">
              <a:lnSpc>
                <a:spcPct val="150000"/>
              </a:lnSpc>
              <a:buFont typeface="+mj-lt"/>
              <a:buAutoNum type="arabicPeriod" startAt="17"/>
            </a:pPr>
            <a:endParaRPr lang="en-US" sz="1600" dirty="0">
              <a:latin typeface="Times New Roman" panose="02020603050405020304" pitchFamily="18" charset="0"/>
              <a:cs typeface="Times New Roman" panose="02020603050405020304" pitchFamily="18" charset="0"/>
            </a:endParaRPr>
          </a:p>
          <a:p>
            <a:pPr>
              <a:buFont typeface="+mj-lt"/>
              <a:buAutoNum type="arabicPeriod" startAt="17"/>
            </a:pPr>
            <a:endParaRPr lang="en-US" sz="1600" i="1" dirty="0">
              <a:latin typeface="Times New Roman" panose="02020603050405020304" pitchFamily="18" charset="0"/>
              <a:cs typeface="Times New Roman" panose="02020603050405020304" pitchFamily="18" charset="0"/>
            </a:endParaRPr>
          </a:p>
          <a:p>
            <a:pPr>
              <a:buFont typeface="+mj-lt"/>
              <a:buAutoNum type="arabicPeriod" startAt="17"/>
            </a:pPr>
            <a:endParaRPr lang="en-IN" sz="1600" dirty="0">
              <a:latin typeface="Times New Roman" panose="02020603050405020304" pitchFamily="18" charset="0"/>
              <a:cs typeface="Times New Roman" panose="02020603050405020304" pitchFamily="18" charset="0"/>
            </a:endParaRPr>
          </a:p>
          <a:p>
            <a:pPr algn="just">
              <a:lnSpc>
                <a:spcPct val="150000"/>
              </a:lnSpc>
              <a:buFont typeface="+mj-lt"/>
              <a:buAutoNum type="arabicPeriod" startAt="17"/>
            </a:pPr>
            <a:endParaRPr lang="en-US" sz="1600" dirty="0">
              <a:latin typeface="Times New Roman" panose="02020603050405020304" pitchFamily="18" charset="0"/>
              <a:cs typeface="Times New Roman" panose="02020603050405020304" pitchFamily="18" charset="0"/>
            </a:endParaRPr>
          </a:p>
          <a:p>
            <a:pPr algn="just">
              <a:lnSpc>
                <a:spcPct val="150000"/>
              </a:lnSpc>
              <a:buFont typeface="+mj-lt"/>
              <a:buAutoNum type="arabicPeriod" startAt="17"/>
            </a:pPr>
            <a:endParaRPr lang="en-US" sz="1600" dirty="0">
              <a:latin typeface="Times New Roman" panose="02020603050405020304" pitchFamily="18" charset="0"/>
              <a:cs typeface="Times New Roman" panose="02020603050405020304" pitchFamily="18" charset="0"/>
            </a:endParaRPr>
          </a:p>
          <a:p>
            <a:pPr algn="just">
              <a:lnSpc>
                <a:spcPct val="150000"/>
              </a:lnSpc>
              <a:buFont typeface="+mj-lt"/>
              <a:buAutoNum type="arabicPeriod" startAt="17"/>
            </a:pPr>
            <a:endParaRPr lang="en-US" sz="1600" dirty="0">
              <a:latin typeface="Times New Roman" panose="02020603050405020304" pitchFamily="18" charset="0"/>
              <a:cs typeface="Times New Roman" panose="02020603050405020304" pitchFamily="18" charset="0"/>
            </a:endParaRPr>
          </a:p>
          <a:p>
            <a:pPr algn="just">
              <a:buFont typeface="+mj-lt"/>
              <a:buAutoNum type="arabicPeriod" startAt="17"/>
            </a:pPr>
            <a:endParaRPr lang="en-US" sz="1600" dirty="0">
              <a:latin typeface="Times New Roman" panose="02020603050405020304" pitchFamily="18" charset="0"/>
              <a:cs typeface="Times New Roman" panose="02020603050405020304" pitchFamily="18" charset="0"/>
            </a:endParaRPr>
          </a:p>
          <a:p>
            <a:pPr algn="just">
              <a:buFont typeface="+mj-lt"/>
              <a:buAutoNum type="arabicPeriod" startAt="17"/>
            </a:pPr>
            <a:endParaRPr lang="en-IN" sz="1600" dirty="0">
              <a:latin typeface="Times New Roman" panose="02020603050405020304" pitchFamily="18" charset="0"/>
              <a:cs typeface="Times New Roman" panose="02020603050405020304" pitchFamily="18" charset="0"/>
            </a:endParaRPr>
          </a:p>
          <a:p>
            <a:pPr algn="just">
              <a:lnSpc>
                <a:spcPct val="150000"/>
              </a:lnSpc>
              <a:buFont typeface="+mj-lt"/>
              <a:buAutoNum type="arabicPeriod" startAt="17"/>
            </a:pPr>
            <a:endParaRPr lang="en-US" sz="1600" dirty="0">
              <a:latin typeface="Times New Roman" panose="02020603050405020304" pitchFamily="18" charset="0"/>
              <a:cs typeface="Times New Roman" panose="02020603050405020304" pitchFamily="18" charset="0"/>
            </a:endParaRPr>
          </a:p>
          <a:p>
            <a:pPr algn="just">
              <a:lnSpc>
                <a:spcPct val="150000"/>
              </a:lnSpc>
              <a:buFont typeface="+mj-lt"/>
              <a:buAutoNum type="arabicPeriod" startAt="17"/>
            </a:pPr>
            <a:endParaRPr lang="en-IN" sz="1600" dirty="0">
              <a:latin typeface="Times New Roman" panose="02020603050405020304" pitchFamily="18" charset="0"/>
              <a:cs typeface="Times New Roman" panose="02020603050405020304" pitchFamily="18" charset="0"/>
            </a:endParaRPr>
          </a:p>
          <a:p>
            <a:pPr algn="just">
              <a:lnSpc>
                <a:spcPct val="150000"/>
              </a:lnSpc>
              <a:buFont typeface="+mj-lt"/>
              <a:buAutoNum type="arabicPeriod" startAt="17"/>
            </a:pPr>
            <a:endParaRPr lang="en-US" sz="1600" dirty="0">
              <a:latin typeface="Times New Roman" panose="02020603050405020304" pitchFamily="18" charset="0"/>
              <a:cs typeface="Times New Roman" panose="02020603050405020304" pitchFamily="18" charset="0"/>
            </a:endParaRPr>
          </a:p>
          <a:p>
            <a:pPr algn="just">
              <a:lnSpc>
                <a:spcPct val="150000"/>
              </a:lnSpc>
              <a:buFont typeface="+mj-lt"/>
              <a:buAutoNum type="arabicPeriod" startAt="17"/>
            </a:pPr>
            <a:br>
              <a:rPr lang="en-US" sz="1600" dirty="0">
                <a:latin typeface="Times New Roman" panose="02020603050405020304" pitchFamily="18" charset="0"/>
                <a:cs typeface="Times New Roman" panose="02020603050405020304" pitchFamily="18" charset="0"/>
                <a:sym typeface="+mn-ea"/>
              </a:rPr>
            </a:br>
            <a:br>
              <a:rPr lang="it-IT" sz="1600" dirty="0">
                <a:latin typeface="Times New Roman" panose="02020603050405020304" pitchFamily="18" charset="0"/>
                <a:cs typeface="Times New Roman" panose="02020603050405020304" pitchFamily="18" charset="0"/>
                <a:sym typeface="+mn-ea"/>
              </a:rPr>
            </a:br>
            <a:endParaRPr lang="en-US" sz="1600" dirty="0">
              <a:latin typeface="Times New Roman" panose="02020603050405020304" pitchFamily="18" charset="0"/>
              <a:cs typeface="Times New Roman" panose="02020603050405020304" pitchFamily="18" charset="0"/>
            </a:endParaRPr>
          </a:p>
          <a:p>
            <a:pPr algn="just">
              <a:lnSpc>
                <a:spcPct val="150000"/>
              </a:lnSpc>
              <a:buFont typeface="+mj-lt"/>
              <a:buAutoNum type="arabicPeriod" startAt="17"/>
            </a:pPr>
            <a:br>
              <a:rPr lang="en-US" sz="1600" dirty="0">
                <a:latin typeface="Times New Roman" panose="02020603050405020304" pitchFamily="18" charset="0"/>
                <a:cs typeface="Times New Roman" panose="02020603050405020304" pitchFamily="18" charset="0"/>
                <a:sym typeface="+mn-ea"/>
              </a:rPr>
            </a:br>
            <a:endParaRPr lang="it-IT" sz="1600" dirty="0">
              <a:latin typeface="Times New Roman" panose="02020603050405020304" pitchFamily="18" charset="0"/>
              <a:cs typeface="Times New Roman" panose="02020603050405020304" pitchFamily="18" charset="0"/>
            </a:endParaRPr>
          </a:p>
          <a:p>
            <a:pPr algn="just">
              <a:buFont typeface="+mj-lt"/>
              <a:buAutoNum type="arabicPeriod" startAt="17"/>
            </a:pPr>
            <a:br>
              <a:rPr lang="it-IT" sz="1600" dirty="0">
                <a:latin typeface="Times New Roman" panose="02020603050405020304" pitchFamily="18" charset="0"/>
                <a:cs typeface="Times New Roman" panose="02020603050405020304" pitchFamily="18" charset="0"/>
                <a:sym typeface="+mn-ea"/>
              </a:rPr>
            </a:br>
            <a:r>
              <a:rPr lang="en-US" sz="1600" dirty="0">
                <a:latin typeface="Times New Roman" panose="02020603050405020304" pitchFamily="18" charset="0"/>
                <a:cs typeface="Times New Roman" panose="02020603050405020304" pitchFamily="18" charset="0"/>
                <a:sym typeface="+mn-ea"/>
              </a:rPr>
              <a:t> </a:t>
            </a:r>
            <a:endParaRPr lang="en-US" sz="1600" dirty="0">
              <a:latin typeface="Times New Roman" panose="02020603050405020304" pitchFamily="18" charset="0"/>
              <a:cs typeface="Times New Roman" panose="02020603050405020304" pitchFamily="18" charset="0"/>
            </a:endParaRPr>
          </a:p>
          <a:p>
            <a:pPr algn="just">
              <a:lnSpc>
                <a:spcPct val="150000"/>
              </a:lnSpc>
              <a:buFont typeface="+mj-lt"/>
              <a:buAutoNum type="arabicPeriod" startAt="17"/>
            </a:pPr>
            <a:endParaRPr lang="en-US" sz="1600" dirty="0">
              <a:latin typeface="Times New Roman" panose="02020603050405020304" pitchFamily="18" charset="0"/>
              <a:cs typeface="Times New Roman" panose="02020603050405020304" pitchFamily="18" charset="0"/>
            </a:endParaRPr>
          </a:p>
          <a:p>
            <a:pPr algn="just">
              <a:lnSpc>
                <a:spcPct val="150000"/>
              </a:lnSpc>
              <a:buFont typeface="+mj-lt"/>
              <a:buAutoNum type="arabicPeriod" startAt="17"/>
            </a:pPr>
            <a:endParaRPr lang="en-US" sz="1600" dirty="0">
              <a:latin typeface="Times New Roman" panose="02020603050405020304" pitchFamily="18" charset="0"/>
              <a:cs typeface="Times New Roman" panose="02020603050405020304" pitchFamily="18" charset="0"/>
            </a:endParaRPr>
          </a:p>
          <a:p>
            <a:pPr algn="just">
              <a:lnSpc>
                <a:spcPct val="150000"/>
              </a:lnSpc>
              <a:buFont typeface="+mj-lt"/>
              <a:buAutoNum type="arabicPeriod" startAt="17"/>
            </a:pPr>
            <a:br>
              <a:rPr lang="en-US" sz="1600" dirty="0">
                <a:latin typeface="Times New Roman" panose="02020603050405020304" pitchFamily="18" charset="0"/>
                <a:cs typeface="Times New Roman" panose="02020603050405020304" pitchFamily="18" charset="0"/>
                <a:sym typeface="+mn-ea"/>
              </a:rPr>
            </a:br>
            <a:endParaRPr lang="en-US" sz="1600" u="none" strike="noStrike" dirty="0">
              <a:solidFill>
                <a:srgbClr val="0563C1"/>
              </a:solidFill>
              <a:effectLst/>
              <a:latin typeface="Times New Roman" panose="02020603050405020304" pitchFamily="18" charset="0"/>
              <a:ea typeface="Calibri" panose="020F0502020204030204" charset="0"/>
              <a:cs typeface="Times New Roman" panose="02020603050405020304" pitchFamily="18" charset="0"/>
            </a:endParaRPr>
          </a:p>
          <a:p>
            <a:pPr algn="just">
              <a:lnSpc>
                <a:spcPct val="200000"/>
              </a:lnSpc>
              <a:spcAft>
                <a:spcPts val="800"/>
              </a:spcAft>
              <a:buFont typeface="+mj-lt"/>
              <a:buAutoNum type="arabicPeriod" startAt="17"/>
            </a:pPr>
            <a:endParaRPr lang="en-US" sz="16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E6548BF1-274A-4D06-90A0-3F64D4315D8B}" type="datetime3">
              <a:rPr lang="en-US" smtClean="0"/>
            </a:fld>
            <a:endParaRPr lang="en-US"/>
          </a:p>
        </p:txBody>
      </p:sp>
      <p:sp>
        <p:nvSpPr>
          <p:cNvPr id="5" name="Footer Placeholder 4"/>
          <p:cNvSpPr>
            <a:spLocks noGrp="1"/>
          </p:cNvSpPr>
          <p:nvPr>
            <p:ph type="ftr" sz="quarter" idx="11"/>
          </p:nvPr>
        </p:nvSpPr>
        <p:spPr/>
        <p:txBody>
          <a:bodyPr/>
          <a:lstStyle/>
          <a:p>
            <a:r>
              <a:rPr lang="en-US" dirty="0"/>
              <a:t>School of Computing - CSE with IoT</a:t>
            </a:r>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200" b="1" dirty="0">
                <a:latin typeface="Times New Roman" panose="02020603050405020304" pitchFamily="18" charset="0"/>
                <a:cs typeface="Times New Roman" panose="02020603050405020304" pitchFamily="18" charset="0"/>
              </a:rPr>
              <a:t>SUMMARY</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4800" y="1676400"/>
            <a:ext cx="8229600" cy="3343910"/>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E-nose technology is set to revolutionize agriculture by accurately detecting fruit ripeness, monitoring climate changes, and identifying harmful gases. This empowers farmers to optimize harvests, adapt to environmental shifts, and protect crops, leading to increased efficiency, sustainability, and resilience. As research advances, the applications of e-noses are expected to expand, ensuring agriculture thrives in a dynamic environment.</a:t>
            </a:r>
            <a:endParaRPr lang="en-US"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2EB2B599-43C6-4AF5-82C4-4BD4025FE969}" type="datetime3">
              <a:rPr lang="en-US" smtClean="0"/>
            </a:fld>
            <a:endParaRPr lang="en-US"/>
          </a:p>
        </p:txBody>
      </p:sp>
      <p:sp>
        <p:nvSpPr>
          <p:cNvPr id="5" name="Footer Placeholder 4"/>
          <p:cNvSpPr>
            <a:spLocks noGrp="1"/>
          </p:cNvSpPr>
          <p:nvPr>
            <p:ph type="ftr" sz="quarter" idx="11"/>
          </p:nvPr>
        </p:nvSpPr>
        <p:spPr/>
        <p:txBody>
          <a:bodyPr/>
          <a:lstStyle/>
          <a:p>
            <a:r>
              <a:rPr lang="en-US" dirty="0"/>
              <a:t>School of Computing - CSE-</a:t>
            </a:r>
            <a:r>
              <a:rPr lang="en-US" dirty="0" err="1"/>
              <a:t>IoT</a:t>
            </a:r>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04655" y="152400"/>
            <a:ext cx="8229600" cy="1143000"/>
          </a:xfrm>
        </p:spPr>
        <p:txBody>
          <a:bodyPr/>
          <a:p>
            <a:pPr algn="l"/>
            <a:r>
              <a:rPr lang="en-IN" altLang="en-US" sz="3200" b="1">
                <a:latin typeface="Times New Roman" panose="02020603050405020304" pitchFamily="18" charset="0"/>
                <a:cs typeface="Times New Roman" panose="02020603050405020304" pitchFamily="18" charset="0"/>
                <a:sym typeface="+mn-ea"/>
              </a:rPr>
              <a:t>QUESTION &amp; ANSWERS</a:t>
            </a:r>
            <a:endParaRPr lang="en-US" sz="3200"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p>
            <a:pPr marL="3657600" lvl="8" indent="0">
              <a:lnSpc>
                <a:spcPct val="240000"/>
              </a:lnSpc>
              <a:buNone/>
            </a:pPr>
            <a:r>
              <a:rPr lang="en-IN" altLang="en-US" sz="9900"/>
              <a:t>?</a:t>
            </a:r>
            <a:endParaRPr lang="en-IN" altLang="en-US" sz="9900"/>
          </a:p>
        </p:txBody>
      </p:sp>
      <p:sp>
        <p:nvSpPr>
          <p:cNvPr id="4" name="Date Placeholder 3"/>
          <p:cNvSpPr>
            <a:spLocks noGrp="1"/>
          </p:cNvSpPr>
          <p:nvPr>
            <p:ph type="dt" sz="half" idx="10"/>
          </p:nvPr>
        </p:nvSpPr>
        <p:spPr/>
        <p:txBody>
          <a:bodyPr/>
          <a:p>
            <a:fld id="{E6548BF1-274A-4D06-90A0-3F64D4315D8B}" type="datetime3">
              <a:rPr lang="en-US" smtClean="0"/>
            </a:fld>
            <a:endParaRPr lang="en-US"/>
          </a:p>
        </p:txBody>
      </p:sp>
      <p:sp>
        <p:nvSpPr>
          <p:cNvPr id="5" name="Footer Placeholder 4"/>
          <p:cNvSpPr>
            <a:spLocks noGrp="1"/>
          </p:cNvSpPr>
          <p:nvPr>
            <p:ph type="ftr" sz="quarter" idx="11"/>
          </p:nvPr>
        </p:nvSpPr>
        <p:spPr/>
        <p:txBody>
          <a:bodyPr/>
          <a:p>
            <a:r>
              <a:rPr lang="en-US" dirty="0"/>
              <a:t>School of Computing - CSE with IoT</a:t>
            </a:r>
            <a:endParaRPr lang="en-US" dirty="0"/>
          </a:p>
        </p:txBody>
      </p:sp>
      <p:sp>
        <p:nvSpPr>
          <p:cNvPr id="6" name="Slide Number Placeholder 5"/>
          <p:cNvSpPr>
            <a:spLocks noGrp="1"/>
          </p:cNvSpPr>
          <p:nvPr>
            <p:ph type="sldNum" sz="quarter" idx="12"/>
          </p:nvPr>
        </p:nvSpPr>
        <p:spPr/>
        <p:txBody>
          <a:bodyPr/>
          <a:p>
            <a:fld id="{7B28076C-CE04-4A00-BFAA-A90EA8355859}" type="slidenum">
              <a:rPr lang="en-US" smtClean="0"/>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sz="3200" b="1" dirty="0">
                <a:latin typeface="Times New Roman" panose="02020603050405020304" pitchFamily="18" charset="0"/>
                <a:cs typeface="Times New Roman" panose="02020603050405020304" pitchFamily="18" charset="0"/>
              </a:rPr>
              <a:t>THANK YOU</a:t>
            </a:r>
            <a:endParaRPr lang="en-IN" sz="3200" b="1" dirty="0">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114B8C96-9E21-4B57-93F3-D2D045E6FC60}" type="datetime3">
              <a:rPr lang="en-US" smtClean="0"/>
            </a:fld>
            <a:endParaRPr lang="en-US"/>
          </a:p>
        </p:txBody>
      </p:sp>
      <p:sp>
        <p:nvSpPr>
          <p:cNvPr id="4" name="Footer Placeholder 3"/>
          <p:cNvSpPr>
            <a:spLocks noGrp="1"/>
          </p:cNvSpPr>
          <p:nvPr>
            <p:ph type="ftr" sz="quarter" idx="11"/>
          </p:nvPr>
        </p:nvSpPr>
        <p:spPr/>
        <p:txBody>
          <a:bodyPr/>
          <a:lstStyle/>
          <a:p>
            <a:r>
              <a:rPr lang="en-US" dirty="0"/>
              <a:t>School of Computing - CSE with IoT</a:t>
            </a:r>
            <a:endParaRPr lang="en-US" dirty="0"/>
          </a:p>
        </p:txBody>
      </p:sp>
      <p:sp>
        <p:nvSpPr>
          <p:cNvPr id="5" name="Slide Number Placeholder 4"/>
          <p:cNvSpPr>
            <a:spLocks noGrp="1"/>
          </p:cNvSpPr>
          <p:nvPr>
            <p:ph type="sldNum" sz="quarter" idx="12"/>
          </p:nvPr>
        </p:nvSpPr>
        <p:spPr/>
        <p:txBody>
          <a:bodyPr/>
          <a:lstStyle/>
          <a:p>
            <a:fld id="{7B28076C-CE04-4A00-BFAA-A90EA8355859}" type="slidenum">
              <a:rPr lang="en-US" smtClean="0"/>
            </a:fld>
            <a:endParaRPr lang="en-US"/>
          </a:p>
        </p:txBody>
      </p:sp>
      <p:sp>
        <p:nvSpPr>
          <p:cNvPr id="6" name="Rectangle 5"/>
          <p:cNvSpPr/>
          <p:nvPr/>
        </p:nvSpPr>
        <p:spPr>
          <a:xfrm>
            <a:off x="609600" y="2690336"/>
            <a:ext cx="7918940" cy="1384995"/>
          </a:xfrm>
          <a:prstGeom prst="rect">
            <a:avLst/>
          </a:prstGeom>
        </p:spPr>
        <p:txBody>
          <a:bodyPr wrap="square">
            <a:spAutoFit/>
          </a:bodyPr>
          <a:lstStyle/>
          <a:p>
            <a:pPr algn="just"/>
            <a:r>
              <a:rPr lang="en-IN" sz="2800" dirty="0">
                <a:latin typeface="Times New Roman" panose="02020603050405020304" pitchFamily="18" charset="0"/>
                <a:cs typeface="Times New Roman" panose="02020603050405020304" pitchFamily="18" charset="0"/>
              </a:rPr>
              <a:t>We thank God, Our Department, Guide, Panel Members, Supportive Professors and all Technical and non Technical staff who helped us in our Project.</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15634</Words>
  <Application>WPS Presentation</Application>
  <PresentationFormat>On-screen Show (4:3)</PresentationFormat>
  <Paragraphs>598</Paragraphs>
  <Slides>27</Slides>
  <Notes>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27</vt:i4>
      </vt:variant>
    </vt:vector>
  </HeadingPairs>
  <TitlesOfParts>
    <vt:vector size="38" baseType="lpstr">
      <vt:lpstr>Arial</vt:lpstr>
      <vt:lpstr>SimSun</vt:lpstr>
      <vt:lpstr>Wingdings</vt:lpstr>
      <vt:lpstr>Times New Roman</vt:lpstr>
      <vt:lpstr>Arimo</vt:lpstr>
      <vt:lpstr>Segoe Print</vt:lpstr>
      <vt:lpstr>Calibri</vt:lpstr>
      <vt:lpstr>Microsoft YaHei</vt:lpstr>
      <vt:lpstr>Arial Unicode MS</vt:lpstr>
      <vt:lpstr>Wingdings</vt:lpstr>
      <vt:lpstr>Custom Design</vt:lpstr>
      <vt:lpstr>  </vt:lpstr>
      <vt:lpstr>AGENDA</vt:lpstr>
      <vt:lpstr>OVERVIEW</vt:lpstr>
      <vt:lpstr>OBJECTIVE</vt:lpstr>
      <vt:lpstr>INFERENCES FROM LITERATURE SURVEY</vt:lpstr>
      <vt:lpstr>INFERENCES FROM LITERATURE SURVEY</vt:lpstr>
      <vt:lpstr>INFERENCES FROM LITERATURE SURVEY</vt:lpstr>
      <vt:lpstr>INFERENCES FROM LITERATURE SURVEY</vt:lpstr>
      <vt:lpstr>INFERENCES FROM LITERATURE SURVEY</vt:lpstr>
      <vt:lpstr>PROBLEM DESCRIPTION </vt:lpstr>
      <vt:lpstr>PROPOSED SYSTEM </vt:lpstr>
      <vt:lpstr>PROPOSED SYSTEM</vt:lpstr>
      <vt:lpstr>PROPOSED SYSTEM</vt:lpstr>
      <vt:lpstr>Cont..</vt:lpstr>
      <vt:lpstr>Cont..</vt:lpstr>
      <vt:lpstr>Cont..</vt:lpstr>
      <vt:lpstr>Cont..</vt:lpstr>
      <vt:lpstr>Cont..</vt:lpstr>
      <vt:lpstr>PROPOSED SYSTEM </vt:lpstr>
      <vt:lpstr>REFERENCES</vt:lpstr>
      <vt:lpstr>REFERENCES</vt:lpstr>
      <vt:lpstr>REFERENCES</vt:lpstr>
      <vt:lpstr>REFERENCES</vt:lpstr>
      <vt:lpstr>REFERENCES</vt:lpstr>
      <vt:lpstr>SUMMARY</vt:lpstr>
      <vt:lpstr>QUESTION &amp; ANSWERS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Jaswanth Manyam</cp:lastModifiedBy>
  <cp:revision>149</cp:revision>
  <dcterms:created xsi:type="dcterms:W3CDTF">2019-11-06T07:48:00Z</dcterms:created>
  <dcterms:modified xsi:type="dcterms:W3CDTF">2024-08-04T11:43:03Z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B2E7DE0493C64426A312AE4587D4070F_13</vt:lpwstr>
  </property>
  <property fmtid="{D5CDD505-2E9C-101B-9397-08002B2CF9AE}" pid="3" name="KSOProductBuildVer">
    <vt:lpwstr>1033-12.2.0.13472</vt:lpwstr>
  </property>
</Properties>
</file>